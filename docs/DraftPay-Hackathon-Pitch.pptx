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the thesis: the marketplace is not the source of payout authority, the Arc contract is.
The receipt on screen is fixture-labeled. Do not imply a live Arc transaction.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DraftPay as mechanism design, not another freelance dashboard. The real question is who holds authority over the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wedge: capable agents plus stablecoin-native settlement means the missing piece is a mechanism, not a technology.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Emphasise the split: the client chooses the product, the contract chooses where the money goes.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screens come from the local MVP. They keep their fixture labels and do not fabricate explorer links.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Recorded local run. The purchased analysis lowers the prior from 72% to 64.5%, replaces the agent's 0.08 USDC build-cost guess with the analysis's 0.11, and cuts expected value from 68.26 to 61.11 USDC. In fixture mode paymentOccurred is false and the quote is the seller's real 0.01 USDC 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contribution. The finalist set is bounded at three so the settlement loop stays gas-safe.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is not a wallet-login sticker here: the per-contest contract owns terminal payout authority. Circle adapters are implemented; a genuine settled payment needs funded credentials.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 judge asks why not another L2: the answer is USDC-denominated gas plus finality inside the demo window.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Forge was not re-run today. Describe the 25 Foundry tests as recorded in the repository, not as re-run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 the external boundary before a judge finds it: funded testnet wallets, Circle balance and configuration, hosting login.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loop on the ask before the final slide. Keep the accelerator column concrete: audit, SDK, first paid briefs.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design principle: invalid work earns zero, qualified effort stays legible, and the client keeps product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png"/><Relationship Id="rId4" Type="http://schemas.openxmlformats.org/officeDocument/2006/relationships/image" Target="../media/image-5-3.png"/><Relationship Id="rId5" Type="http://schemas.openxmlformats.org/officeDocument/2006/relationships/image" Target="../media/image-5-3.png"/><Relationship Id="rId6" Type="http://schemas.openxmlformats.org/officeDocument/2006/relationships/image" Target="../media/image-5-3.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1.png"/><Relationship Id="rId3" Type="http://schemas.openxmlformats.org/officeDocument/2006/relationships/image" Target="../media/image-11-1.png"/><Relationship Id="rId4" Type="http://schemas.openxmlformats.org/officeDocument/2006/relationships/image" Target="../media/image-11-1.png"/><Relationship Id="rId5" Type="http://schemas.openxmlformats.org/officeDocument/2006/relationships/image" Target="../media/image-11-5.png"/><Relationship Id="rId6" Type="http://schemas.openxmlformats.org/officeDocument/2006/relationships/image" Target="../media/image-11-5.png"/><Relationship Id="rId7" Type="http://schemas.openxmlformats.org/officeDocument/2006/relationships/image" Target="../media/image-11-5.png"/><Relationship Id="rId8" Type="http://schemas.openxmlformats.org/officeDocument/2006/relationships/image" Target="../media/image-11-5.png"/><Relationship Id="rId9" Type="http://schemas.openxmlformats.org/officeDocument/2006/relationships/slideLayout" Target="../slideLayouts/slideLayout1.xml"/><Relationship Id="rId1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0D12"/>
        </a:solidFill>
      </p:bgPr>
    </p:bg>
    <p:spTree>
      <p:nvGrpSpPr>
        <p:cNvPr id="1" name=""/>
        <p:cNvGrpSpPr/>
        <p:nvPr/>
      </p:nvGrpSpPr>
      <p:grpSpPr>
        <a:xfrm>
          <a:off x="0" y="0"/>
          <a:ext cx="0" cy="0"/>
          <a:chOff x="0" y="0"/>
          <a:chExt cx="0" cy="0"/>
        </a:xfrm>
      </p:grpSpPr>
      <p:sp>
        <p:nvSpPr>
          <p:cNvPr id="2" name="Shape 0"/>
          <p:cNvSpPr/>
          <p:nvPr/>
        </p:nvSpPr>
        <p:spPr>
          <a:xfrm>
            <a:off x="685800" y="749808"/>
            <a:ext cx="3913632" cy="256032"/>
          </a:xfrm>
          <a:prstGeom prst="roundRect">
            <a:avLst>
              <a:gd name="adj" fmla="val 50000"/>
            </a:avLst>
          </a:prstGeom>
          <a:solidFill>
            <a:srgbClr val="1B2330"/>
          </a:solidFill>
          <a:ln w="12700">
            <a:solidFill>
              <a:srgbClr val="273140"/>
            </a:solidFill>
            <a:prstDash val="solid"/>
          </a:ln>
        </p:spPr>
      </p:sp>
      <p:sp>
        <p:nvSpPr>
          <p:cNvPr id="3" name="Text 1"/>
          <p:cNvSpPr/>
          <p:nvPr/>
        </p:nvSpPr>
        <p:spPr>
          <a:xfrm>
            <a:off x="685800" y="749808"/>
            <a:ext cx="3913632" cy="256032"/>
          </a:xfrm>
          <a:prstGeom prst="rect">
            <a:avLst/>
          </a:prstGeom>
          <a:noFill/>
          <a:ln/>
        </p:spPr>
        <p:txBody>
          <a:bodyPr wrap="square" lIns="0" tIns="0" rIns="0" bIns="0" rtlCol="0" anchor="ctr"/>
          <a:lstStyle/>
          <a:p>
            <a:pPr algn="ctr" indent="0" marL="0">
              <a:buNone/>
            </a:pPr>
            <a:r>
              <a:rPr lang="en-US" sz="900" b="1" spc="120" kern="0" dirty="0">
                <a:solidFill>
                  <a:srgbClr val="5B9BFF"/>
                </a:solidFill>
                <a:latin typeface="Courier New" pitchFamily="34" charset="0"/>
                <a:ea typeface="Courier New" pitchFamily="34" charset="-122"/>
                <a:cs typeface="Courier New" pitchFamily="34" charset="-120"/>
              </a:rPr>
              <a:t>BUILD ON ARC  /  AGENTIC ECONOMY + DEFI</a:t>
            </a:r>
            <a:endParaRPr lang="en-US" sz="900" dirty="0"/>
          </a:p>
        </p:txBody>
      </p:sp>
      <p:sp>
        <p:nvSpPr>
          <p:cNvPr id="4" name="Text 2"/>
          <p:cNvSpPr/>
          <p:nvPr/>
        </p:nvSpPr>
        <p:spPr>
          <a:xfrm>
            <a:off x="685800" y="1170432"/>
            <a:ext cx="6583680" cy="914400"/>
          </a:xfrm>
          <a:prstGeom prst="rect">
            <a:avLst/>
          </a:prstGeom>
          <a:noFill/>
          <a:ln/>
        </p:spPr>
        <p:txBody>
          <a:bodyPr wrap="square" lIns="0" tIns="0" rIns="0" bIns="0" rtlCol="0" anchor="ctr"/>
          <a:lstStyle/>
          <a:p>
            <a:pPr indent="0" marL="0">
              <a:buNone/>
            </a:pPr>
            <a:r>
              <a:rPr lang="en-US" sz="5400" b="1" spc="300" kern="0" dirty="0">
                <a:solidFill>
                  <a:srgbClr val="EDF1F7"/>
                </a:solidFill>
                <a:latin typeface="Arial" pitchFamily="34" charset="0"/>
                <a:ea typeface="Arial" pitchFamily="34" charset="-122"/>
                <a:cs typeface="Arial" pitchFamily="34" charset="-120"/>
              </a:rPr>
              <a:t>DRAFTPAY</a:t>
            </a:r>
            <a:endParaRPr lang="en-US" sz="5400" dirty="0"/>
          </a:p>
        </p:txBody>
      </p:sp>
      <p:sp>
        <p:nvSpPr>
          <p:cNvPr id="5" name="Text 3"/>
          <p:cNvSpPr/>
          <p:nvPr/>
        </p:nvSpPr>
        <p:spPr>
          <a:xfrm>
            <a:off x="685800" y="2148840"/>
            <a:ext cx="6400800" cy="1737360"/>
          </a:xfrm>
          <a:prstGeom prst="rect">
            <a:avLst/>
          </a:prstGeom>
          <a:noFill/>
          <a:ln/>
        </p:spPr>
        <p:txBody>
          <a:bodyPr wrap="square" lIns="0" tIns="0" rIns="0" bIns="0" rtlCol="0" anchor="ctr"/>
          <a:lstStyle/>
          <a:p>
            <a:pPr indent="0" marL="0">
              <a:lnSpc>
                <a:spcPts val="3400"/>
              </a:lnSpc>
              <a:buNone/>
            </a:pPr>
            <a:r>
              <a:rPr lang="en-US" sz="2700" b="1" dirty="0">
                <a:solidFill>
                  <a:srgbClr val="EDF1F7"/>
                </a:solidFill>
                <a:latin typeface="Arial" pitchFamily="34" charset="0"/>
                <a:ea typeface="Arial" pitchFamily="34" charset="-122"/>
                <a:cs typeface="Arial" pitchFamily="34" charset="-120"/>
              </a:rPr>
              <a:t>Post a brief.</a:t>
            </a:r>
            <a:endParaRPr lang="en-US" sz="2700" dirty="0"/>
          </a:p>
          <a:p>
            <a:pPr indent="0" marL="0">
              <a:lnSpc>
                <a:spcPts val="3400"/>
              </a:lnSpc>
              <a:buNone/>
            </a:pPr>
            <a:r>
              <a:rPr lang="en-US" sz="2700" b="1" dirty="0">
                <a:solidFill>
                  <a:srgbClr val="EDF1F7"/>
                </a:solidFill>
                <a:latin typeface="Arial" pitchFamily="34" charset="0"/>
                <a:ea typeface="Arial" pitchFamily="34" charset="-122"/>
                <a:cs typeface="Arial" pitchFamily="34" charset="-120"/>
              </a:rPr>
              <a:t>Agents build.</a:t>
            </a:r>
            <a:endParaRPr lang="en-US" sz="2700" dirty="0"/>
          </a:p>
          <a:p>
            <a:pPr indent="0" marL="0">
              <a:lnSpc>
                <a:spcPts val="3400"/>
              </a:lnSpc>
              <a:buNone/>
            </a:pPr>
            <a:r>
              <a:rPr lang="en-US" sz="2700" b="1" dirty="0">
                <a:solidFill>
                  <a:srgbClr val="C6F24E"/>
                </a:solidFill>
                <a:latin typeface="Arial" pitchFamily="34" charset="0"/>
                <a:ea typeface="Arial" pitchFamily="34" charset="-122"/>
                <a:cs typeface="Arial" pitchFamily="34" charset="-120"/>
              </a:rPr>
              <a:t>The contract pays.</a:t>
            </a:r>
            <a:endParaRPr lang="en-US" sz="2700" dirty="0"/>
          </a:p>
        </p:txBody>
      </p:sp>
      <p:sp>
        <p:nvSpPr>
          <p:cNvPr id="6" name="Text 4"/>
          <p:cNvSpPr/>
          <p:nvPr/>
        </p:nvSpPr>
        <p:spPr>
          <a:xfrm>
            <a:off x="685800" y="4069080"/>
            <a:ext cx="6035040" cy="914400"/>
          </a:xfrm>
          <a:prstGeom prst="rect">
            <a:avLst/>
          </a:prstGeom>
          <a:noFill/>
          <a:ln/>
        </p:spPr>
        <p:txBody>
          <a:bodyPr wrap="square" lIns="0" tIns="0" rIns="0" bIns="0" rtlCol="0" anchor="ctr"/>
          <a:lstStyle/>
          <a:p>
            <a:pPr indent="0" marL="0">
              <a:lnSpc>
                <a:spcPts val="2000"/>
              </a:lnSpc>
              <a:buNone/>
            </a:pPr>
            <a:r>
              <a:rPr lang="en-US" sz="1350" dirty="0">
                <a:solidFill>
                  <a:srgbClr val="A9B6C6"/>
                </a:solidFill>
                <a:latin typeface="Arial" pitchFamily="34" charset="0"/>
                <a:ea typeface="Arial" pitchFamily="34" charset="-122"/>
                <a:cs typeface="Arial" pitchFamily="34" charset="-120"/>
              </a:rPr>
              <a:t>An outcome marketplace where autonomous agents ship working products, and a per-contest Arc contract releases USDC by rules the marketplace itself cannot override.</a:t>
            </a:r>
            <a:endParaRPr lang="en-US" sz="1350" dirty="0"/>
          </a:p>
        </p:txBody>
      </p:sp>
      <p:sp>
        <p:nvSpPr>
          <p:cNvPr id="7" name="Shape 5"/>
          <p:cNvSpPr/>
          <p:nvPr/>
        </p:nvSpPr>
        <p:spPr>
          <a:xfrm>
            <a:off x="685800" y="5138928"/>
            <a:ext cx="1828800" cy="0"/>
          </a:xfrm>
          <a:prstGeom prst="line">
            <a:avLst/>
          </a:prstGeom>
          <a:noFill/>
          <a:ln w="15875">
            <a:solidFill>
              <a:srgbClr val="273140"/>
            </a:solidFill>
            <a:prstDash val="solid"/>
          </a:ln>
        </p:spPr>
      </p:sp>
      <p:sp>
        <p:nvSpPr>
          <p:cNvPr id="8" name="Text 6"/>
          <p:cNvSpPr/>
          <p:nvPr/>
        </p:nvSpPr>
        <p:spPr>
          <a:xfrm>
            <a:off x="685800" y="5230368"/>
            <a:ext cx="2148840" cy="274320"/>
          </a:xfrm>
          <a:prstGeom prst="rect">
            <a:avLst/>
          </a:prstGeom>
          <a:noFill/>
          <a:ln/>
        </p:spPr>
        <p:txBody>
          <a:bodyPr wrap="square" lIns="0" tIns="0" rIns="0" bIns="0" rtlCol="0" anchor="ctr"/>
          <a:lstStyle/>
          <a:p>
            <a:pPr indent="0" marL="0">
              <a:buNone/>
            </a:pPr>
            <a:r>
              <a:rPr lang="en-US" sz="900" spc="60" kern="0" dirty="0">
                <a:solidFill>
                  <a:srgbClr val="7C8899"/>
                </a:solidFill>
                <a:latin typeface="Courier New" pitchFamily="34" charset="0"/>
                <a:ea typeface="Courier New" pitchFamily="34" charset="-122"/>
                <a:cs typeface="Courier New" pitchFamily="34" charset="-120"/>
              </a:rPr>
              <a:t>ARC L1 ESCROW</a:t>
            </a:r>
            <a:endParaRPr lang="en-US" sz="900" dirty="0"/>
          </a:p>
        </p:txBody>
      </p:sp>
      <p:sp>
        <p:nvSpPr>
          <p:cNvPr id="9" name="Shape 7"/>
          <p:cNvSpPr/>
          <p:nvPr/>
        </p:nvSpPr>
        <p:spPr>
          <a:xfrm>
            <a:off x="2880360" y="5138928"/>
            <a:ext cx="1828800" cy="0"/>
          </a:xfrm>
          <a:prstGeom prst="line">
            <a:avLst/>
          </a:prstGeom>
          <a:noFill/>
          <a:ln w="15875">
            <a:solidFill>
              <a:srgbClr val="273140"/>
            </a:solidFill>
            <a:prstDash val="solid"/>
          </a:ln>
        </p:spPr>
      </p:sp>
      <p:sp>
        <p:nvSpPr>
          <p:cNvPr id="10" name="Text 8"/>
          <p:cNvSpPr/>
          <p:nvPr/>
        </p:nvSpPr>
        <p:spPr>
          <a:xfrm>
            <a:off x="2880360" y="5230368"/>
            <a:ext cx="2148840" cy="274320"/>
          </a:xfrm>
          <a:prstGeom prst="rect">
            <a:avLst/>
          </a:prstGeom>
          <a:noFill/>
          <a:ln/>
        </p:spPr>
        <p:txBody>
          <a:bodyPr wrap="square" lIns="0" tIns="0" rIns="0" bIns="0" rtlCol="0" anchor="ctr"/>
          <a:lstStyle/>
          <a:p>
            <a:pPr indent="0" marL="0">
              <a:buNone/>
            </a:pPr>
            <a:r>
              <a:rPr lang="en-US" sz="900" spc="60" kern="0" dirty="0">
                <a:solidFill>
                  <a:srgbClr val="7C8899"/>
                </a:solidFill>
                <a:latin typeface="Courier New" pitchFamily="34" charset="0"/>
                <a:ea typeface="Courier New" pitchFamily="34" charset="-122"/>
                <a:cs typeface="Courier New" pitchFamily="34" charset="-120"/>
              </a:rPr>
              <a:t>USDC-DENOMINATED GAS</a:t>
            </a:r>
            <a:endParaRPr lang="en-US" sz="900" dirty="0"/>
          </a:p>
        </p:txBody>
      </p:sp>
      <p:sp>
        <p:nvSpPr>
          <p:cNvPr id="11" name="Shape 9"/>
          <p:cNvSpPr/>
          <p:nvPr/>
        </p:nvSpPr>
        <p:spPr>
          <a:xfrm>
            <a:off x="5074920" y="5138928"/>
            <a:ext cx="1828800" cy="0"/>
          </a:xfrm>
          <a:prstGeom prst="line">
            <a:avLst/>
          </a:prstGeom>
          <a:noFill/>
          <a:ln w="15875">
            <a:solidFill>
              <a:srgbClr val="273140"/>
            </a:solidFill>
            <a:prstDash val="solid"/>
          </a:ln>
        </p:spPr>
      </p:sp>
      <p:sp>
        <p:nvSpPr>
          <p:cNvPr id="12" name="Text 10"/>
          <p:cNvSpPr/>
          <p:nvPr/>
        </p:nvSpPr>
        <p:spPr>
          <a:xfrm>
            <a:off x="5074920" y="5230368"/>
            <a:ext cx="2148840" cy="274320"/>
          </a:xfrm>
          <a:prstGeom prst="rect">
            <a:avLst/>
          </a:prstGeom>
          <a:noFill/>
          <a:ln/>
        </p:spPr>
        <p:txBody>
          <a:bodyPr wrap="square" lIns="0" tIns="0" rIns="0" bIns="0" rtlCol="0" anchor="ctr"/>
          <a:lstStyle/>
          <a:p>
            <a:pPr indent="0" marL="0">
              <a:buNone/>
            </a:pPr>
            <a:r>
              <a:rPr lang="en-US" sz="900" spc="60" kern="0" dirty="0">
                <a:solidFill>
                  <a:srgbClr val="7C8899"/>
                </a:solidFill>
                <a:latin typeface="Courier New" pitchFamily="34" charset="0"/>
                <a:ea typeface="Courier New" pitchFamily="34" charset="-122"/>
                <a:cs typeface="Courier New" pitchFamily="34" charset="-120"/>
              </a:rPr>
              <a:t>x402 AGENT SPEND</a:t>
            </a:r>
            <a:endParaRPr lang="en-US" sz="900" dirty="0"/>
          </a:p>
        </p:txBody>
      </p:sp>
      <p:pic>
        <p:nvPicPr>
          <p:cNvPr id="13" name="Image 0" descr="/home/claude/work/hero.jpg">    </p:cNvPr>
          <p:cNvPicPr>
            <a:picLocks noChangeAspect="1"/>
          </p:cNvPicPr>
          <p:nvPr/>
        </p:nvPicPr>
        <p:blipFill>
          <a:blip r:embed="rId1"/>
          <a:stretch>
            <a:fillRect/>
          </a:stretch>
        </p:blipFill>
        <p:spPr>
          <a:xfrm>
            <a:off x="7360920" y="932688"/>
            <a:ext cx="4114800" cy="4937760"/>
          </a:xfrm>
          <a:prstGeom prst="rect">
            <a:avLst/>
          </a:prstGeom>
          <a:effectLst>
            <a:outerShdw sx="100000" sy="100000" kx="0" ky="0" algn="bl" rotWithShape="0" blurRad="177800" dist="50800" dir="5400000">
              <a:srgbClr val="000000">
                <a:alpha val="45000"/>
              </a:srgbClr>
            </a:outerShdw>
          </a:effectLst>
        </p:spPr>
      </p:pic>
      <p:sp>
        <p:nvSpPr>
          <p:cNvPr id="14" name="Text 11"/>
          <p:cNvSpPr/>
          <p:nvPr/>
        </p:nvSpPr>
        <p:spPr>
          <a:xfrm>
            <a:off x="7360920" y="5943600"/>
            <a:ext cx="4114800" cy="256032"/>
          </a:xfrm>
          <a:prstGeom prst="rect">
            <a:avLst/>
          </a:prstGeom>
          <a:noFill/>
          <a:ln/>
        </p:spPr>
        <p:txBody>
          <a:bodyPr wrap="square" lIns="0" tIns="0" rIns="0" bIns="0" rtlCol="0" anchor="ctr"/>
          <a:lstStyle/>
          <a:p>
            <a:pPr algn="r" indent="0" marL="0">
              <a:buNone/>
            </a:pPr>
            <a:r>
              <a:rPr lang="en-US" sz="850" dirty="0">
                <a:solidFill>
                  <a:srgbClr val="7C8899"/>
                </a:solidFill>
                <a:latin typeface="Courier New" pitchFamily="34" charset="0"/>
                <a:ea typeface="Courier New" pitchFamily="34" charset="-122"/>
                <a:cs typeface="Courier New" pitchFamily="34" charset="-120"/>
              </a:rPr>
              <a:t>Settlement view, captured from the local MVP</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0D12"/>
        </a:solidFill>
      </p:bgPr>
    </p:bg>
    <p:spTree>
      <p:nvGrpSpPr>
        <p:cNvPr id="1" name=""/>
        <p:cNvGrpSpPr/>
        <p:nvPr/>
      </p:nvGrpSpPr>
      <p:grpSpPr>
        <a:xfrm>
          <a:off x="0" y="0"/>
          <a:ext cx="0" cy="0"/>
          <a:chOff x="0" y="0"/>
          <a:chExt cx="0" cy="0"/>
        </a:xfrm>
      </p:grpSpPr>
      <p:sp>
        <p:nvSpPr>
          <p:cNvPr id="2" name="Shape 0"/>
          <p:cNvSpPr/>
          <p:nvPr/>
        </p:nvSpPr>
        <p:spPr>
          <a:xfrm>
            <a:off x="685800" y="411480"/>
            <a:ext cx="1993392" cy="256032"/>
          </a:xfrm>
          <a:prstGeom prst="roundRect">
            <a:avLst>
              <a:gd name="adj" fmla="val 50000"/>
            </a:avLst>
          </a:prstGeom>
          <a:solidFill>
            <a:srgbClr val="1B2330"/>
          </a:solidFill>
          <a:ln w="12700">
            <a:solidFill>
              <a:srgbClr val="273140"/>
            </a:solidFill>
            <a:prstDash val="solid"/>
          </a:ln>
        </p:spPr>
      </p:sp>
      <p:sp>
        <p:nvSpPr>
          <p:cNvPr id="3" name="Text 1"/>
          <p:cNvSpPr/>
          <p:nvPr/>
        </p:nvSpPr>
        <p:spPr>
          <a:xfrm>
            <a:off x="685800" y="411480"/>
            <a:ext cx="1993392" cy="256032"/>
          </a:xfrm>
          <a:prstGeom prst="rect">
            <a:avLst/>
          </a:prstGeom>
          <a:noFill/>
          <a:ln/>
        </p:spPr>
        <p:txBody>
          <a:bodyPr wrap="square" lIns="0" tIns="0" rIns="0" bIns="0" rtlCol="0" anchor="ctr"/>
          <a:lstStyle/>
          <a:p>
            <a:pPr algn="ctr" indent="0" marL="0">
              <a:buNone/>
            </a:pPr>
            <a:r>
              <a:rPr lang="en-US" sz="900" b="1" spc="120" kern="0" dirty="0">
                <a:solidFill>
                  <a:srgbClr val="5B9BFF"/>
                </a:solidFill>
                <a:latin typeface="Courier New" pitchFamily="34" charset="0"/>
                <a:ea typeface="Courier New" pitchFamily="34" charset="-122"/>
                <a:cs typeface="Courier New" pitchFamily="34" charset="-120"/>
              </a:rPr>
              <a:t>01  /  THE PROBLEM</a:t>
            </a:r>
            <a:endParaRPr lang="en-US" sz="900" dirty="0"/>
          </a:p>
        </p:txBody>
      </p:sp>
      <p:sp>
        <p:nvSpPr>
          <p:cNvPr id="4" name="Text 2"/>
          <p:cNvSpPr/>
          <p:nvPr/>
        </p:nvSpPr>
        <p:spPr>
          <a:xfrm>
            <a:off x="685800" y="841248"/>
            <a:ext cx="10820095" cy="822960"/>
          </a:xfrm>
          <a:prstGeom prst="rect">
            <a:avLst/>
          </a:prstGeom>
          <a:noFill/>
          <a:ln/>
        </p:spPr>
        <p:txBody>
          <a:bodyPr wrap="square" lIns="0" tIns="0" rIns="0" bIns="0" rtlCol="0" anchor="t"/>
          <a:lstStyle/>
          <a:p>
            <a:pPr indent="0" marL="0">
              <a:lnSpc>
                <a:spcPts val="3800"/>
              </a:lnSpc>
              <a:buNone/>
            </a:pPr>
            <a:r>
              <a:rPr lang="en-US" sz="3200" b="1" spc="-30" kern="0" dirty="0">
                <a:solidFill>
                  <a:srgbClr val="EDF1F7"/>
                </a:solidFill>
                <a:latin typeface="Arial" pitchFamily="34" charset="0"/>
                <a:ea typeface="Arial" pitchFamily="34" charset="-122"/>
                <a:cs typeface="Arial" pitchFamily="34" charset="-120"/>
              </a:rPr>
              <a:t>Outcome work runs on trust nobody has.</a:t>
            </a:r>
            <a:endParaRPr lang="en-US" sz="3200" dirty="0"/>
          </a:p>
        </p:txBody>
      </p:sp>
      <p:sp>
        <p:nvSpPr>
          <p:cNvPr id="5" name="Text 3"/>
          <p:cNvSpPr/>
          <p:nvPr/>
        </p:nvSpPr>
        <p:spPr>
          <a:xfrm>
            <a:off x="685800" y="1664208"/>
            <a:ext cx="6400800" cy="548640"/>
          </a:xfrm>
          <a:prstGeom prst="rect">
            <a:avLst/>
          </a:prstGeom>
          <a:noFill/>
          <a:ln/>
        </p:spPr>
        <p:txBody>
          <a:bodyPr wrap="square" lIns="0" tIns="0" rIns="0" bIns="0" rtlCol="0" anchor="t"/>
          <a:lstStyle/>
          <a:p>
            <a:pPr indent="0" marL="0">
              <a:lnSpc>
                <a:spcPts val="2000"/>
              </a:lnSpc>
              <a:buNone/>
            </a:pPr>
            <a:r>
              <a:rPr lang="en-US" sz="1400" dirty="0">
                <a:solidFill>
                  <a:srgbClr val="A9B6C6"/>
                </a:solidFill>
                <a:latin typeface="Arial" pitchFamily="34" charset="0"/>
                <a:ea typeface="Arial" pitchFamily="34" charset="-122"/>
                <a:cs typeface="Arial" pitchFamily="34" charset="-120"/>
              </a:rPr>
              <a:t>Anything paid for a result, whether a design, an app or a research brief, hits the same wall.</a:t>
            </a:r>
            <a:endParaRPr lang="en-US" sz="1400" dirty="0"/>
          </a:p>
        </p:txBody>
      </p:sp>
      <p:sp>
        <p:nvSpPr>
          <p:cNvPr id="6" name="Shape 4"/>
          <p:cNvSpPr/>
          <p:nvPr/>
        </p:nvSpPr>
        <p:spPr>
          <a:xfrm>
            <a:off x="685800" y="2286000"/>
            <a:ext cx="420624" cy="420624"/>
          </a:xfrm>
          <a:prstGeom prst="ellipse">
            <a:avLst/>
          </a:prstGeom>
          <a:solidFill>
            <a:srgbClr val="1B2330"/>
          </a:solidFill>
          <a:ln w="12700">
            <a:solidFill>
              <a:srgbClr val="273140"/>
            </a:solidFill>
            <a:prstDash val="solid"/>
          </a:ln>
        </p:spPr>
      </p:sp>
      <p:pic>
        <p:nvPicPr>
          <p:cNvPr id="7" name="Image 0" descr="/home/claude/work/icons/lock-blue.png">    </p:cNvPr>
          <p:cNvPicPr>
            <a:picLocks noChangeAspect="1"/>
          </p:cNvPicPr>
          <p:nvPr/>
        </p:nvPicPr>
        <p:blipFill>
          <a:blip r:embed="rId1"/>
          <a:stretch>
            <a:fillRect/>
          </a:stretch>
        </p:blipFill>
        <p:spPr>
          <a:xfrm>
            <a:off x="790956" y="2391156"/>
            <a:ext cx="210312" cy="210312"/>
          </a:xfrm>
          <a:prstGeom prst="rect">
            <a:avLst/>
          </a:prstGeom>
        </p:spPr>
      </p:pic>
      <p:sp>
        <p:nvSpPr>
          <p:cNvPr id="8" name="Text 5"/>
          <p:cNvSpPr/>
          <p:nvPr/>
        </p:nvSpPr>
        <p:spPr>
          <a:xfrm>
            <a:off x="1307592" y="2249424"/>
            <a:ext cx="5212080" cy="310896"/>
          </a:xfrm>
          <a:prstGeom prst="rect">
            <a:avLst/>
          </a:prstGeom>
          <a:noFill/>
          <a:ln/>
        </p:spPr>
        <p:txBody>
          <a:bodyPr wrap="square" lIns="0" tIns="0" rIns="0" bIns="0" rtlCol="0" anchor="ctr"/>
          <a:lstStyle/>
          <a:p>
            <a:pPr indent="0" marL="0">
              <a:buNone/>
            </a:pPr>
            <a:r>
              <a:rPr lang="en-US" sz="1500" b="1" dirty="0">
                <a:solidFill>
                  <a:srgbClr val="EDF1F7"/>
                </a:solidFill>
                <a:latin typeface="Arial" pitchFamily="34" charset="0"/>
                <a:ea typeface="Arial" pitchFamily="34" charset="-122"/>
                <a:cs typeface="Arial" pitchFamily="34" charset="-120"/>
              </a:rPr>
              <a:t>Buyers pay before they can see the work.</a:t>
            </a:r>
            <a:endParaRPr lang="en-US" sz="1500" dirty="0"/>
          </a:p>
        </p:txBody>
      </p:sp>
      <p:sp>
        <p:nvSpPr>
          <p:cNvPr id="9" name="Text 6"/>
          <p:cNvSpPr/>
          <p:nvPr/>
        </p:nvSpPr>
        <p:spPr>
          <a:xfrm>
            <a:off x="1307592" y="2578608"/>
            <a:ext cx="5257800" cy="731520"/>
          </a:xfrm>
          <a:prstGeom prst="rect">
            <a:avLst/>
          </a:prstGeom>
          <a:noFill/>
          <a:ln/>
        </p:spPr>
        <p:txBody>
          <a:bodyPr wrap="square" lIns="0" tIns="0" rIns="0" bIns="0" rtlCol="0" anchor="ctr"/>
          <a:lstStyle/>
          <a:p>
            <a:pPr indent="0" marL="0">
              <a:lnSpc>
                <a:spcPts val="1700"/>
              </a:lnSpc>
              <a:buNone/>
            </a:pPr>
            <a:r>
              <a:rPr lang="en-US" sz="1200" dirty="0">
                <a:solidFill>
                  <a:srgbClr val="7C8899"/>
                </a:solidFill>
                <a:latin typeface="Arial" pitchFamily="34" charset="0"/>
                <a:ea typeface="Arial" pitchFamily="34" charset="-122"/>
                <a:cs typeface="Arial" pitchFamily="34" charset="-120"/>
              </a:rPr>
              <a:t>Escrow today is a promise from a company. You are trusting an operator, a dispute team and a terms-of-service page.</a:t>
            </a:r>
            <a:endParaRPr lang="en-US" sz="1200" dirty="0"/>
          </a:p>
        </p:txBody>
      </p:sp>
      <p:sp>
        <p:nvSpPr>
          <p:cNvPr id="10" name="Shape 7"/>
          <p:cNvSpPr/>
          <p:nvPr/>
        </p:nvSpPr>
        <p:spPr>
          <a:xfrm>
            <a:off x="685800" y="3547872"/>
            <a:ext cx="420624" cy="420624"/>
          </a:xfrm>
          <a:prstGeom prst="ellipse">
            <a:avLst/>
          </a:prstGeom>
          <a:solidFill>
            <a:srgbClr val="1B2330"/>
          </a:solidFill>
          <a:ln w="12700">
            <a:solidFill>
              <a:srgbClr val="273140"/>
            </a:solidFill>
            <a:prstDash val="solid"/>
          </a:ln>
        </p:spPr>
      </p:sp>
      <p:pic>
        <p:nvPicPr>
          <p:cNvPr id="11" name="Image 1" descr="/home/claude/work/icons/eyeoff-blue.png">    </p:cNvPr>
          <p:cNvPicPr>
            <a:picLocks noChangeAspect="1"/>
          </p:cNvPicPr>
          <p:nvPr/>
        </p:nvPicPr>
        <p:blipFill>
          <a:blip r:embed="rId2"/>
          <a:stretch>
            <a:fillRect/>
          </a:stretch>
        </p:blipFill>
        <p:spPr>
          <a:xfrm>
            <a:off x="790956" y="3653028"/>
            <a:ext cx="210312" cy="210312"/>
          </a:xfrm>
          <a:prstGeom prst="rect">
            <a:avLst/>
          </a:prstGeom>
        </p:spPr>
      </p:pic>
      <p:sp>
        <p:nvSpPr>
          <p:cNvPr id="12" name="Text 8"/>
          <p:cNvSpPr/>
          <p:nvPr/>
        </p:nvSpPr>
        <p:spPr>
          <a:xfrm>
            <a:off x="1307592" y="3511296"/>
            <a:ext cx="5212080" cy="310896"/>
          </a:xfrm>
          <a:prstGeom prst="rect">
            <a:avLst/>
          </a:prstGeom>
          <a:noFill/>
          <a:ln/>
        </p:spPr>
        <p:txBody>
          <a:bodyPr wrap="square" lIns="0" tIns="0" rIns="0" bIns="0" rtlCol="0" anchor="ctr"/>
          <a:lstStyle/>
          <a:p>
            <a:pPr indent="0" marL="0">
              <a:buNone/>
            </a:pPr>
            <a:r>
              <a:rPr lang="en-US" sz="1500" b="1" dirty="0">
                <a:solidFill>
                  <a:srgbClr val="EDF1F7"/>
                </a:solidFill>
                <a:latin typeface="Arial" pitchFamily="34" charset="0"/>
                <a:ea typeface="Arial" pitchFamily="34" charset="-122"/>
                <a:cs typeface="Arial" pitchFamily="34" charset="-120"/>
              </a:rPr>
              <a:t>Builders finish, then hope.</a:t>
            </a:r>
            <a:endParaRPr lang="en-US" sz="1500" dirty="0"/>
          </a:p>
        </p:txBody>
      </p:sp>
      <p:sp>
        <p:nvSpPr>
          <p:cNvPr id="13" name="Text 9"/>
          <p:cNvSpPr/>
          <p:nvPr/>
        </p:nvSpPr>
        <p:spPr>
          <a:xfrm>
            <a:off x="1307592" y="3840480"/>
            <a:ext cx="5257800" cy="731520"/>
          </a:xfrm>
          <a:prstGeom prst="rect">
            <a:avLst/>
          </a:prstGeom>
          <a:noFill/>
          <a:ln/>
        </p:spPr>
        <p:txBody>
          <a:bodyPr wrap="square" lIns="0" tIns="0" rIns="0" bIns="0" rtlCol="0" anchor="ctr"/>
          <a:lstStyle/>
          <a:p>
            <a:pPr indent="0" marL="0">
              <a:lnSpc>
                <a:spcPts val="1700"/>
              </a:lnSpc>
              <a:buNone/>
            </a:pPr>
            <a:r>
              <a:rPr lang="en-US" sz="1200" dirty="0">
                <a:solidFill>
                  <a:srgbClr val="7C8899"/>
                </a:solidFill>
                <a:latin typeface="Arial" pitchFamily="34" charset="0"/>
                <a:ea typeface="Arial" pitchFamily="34" charset="-122"/>
                <a:cs typeface="Arial" pitchFamily="34" charset="-120"/>
              </a:rPr>
              <a:t>Lose the competition and the work was free. That single risk is why good builders skip open briefs entirely.</a:t>
            </a:r>
            <a:endParaRPr lang="en-US" sz="1200" dirty="0"/>
          </a:p>
        </p:txBody>
      </p:sp>
      <p:sp>
        <p:nvSpPr>
          <p:cNvPr id="14" name="Shape 10"/>
          <p:cNvSpPr/>
          <p:nvPr/>
        </p:nvSpPr>
        <p:spPr>
          <a:xfrm>
            <a:off x="685800" y="4809744"/>
            <a:ext cx="420624" cy="420624"/>
          </a:xfrm>
          <a:prstGeom prst="ellipse">
            <a:avLst/>
          </a:prstGeom>
          <a:solidFill>
            <a:srgbClr val="1B2330"/>
          </a:solidFill>
          <a:ln w="12700">
            <a:solidFill>
              <a:srgbClr val="273140"/>
            </a:solidFill>
            <a:prstDash val="solid"/>
          </a:ln>
        </p:spPr>
      </p:sp>
      <p:pic>
        <p:nvPicPr>
          <p:cNvPr id="15" name="Image 2" descr="/home/claude/work/icons/percent-blue.png">    </p:cNvPr>
          <p:cNvPicPr>
            <a:picLocks noChangeAspect="1"/>
          </p:cNvPicPr>
          <p:nvPr/>
        </p:nvPicPr>
        <p:blipFill>
          <a:blip r:embed="rId3"/>
          <a:stretch>
            <a:fillRect/>
          </a:stretch>
        </p:blipFill>
        <p:spPr>
          <a:xfrm>
            <a:off x="790956" y="4914900"/>
            <a:ext cx="210312" cy="210312"/>
          </a:xfrm>
          <a:prstGeom prst="rect">
            <a:avLst/>
          </a:prstGeom>
        </p:spPr>
      </p:pic>
      <p:sp>
        <p:nvSpPr>
          <p:cNvPr id="16" name="Text 11"/>
          <p:cNvSpPr/>
          <p:nvPr/>
        </p:nvSpPr>
        <p:spPr>
          <a:xfrm>
            <a:off x="1307592" y="4773168"/>
            <a:ext cx="5212080" cy="310896"/>
          </a:xfrm>
          <a:prstGeom prst="rect">
            <a:avLst/>
          </a:prstGeom>
          <a:noFill/>
          <a:ln/>
        </p:spPr>
        <p:txBody>
          <a:bodyPr wrap="square" lIns="0" tIns="0" rIns="0" bIns="0" rtlCol="0" anchor="ctr"/>
          <a:lstStyle/>
          <a:p>
            <a:pPr indent="0" marL="0">
              <a:buNone/>
            </a:pPr>
            <a:r>
              <a:rPr lang="en-US" sz="1500" b="1" dirty="0">
                <a:solidFill>
                  <a:srgbClr val="EDF1F7"/>
                </a:solidFill>
                <a:latin typeface="Arial" pitchFamily="34" charset="0"/>
                <a:ea typeface="Arial" pitchFamily="34" charset="-122"/>
                <a:cs typeface="Arial" pitchFamily="34" charset="-120"/>
              </a:rPr>
              <a:t>The fix gets sold back as a fee.</a:t>
            </a:r>
            <a:endParaRPr lang="en-US" sz="1500" dirty="0"/>
          </a:p>
        </p:txBody>
      </p:sp>
      <p:sp>
        <p:nvSpPr>
          <p:cNvPr id="17" name="Text 12"/>
          <p:cNvSpPr/>
          <p:nvPr/>
        </p:nvSpPr>
        <p:spPr>
          <a:xfrm>
            <a:off x="1307592" y="5102352"/>
            <a:ext cx="5257800" cy="731520"/>
          </a:xfrm>
          <a:prstGeom prst="rect">
            <a:avLst/>
          </a:prstGeom>
          <a:noFill/>
          <a:ln/>
        </p:spPr>
        <p:txBody>
          <a:bodyPr wrap="square" lIns="0" tIns="0" rIns="0" bIns="0" rtlCol="0" anchor="ctr"/>
          <a:lstStyle/>
          <a:p>
            <a:pPr indent="0" marL="0">
              <a:lnSpc>
                <a:spcPts val="1700"/>
              </a:lnSpc>
              <a:buNone/>
            </a:pPr>
            <a:r>
              <a:rPr lang="en-US" sz="1200" dirty="0">
                <a:solidFill>
                  <a:srgbClr val="7C8899"/>
                </a:solidFill>
                <a:latin typeface="Arial" pitchFamily="34" charset="0"/>
                <a:ea typeface="Arial" pitchFamily="34" charset="-122"/>
                <a:cs typeface="Arial" pitchFamily="34" charset="-120"/>
              </a:rPr>
              <a:t>Marketplaces typically take 10 to 20 percent for holding the money and refereeing the argument. It is a tax on distrust.</a:t>
            </a:r>
            <a:endParaRPr lang="en-US" sz="1200" dirty="0"/>
          </a:p>
        </p:txBody>
      </p:sp>
      <p:sp>
        <p:nvSpPr>
          <p:cNvPr id="18" name="Shape 13"/>
          <p:cNvSpPr/>
          <p:nvPr/>
        </p:nvSpPr>
        <p:spPr>
          <a:xfrm>
            <a:off x="6858000" y="2121408"/>
            <a:ext cx="4645152" cy="3749040"/>
          </a:xfrm>
          <a:prstGeom prst="roundRect">
            <a:avLst>
              <a:gd name="adj" fmla="val 1463"/>
            </a:avLst>
          </a:prstGeom>
          <a:solidFill>
            <a:srgbClr val="141A24"/>
          </a:solidFill>
          <a:ln w="12700">
            <a:solidFill>
              <a:srgbClr val="273140"/>
            </a:solidFill>
            <a:prstDash val="solid"/>
          </a:ln>
          <a:effectLst>
            <a:outerShdw sx="100000" sy="100000" kx="0" ky="0" algn="bl" rotWithShape="0" blurRad="177800" dist="50800" dir="5400000">
              <a:srgbClr val="000000">
                <a:alpha val="45000"/>
              </a:srgbClr>
            </a:outerShdw>
          </a:effectLst>
        </p:spPr>
      </p:sp>
      <p:sp>
        <p:nvSpPr>
          <p:cNvPr id="19" name="Text 14"/>
          <p:cNvSpPr/>
          <p:nvPr/>
        </p:nvSpPr>
        <p:spPr>
          <a:xfrm>
            <a:off x="7086600" y="2331720"/>
            <a:ext cx="4206240" cy="256032"/>
          </a:xfrm>
          <a:prstGeom prst="rect">
            <a:avLst/>
          </a:prstGeom>
          <a:noFill/>
          <a:ln/>
        </p:spPr>
        <p:txBody>
          <a:bodyPr wrap="square" lIns="0" tIns="0" rIns="0" bIns="0" rtlCol="0" anchor="ctr"/>
          <a:lstStyle/>
          <a:p>
            <a:pPr indent="0" marL="0">
              <a:buNone/>
            </a:pPr>
            <a:r>
              <a:rPr lang="en-US" sz="900" spc="120" kern="0" dirty="0">
                <a:solidFill>
                  <a:srgbClr val="7C8899"/>
                </a:solidFill>
                <a:latin typeface="Courier New" pitchFamily="34" charset="0"/>
                <a:ea typeface="Courier New" pitchFamily="34" charset="-122"/>
                <a:cs typeface="Courier New" pitchFamily="34" charset="-120"/>
              </a:rPr>
              <a:t>WHERE THE MONEY SITS</a:t>
            </a:r>
            <a:endParaRPr lang="en-US" sz="900" dirty="0"/>
          </a:p>
        </p:txBody>
      </p:sp>
      <p:sp>
        <p:nvSpPr>
          <p:cNvPr id="20" name="Shape 15"/>
          <p:cNvSpPr/>
          <p:nvPr/>
        </p:nvSpPr>
        <p:spPr>
          <a:xfrm>
            <a:off x="7086600" y="2743200"/>
            <a:ext cx="4187952" cy="658368"/>
          </a:xfrm>
          <a:prstGeom prst="roundRect">
            <a:avLst>
              <a:gd name="adj" fmla="val 6944"/>
            </a:avLst>
          </a:prstGeom>
          <a:solidFill>
            <a:srgbClr val="1B2330"/>
          </a:solidFill>
          <a:ln w="12700">
            <a:solidFill>
              <a:srgbClr val="273140"/>
            </a:solidFill>
            <a:prstDash val="solid"/>
          </a:ln>
        </p:spPr>
      </p:sp>
      <p:sp>
        <p:nvSpPr>
          <p:cNvPr id="21" name="Text 16"/>
          <p:cNvSpPr/>
          <p:nvPr/>
        </p:nvSpPr>
        <p:spPr>
          <a:xfrm>
            <a:off x="7269480" y="2798064"/>
            <a:ext cx="3840480" cy="256032"/>
          </a:xfrm>
          <a:prstGeom prst="rect">
            <a:avLst/>
          </a:prstGeom>
          <a:noFill/>
          <a:ln/>
        </p:spPr>
        <p:txBody>
          <a:bodyPr wrap="square" lIns="0" tIns="0" rIns="0" bIns="0" rtlCol="0" anchor="ctr"/>
          <a:lstStyle/>
          <a:p>
            <a:pPr indent="0" marL="0">
              <a:buNone/>
            </a:pPr>
            <a:r>
              <a:rPr lang="en-US" sz="1250" b="1" dirty="0">
                <a:solidFill>
                  <a:srgbClr val="A9B6C6"/>
                </a:solidFill>
                <a:latin typeface="Arial" pitchFamily="34" charset="0"/>
                <a:ea typeface="Arial" pitchFamily="34" charset="-122"/>
                <a:cs typeface="Arial" pitchFamily="34" charset="-120"/>
              </a:rPr>
              <a:t>CLIENT</a:t>
            </a:r>
            <a:endParaRPr lang="en-US" sz="1250" dirty="0"/>
          </a:p>
        </p:txBody>
      </p:sp>
      <p:sp>
        <p:nvSpPr>
          <p:cNvPr id="22" name="Text 17"/>
          <p:cNvSpPr/>
          <p:nvPr/>
        </p:nvSpPr>
        <p:spPr>
          <a:xfrm>
            <a:off x="7269480" y="3072384"/>
            <a:ext cx="3840480" cy="237744"/>
          </a:xfrm>
          <a:prstGeom prst="rect">
            <a:avLst/>
          </a:prstGeom>
          <a:noFill/>
          <a:ln/>
        </p:spPr>
        <p:txBody>
          <a:bodyPr wrap="square" lIns="0" tIns="0" rIns="0" bIns="0" rtlCol="0" anchor="ctr"/>
          <a:lstStyle/>
          <a:p>
            <a:pPr indent="0" marL="0">
              <a:buNone/>
            </a:pPr>
            <a:r>
              <a:rPr lang="en-US" sz="1050" dirty="0">
                <a:solidFill>
                  <a:srgbClr val="7C8899"/>
                </a:solidFill>
                <a:latin typeface="Arial" pitchFamily="34" charset="0"/>
                <a:ea typeface="Arial" pitchFamily="34" charset="-122"/>
                <a:cs typeface="Arial" pitchFamily="34" charset="-120"/>
              </a:rPr>
              <a:t>funds the job</a:t>
            </a:r>
            <a:endParaRPr lang="en-US" sz="1050" dirty="0"/>
          </a:p>
        </p:txBody>
      </p:sp>
      <p:sp>
        <p:nvSpPr>
          <p:cNvPr id="23" name="Shape 18"/>
          <p:cNvSpPr/>
          <p:nvPr/>
        </p:nvSpPr>
        <p:spPr>
          <a:xfrm>
            <a:off x="9180576" y="3438144"/>
            <a:ext cx="0" cy="237744"/>
          </a:xfrm>
          <a:prstGeom prst="line">
            <a:avLst/>
          </a:prstGeom>
          <a:noFill/>
          <a:ln w="19050">
            <a:solidFill>
              <a:srgbClr val="273140"/>
            </a:solidFill>
            <a:prstDash val="solid"/>
            <a:tailEnd type="triangle"/>
          </a:ln>
        </p:spPr>
      </p:sp>
      <p:sp>
        <p:nvSpPr>
          <p:cNvPr id="24" name="Shape 19"/>
          <p:cNvSpPr/>
          <p:nvPr/>
        </p:nvSpPr>
        <p:spPr>
          <a:xfrm>
            <a:off x="7086600" y="3712464"/>
            <a:ext cx="4187952" cy="658368"/>
          </a:xfrm>
          <a:prstGeom prst="roundRect">
            <a:avLst>
              <a:gd name="adj" fmla="val 6944"/>
            </a:avLst>
          </a:prstGeom>
          <a:solidFill>
            <a:srgbClr val="241A1A"/>
          </a:solidFill>
          <a:ln w="12700">
            <a:solidFill>
              <a:srgbClr val="5A3B3B"/>
            </a:solidFill>
            <a:prstDash val="solid"/>
          </a:ln>
        </p:spPr>
      </p:sp>
      <p:sp>
        <p:nvSpPr>
          <p:cNvPr id="25" name="Text 20"/>
          <p:cNvSpPr/>
          <p:nvPr/>
        </p:nvSpPr>
        <p:spPr>
          <a:xfrm>
            <a:off x="7269480" y="3767328"/>
            <a:ext cx="3840480" cy="256032"/>
          </a:xfrm>
          <a:prstGeom prst="rect">
            <a:avLst/>
          </a:prstGeom>
          <a:noFill/>
          <a:ln/>
        </p:spPr>
        <p:txBody>
          <a:bodyPr wrap="square" lIns="0" tIns="0" rIns="0" bIns="0" rtlCol="0" anchor="ctr"/>
          <a:lstStyle/>
          <a:p>
            <a:pPr indent="0" marL="0">
              <a:buNone/>
            </a:pPr>
            <a:r>
              <a:rPr lang="en-US" sz="1250" b="1" dirty="0">
                <a:solidFill>
                  <a:srgbClr val="FF9B87"/>
                </a:solidFill>
                <a:latin typeface="Arial" pitchFamily="34" charset="0"/>
                <a:ea typeface="Arial" pitchFamily="34" charset="-122"/>
                <a:cs typeface="Arial" pitchFamily="34" charset="-120"/>
              </a:rPr>
              <a:t>PLATFORM</a:t>
            </a:r>
            <a:endParaRPr lang="en-US" sz="1250" dirty="0"/>
          </a:p>
        </p:txBody>
      </p:sp>
      <p:sp>
        <p:nvSpPr>
          <p:cNvPr id="26" name="Text 21"/>
          <p:cNvSpPr/>
          <p:nvPr/>
        </p:nvSpPr>
        <p:spPr>
          <a:xfrm>
            <a:off x="7269480" y="4041648"/>
            <a:ext cx="3840480" cy="237744"/>
          </a:xfrm>
          <a:prstGeom prst="rect">
            <a:avLst/>
          </a:prstGeom>
          <a:noFill/>
          <a:ln/>
        </p:spPr>
        <p:txBody>
          <a:bodyPr wrap="square" lIns="0" tIns="0" rIns="0" bIns="0" rtlCol="0" anchor="ctr"/>
          <a:lstStyle/>
          <a:p>
            <a:pPr indent="0" marL="0">
              <a:buNone/>
            </a:pPr>
            <a:r>
              <a:rPr lang="en-US" sz="1050" dirty="0">
                <a:solidFill>
                  <a:srgbClr val="7C8899"/>
                </a:solidFill>
                <a:latin typeface="Arial" pitchFamily="34" charset="0"/>
                <a:ea typeface="Arial" pitchFamily="34" charset="-122"/>
                <a:cs typeface="Arial" pitchFamily="34" charset="-120"/>
              </a:rPr>
              <a:t>custody  ·  disputes  ·  10-20% fee</a:t>
            </a:r>
            <a:endParaRPr lang="en-US" sz="1050" dirty="0"/>
          </a:p>
        </p:txBody>
      </p:sp>
      <p:sp>
        <p:nvSpPr>
          <p:cNvPr id="27" name="Shape 22"/>
          <p:cNvSpPr/>
          <p:nvPr/>
        </p:nvSpPr>
        <p:spPr>
          <a:xfrm>
            <a:off x="9180576" y="4407408"/>
            <a:ext cx="0" cy="237744"/>
          </a:xfrm>
          <a:prstGeom prst="line">
            <a:avLst/>
          </a:prstGeom>
          <a:noFill/>
          <a:ln w="19050">
            <a:solidFill>
              <a:srgbClr val="273140"/>
            </a:solidFill>
            <a:prstDash val="solid"/>
            <a:tailEnd type="triangle"/>
          </a:ln>
        </p:spPr>
      </p:sp>
      <p:sp>
        <p:nvSpPr>
          <p:cNvPr id="28" name="Shape 23"/>
          <p:cNvSpPr/>
          <p:nvPr/>
        </p:nvSpPr>
        <p:spPr>
          <a:xfrm>
            <a:off x="7086600" y="4681728"/>
            <a:ext cx="4187952" cy="658368"/>
          </a:xfrm>
          <a:prstGeom prst="roundRect">
            <a:avLst>
              <a:gd name="adj" fmla="val 6944"/>
            </a:avLst>
          </a:prstGeom>
          <a:solidFill>
            <a:srgbClr val="1B2330"/>
          </a:solidFill>
          <a:ln w="12700">
            <a:solidFill>
              <a:srgbClr val="273140"/>
            </a:solidFill>
            <a:prstDash val="solid"/>
          </a:ln>
        </p:spPr>
      </p:sp>
      <p:sp>
        <p:nvSpPr>
          <p:cNvPr id="29" name="Text 24"/>
          <p:cNvSpPr/>
          <p:nvPr/>
        </p:nvSpPr>
        <p:spPr>
          <a:xfrm>
            <a:off x="7269480" y="4736592"/>
            <a:ext cx="3840480" cy="256032"/>
          </a:xfrm>
          <a:prstGeom prst="rect">
            <a:avLst/>
          </a:prstGeom>
          <a:noFill/>
          <a:ln/>
        </p:spPr>
        <p:txBody>
          <a:bodyPr wrap="square" lIns="0" tIns="0" rIns="0" bIns="0" rtlCol="0" anchor="ctr"/>
          <a:lstStyle/>
          <a:p>
            <a:pPr indent="0" marL="0">
              <a:buNone/>
            </a:pPr>
            <a:r>
              <a:rPr lang="en-US" sz="1250" b="1" dirty="0">
                <a:solidFill>
                  <a:srgbClr val="A9B6C6"/>
                </a:solidFill>
                <a:latin typeface="Arial" pitchFamily="34" charset="0"/>
                <a:ea typeface="Arial" pitchFamily="34" charset="-122"/>
                <a:cs typeface="Arial" pitchFamily="34" charset="-120"/>
              </a:rPr>
              <a:t>BUILDER</a:t>
            </a:r>
            <a:endParaRPr lang="en-US" sz="1250" dirty="0"/>
          </a:p>
        </p:txBody>
      </p:sp>
      <p:sp>
        <p:nvSpPr>
          <p:cNvPr id="30" name="Text 25"/>
          <p:cNvSpPr/>
          <p:nvPr/>
        </p:nvSpPr>
        <p:spPr>
          <a:xfrm>
            <a:off x="7269480" y="5010912"/>
            <a:ext cx="3840480" cy="237744"/>
          </a:xfrm>
          <a:prstGeom prst="rect">
            <a:avLst/>
          </a:prstGeom>
          <a:noFill/>
          <a:ln/>
        </p:spPr>
        <p:txBody>
          <a:bodyPr wrap="square" lIns="0" tIns="0" rIns="0" bIns="0" rtlCol="0" anchor="ctr"/>
          <a:lstStyle/>
          <a:p>
            <a:pPr indent="0" marL="0">
              <a:buNone/>
            </a:pPr>
            <a:r>
              <a:rPr lang="en-US" sz="1050" dirty="0">
                <a:solidFill>
                  <a:srgbClr val="7C8899"/>
                </a:solidFill>
                <a:latin typeface="Arial" pitchFamily="34" charset="0"/>
                <a:ea typeface="Arial" pitchFamily="34" charset="-122"/>
                <a:cs typeface="Arial" pitchFamily="34" charset="-120"/>
              </a:rPr>
              <a:t>waits for a human decision</a:t>
            </a:r>
            <a:endParaRPr lang="en-US" sz="1050" dirty="0"/>
          </a:p>
        </p:txBody>
      </p:sp>
      <p:sp>
        <p:nvSpPr>
          <p:cNvPr id="31" name="Text 26"/>
          <p:cNvSpPr/>
          <p:nvPr/>
        </p:nvSpPr>
        <p:spPr>
          <a:xfrm>
            <a:off x="7086600" y="5440680"/>
            <a:ext cx="4187952" cy="274320"/>
          </a:xfrm>
          <a:prstGeom prst="rect">
            <a:avLst/>
          </a:prstGeom>
          <a:noFill/>
          <a:ln/>
        </p:spPr>
        <p:txBody>
          <a:bodyPr wrap="square" lIns="0" tIns="0" rIns="0" bIns="0" rtlCol="0" anchor="ctr"/>
          <a:lstStyle/>
          <a:p>
            <a:pPr indent="0" marL="0">
              <a:buNone/>
            </a:pPr>
            <a:r>
              <a:rPr lang="en-US" sz="1200" i="1" dirty="0">
                <a:solidFill>
                  <a:srgbClr val="A9B6C6"/>
                </a:solidFill>
                <a:latin typeface="Arial" pitchFamily="34" charset="0"/>
                <a:ea typeface="Arial" pitchFamily="34" charset="-122"/>
                <a:cs typeface="Arial" pitchFamily="34" charset="-120"/>
              </a:rPr>
              <a:t>One company decides. Everyone else hopes.</a:t>
            </a:r>
            <a:endParaRPr lang="en-US" sz="1200" dirty="0"/>
          </a:p>
        </p:txBody>
      </p:sp>
      <p:sp>
        <p:nvSpPr>
          <p:cNvPr id="32" name="Text 27"/>
          <p:cNvSpPr/>
          <p:nvPr/>
        </p:nvSpPr>
        <p:spPr>
          <a:xfrm>
            <a:off x="10774375" y="6309360"/>
            <a:ext cx="731520" cy="256032"/>
          </a:xfrm>
          <a:prstGeom prst="rect">
            <a:avLst/>
          </a:prstGeom>
          <a:noFill/>
          <a:ln/>
        </p:spPr>
        <p:txBody>
          <a:bodyPr wrap="square" lIns="0" tIns="0" rIns="0" bIns="0" rtlCol="0" anchor="ctr"/>
          <a:lstStyle/>
          <a:p>
            <a:pPr algn="r" indent="0" marL="0">
              <a:buNone/>
            </a:pPr>
            <a:r>
              <a:rPr lang="en-US" sz="1000" spc="100" kern="0" dirty="0">
                <a:solidFill>
                  <a:srgbClr val="7C8899"/>
                </a:solidFill>
                <a:latin typeface="Courier New" pitchFamily="34" charset="0"/>
                <a:ea typeface="Courier New" pitchFamily="34" charset="-122"/>
                <a:cs typeface="Courier New" pitchFamily="34" charset="-120"/>
              </a:rPr>
              <a:t>02</a:t>
            </a:r>
            <a:endParaRPr lang="en-US" sz="1000" dirty="0"/>
          </a:p>
        </p:txBody>
      </p:sp>
      <p:sp>
        <p:nvSpPr>
          <p:cNvPr id="33" name="Text 28"/>
          <p:cNvSpPr/>
          <p:nvPr/>
        </p:nvSpPr>
        <p:spPr>
          <a:xfrm>
            <a:off x="685800" y="6309360"/>
            <a:ext cx="2743200" cy="256032"/>
          </a:xfrm>
          <a:prstGeom prst="rect">
            <a:avLst/>
          </a:prstGeom>
          <a:noFill/>
          <a:ln/>
        </p:spPr>
        <p:txBody>
          <a:bodyPr wrap="square" lIns="0" tIns="0" rIns="0" bIns="0" rtlCol="0" anchor="ctr"/>
          <a:lstStyle/>
          <a:p>
            <a:pPr indent="0" marL="0">
              <a:buNone/>
            </a:pPr>
            <a:r>
              <a:rPr lang="en-US" sz="1000" spc="150" kern="0" dirty="0">
                <a:solidFill>
                  <a:srgbClr val="7C8899"/>
                </a:solidFill>
                <a:latin typeface="Courier New" pitchFamily="34" charset="0"/>
                <a:ea typeface="Courier New" pitchFamily="34" charset="-122"/>
                <a:cs typeface="Courier New" pitchFamily="34" charset="-120"/>
              </a:rPr>
              <a:t>DRAFTPAY</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0D12"/>
        </a:solidFill>
      </p:bgPr>
    </p:bg>
    <p:spTree>
      <p:nvGrpSpPr>
        <p:cNvPr id="1" name=""/>
        <p:cNvGrpSpPr/>
        <p:nvPr/>
      </p:nvGrpSpPr>
      <p:grpSpPr>
        <a:xfrm>
          <a:off x="0" y="0"/>
          <a:ext cx="0" cy="0"/>
          <a:chOff x="0" y="0"/>
          <a:chExt cx="0" cy="0"/>
        </a:xfrm>
      </p:grpSpPr>
      <p:sp>
        <p:nvSpPr>
          <p:cNvPr id="2" name="Shape 0"/>
          <p:cNvSpPr/>
          <p:nvPr/>
        </p:nvSpPr>
        <p:spPr>
          <a:xfrm>
            <a:off x="685800" y="411480"/>
            <a:ext cx="1627632" cy="256032"/>
          </a:xfrm>
          <a:prstGeom prst="roundRect">
            <a:avLst>
              <a:gd name="adj" fmla="val 50000"/>
            </a:avLst>
          </a:prstGeom>
          <a:solidFill>
            <a:srgbClr val="1B2330"/>
          </a:solidFill>
          <a:ln w="12700">
            <a:solidFill>
              <a:srgbClr val="273140"/>
            </a:solidFill>
            <a:prstDash val="solid"/>
          </a:ln>
        </p:spPr>
      </p:sp>
      <p:sp>
        <p:nvSpPr>
          <p:cNvPr id="3" name="Text 1"/>
          <p:cNvSpPr/>
          <p:nvPr/>
        </p:nvSpPr>
        <p:spPr>
          <a:xfrm>
            <a:off x="685800" y="411480"/>
            <a:ext cx="1627632" cy="256032"/>
          </a:xfrm>
          <a:prstGeom prst="rect">
            <a:avLst/>
          </a:prstGeom>
          <a:noFill/>
          <a:ln/>
        </p:spPr>
        <p:txBody>
          <a:bodyPr wrap="square" lIns="0" tIns="0" rIns="0" bIns="0" rtlCol="0" anchor="ctr"/>
          <a:lstStyle/>
          <a:p>
            <a:pPr algn="ctr" indent="0" marL="0">
              <a:buNone/>
            </a:pPr>
            <a:r>
              <a:rPr lang="en-US" sz="900" b="1" spc="120" kern="0" dirty="0">
                <a:solidFill>
                  <a:srgbClr val="5B9BFF"/>
                </a:solidFill>
                <a:latin typeface="Courier New" pitchFamily="34" charset="0"/>
                <a:ea typeface="Courier New" pitchFamily="34" charset="-122"/>
                <a:cs typeface="Courier New" pitchFamily="34" charset="-120"/>
              </a:rPr>
              <a:t>02  /  WHY NOW</a:t>
            </a:r>
            <a:endParaRPr lang="en-US" sz="900" dirty="0"/>
          </a:p>
        </p:txBody>
      </p:sp>
      <p:sp>
        <p:nvSpPr>
          <p:cNvPr id="4" name="Text 2"/>
          <p:cNvSpPr/>
          <p:nvPr/>
        </p:nvSpPr>
        <p:spPr>
          <a:xfrm>
            <a:off x="685800" y="841248"/>
            <a:ext cx="10820095" cy="822960"/>
          </a:xfrm>
          <a:prstGeom prst="rect">
            <a:avLst/>
          </a:prstGeom>
          <a:noFill/>
          <a:ln/>
        </p:spPr>
        <p:txBody>
          <a:bodyPr wrap="square" lIns="0" tIns="0" rIns="0" bIns="0" rtlCol="0" anchor="t"/>
          <a:lstStyle/>
          <a:p>
            <a:pPr indent="0" marL="0">
              <a:lnSpc>
                <a:spcPts val="3800"/>
              </a:lnSpc>
              <a:buNone/>
            </a:pPr>
            <a:r>
              <a:rPr lang="en-US" sz="3200" b="1" spc="-30" kern="0" dirty="0">
                <a:solidFill>
                  <a:srgbClr val="EDF1F7"/>
                </a:solidFill>
                <a:latin typeface="Arial" pitchFamily="34" charset="0"/>
                <a:ea typeface="Arial" pitchFamily="34" charset="-122"/>
                <a:cs typeface="Arial" pitchFamily="34" charset="-120"/>
              </a:rPr>
              <a:t>Two things changed at once.</a:t>
            </a:r>
            <a:endParaRPr lang="en-US" sz="3200" dirty="0"/>
          </a:p>
        </p:txBody>
      </p:sp>
      <p:sp>
        <p:nvSpPr>
          <p:cNvPr id="5" name="Shape 3"/>
          <p:cNvSpPr/>
          <p:nvPr/>
        </p:nvSpPr>
        <p:spPr>
          <a:xfrm>
            <a:off x="685800" y="1920240"/>
            <a:ext cx="5312664" cy="3017520"/>
          </a:xfrm>
          <a:prstGeom prst="roundRect">
            <a:avLst>
              <a:gd name="adj" fmla="val 1818"/>
            </a:avLst>
          </a:prstGeom>
          <a:solidFill>
            <a:srgbClr val="141A24"/>
          </a:solidFill>
          <a:ln w="12700">
            <a:solidFill>
              <a:srgbClr val="273140"/>
            </a:solidFill>
            <a:prstDash val="solid"/>
          </a:ln>
          <a:effectLst>
            <a:outerShdw sx="100000" sy="100000" kx="0" ky="0" algn="bl" rotWithShape="0" blurRad="177800" dist="50800" dir="5400000">
              <a:srgbClr val="000000">
                <a:alpha val="45000"/>
              </a:srgbClr>
            </a:outerShdw>
          </a:effectLst>
        </p:spPr>
      </p:sp>
      <p:sp>
        <p:nvSpPr>
          <p:cNvPr id="6" name="Shape 4"/>
          <p:cNvSpPr/>
          <p:nvPr/>
        </p:nvSpPr>
        <p:spPr>
          <a:xfrm>
            <a:off x="1051560" y="2240280"/>
            <a:ext cx="457200" cy="457200"/>
          </a:xfrm>
          <a:prstGeom prst="ellipse">
            <a:avLst/>
          </a:prstGeom>
          <a:solidFill>
            <a:srgbClr val="16233A"/>
          </a:solidFill>
          <a:ln w="12700">
            <a:solidFill>
              <a:srgbClr val="2775CA"/>
            </a:solidFill>
            <a:prstDash val="solid"/>
          </a:ln>
        </p:spPr>
      </p:sp>
      <p:pic>
        <p:nvPicPr>
          <p:cNvPr id="7" name="Image 0" descr="/home/claude/work/icons/cpu-blue.png">    </p:cNvPr>
          <p:cNvPicPr>
            <a:picLocks noChangeAspect="1"/>
          </p:cNvPicPr>
          <p:nvPr/>
        </p:nvPicPr>
        <p:blipFill>
          <a:blip r:embed="rId1"/>
          <a:stretch>
            <a:fillRect/>
          </a:stretch>
        </p:blipFill>
        <p:spPr>
          <a:xfrm>
            <a:off x="1170432" y="2359152"/>
            <a:ext cx="219456" cy="219456"/>
          </a:xfrm>
          <a:prstGeom prst="rect">
            <a:avLst/>
          </a:prstGeom>
        </p:spPr>
      </p:pic>
      <p:sp>
        <p:nvSpPr>
          <p:cNvPr id="8" name="Text 5"/>
          <p:cNvSpPr/>
          <p:nvPr/>
        </p:nvSpPr>
        <p:spPr>
          <a:xfrm>
            <a:off x="1645920" y="2286000"/>
            <a:ext cx="4114800" cy="365760"/>
          </a:xfrm>
          <a:prstGeom prst="rect">
            <a:avLst/>
          </a:prstGeom>
          <a:noFill/>
          <a:ln/>
        </p:spPr>
        <p:txBody>
          <a:bodyPr wrap="square" lIns="0" tIns="0" rIns="0" bIns="0" rtlCol="0" anchor="ctr"/>
          <a:lstStyle/>
          <a:p>
            <a:pPr indent="0" marL="0">
              <a:buNone/>
            </a:pPr>
            <a:r>
              <a:rPr lang="en-US" sz="1700" b="1" dirty="0">
                <a:solidFill>
                  <a:srgbClr val="EDF1F7"/>
                </a:solidFill>
                <a:latin typeface="Arial" pitchFamily="34" charset="0"/>
                <a:ea typeface="Arial" pitchFamily="34" charset="-122"/>
                <a:cs typeface="Arial" pitchFamily="34" charset="-120"/>
              </a:rPr>
              <a:t>Agents finish the job now</a:t>
            </a:r>
            <a:endParaRPr lang="en-US" sz="1700" dirty="0"/>
          </a:p>
        </p:txBody>
      </p:sp>
      <p:sp>
        <p:nvSpPr>
          <p:cNvPr id="9" name="Text 6"/>
          <p:cNvSpPr/>
          <p:nvPr/>
        </p:nvSpPr>
        <p:spPr>
          <a:xfrm>
            <a:off x="1051560" y="2926080"/>
            <a:ext cx="4572000" cy="1783080"/>
          </a:xfrm>
          <a:prstGeom prst="rect">
            <a:avLst/>
          </a:prstGeom>
          <a:noFill/>
          <a:ln/>
        </p:spPr>
        <p:txBody>
          <a:bodyPr wrap="square" lIns="0" tIns="0" rIns="0" bIns="0" rtlCol="0" anchor="ctr"/>
          <a:lstStyle/>
          <a:p>
            <a:pPr indent="0" marL="0">
              <a:lnSpc>
                <a:spcPts val="1800"/>
              </a:lnSpc>
              <a:spcAft>
                <a:spcPts val="800"/>
              </a:spcAft>
              <a:buNone/>
            </a:pPr>
            <a:r>
              <a:rPr lang="en-US" sz="1250" dirty="0">
                <a:solidFill>
                  <a:srgbClr val="A9B6C6"/>
                </a:solidFill>
                <a:latin typeface="Arial" pitchFamily="34" charset="0"/>
                <a:ea typeface="Arial" pitchFamily="34" charset="-122"/>
                <a:cs typeface="Arial" pitchFamily="34" charset="-120"/>
              </a:rPr>
              <a:t>An agent no longer returns a draft. It reads a spec, builds a responsive product, tests it, and hands over the exact bytes.</a:t>
            </a:r>
            <a:endParaRPr lang="en-US" sz="1250" dirty="0"/>
          </a:p>
          <a:p>
            <a:pPr indent="0" marL="0">
              <a:lnSpc>
                <a:spcPts val="1800"/>
              </a:lnSpc>
              <a:spcAft>
                <a:spcPts val="800"/>
              </a:spcAft>
              <a:buNone/>
            </a:pPr>
            <a:r>
              <a:rPr lang="en-US" sz="1250" dirty="0">
                <a:solidFill>
                  <a:srgbClr val="A9B6C6"/>
                </a:solidFill>
                <a:latin typeface="Arial" pitchFamily="34" charset="0"/>
                <a:ea typeface="Arial" pitchFamily="34" charset="-122"/>
                <a:cs typeface="Arial" pitchFamily="34" charset="-120"/>
              </a:rPr>
              <a:t>So a brief can be answered three times over, in parallel, in minutes, by parties with no legal identity to sue.</a:t>
            </a:r>
            <a:endParaRPr lang="en-US" sz="1250" dirty="0"/>
          </a:p>
        </p:txBody>
      </p:sp>
      <p:sp>
        <p:nvSpPr>
          <p:cNvPr id="10" name="Shape 7"/>
          <p:cNvSpPr/>
          <p:nvPr/>
        </p:nvSpPr>
        <p:spPr>
          <a:xfrm>
            <a:off x="6190488" y="1920240"/>
            <a:ext cx="5312664" cy="3017520"/>
          </a:xfrm>
          <a:prstGeom prst="roundRect">
            <a:avLst>
              <a:gd name="adj" fmla="val 1818"/>
            </a:avLst>
          </a:prstGeom>
          <a:solidFill>
            <a:srgbClr val="141A24"/>
          </a:solidFill>
          <a:ln w="12700">
            <a:solidFill>
              <a:srgbClr val="273140"/>
            </a:solidFill>
            <a:prstDash val="solid"/>
          </a:ln>
          <a:effectLst>
            <a:outerShdw sx="100000" sy="100000" kx="0" ky="0" algn="bl" rotWithShape="0" blurRad="177800" dist="50800" dir="5400000">
              <a:srgbClr val="000000">
                <a:alpha val="45000"/>
              </a:srgbClr>
            </a:outerShdw>
          </a:effectLst>
        </p:spPr>
      </p:sp>
      <p:sp>
        <p:nvSpPr>
          <p:cNvPr id="11" name="Shape 8"/>
          <p:cNvSpPr/>
          <p:nvPr/>
        </p:nvSpPr>
        <p:spPr>
          <a:xfrm>
            <a:off x="6556248" y="2240280"/>
            <a:ext cx="457200" cy="457200"/>
          </a:xfrm>
          <a:prstGeom prst="ellipse">
            <a:avLst/>
          </a:prstGeom>
          <a:solidFill>
            <a:srgbClr val="16233A"/>
          </a:solidFill>
          <a:ln w="12700">
            <a:solidFill>
              <a:srgbClr val="2775CA"/>
            </a:solidFill>
            <a:prstDash val="solid"/>
          </a:ln>
        </p:spPr>
      </p:sp>
      <p:pic>
        <p:nvPicPr>
          <p:cNvPr id="12" name="Image 1" descr="/home/claude/work/icons/zap-blue.png">    </p:cNvPr>
          <p:cNvPicPr>
            <a:picLocks noChangeAspect="1"/>
          </p:cNvPicPr>
          <p:nvPr/>
        </p:nvPicPr>
        <p:blipFill>
          <a:blip r:embed="rId2"/>
          <a:stretch>
            <a:fillRect/>
          </a:stretch>
        </p:blipFill>
        <p:spPr>
          <a:xfrm>
            <a:off x="6675120" y="2359152"/>
            <a:ext cx="219456" cy="219456"/>
          </a:xfrm>
          <a:prstGeom prst="rect">
            <a:avLst/>
          </a:prstGeom>
        </p:spPr>
      </p:pic>
      <p:sp>
        <p:nvSpPr>
          <p:cNvPr id="13" name="Text 9"/>
          <p:cNvSpPr/>
          <p:nvPr/>
        </p:nvSpPr>
        <p:spPr>
          <a:xfrm>
            <a:off x="7150608" y="2286000"/>
            <a:ext cx="4114800" cy="365760"/>
          </a:xfrm>
          <a:prstGeom prst="rect">
            <a:avLst/>
          </a:prstGeom>
          <a:noFill/>
          <a:ln/>
        </p:spPr>
        <p:txBody>
          <a:bodyPr wrap="square" lIns="0" tIns="0" rIns="0" bIns="0" rtlCol="0" anchor="ctr"/>
          <a:lstStyle/>
          <a:p>
            <a:pPr indent="0" marL="0">
              <a:buNone/>
            </a:pPr>
            <a:r>
              <a:rPr lang="en-US" sz="1700" b="1" dirty="0">
                <a:solidFill>
                  <a:srgbClr val="EDF1F7"/>
                </a:solidFill>
                <a:latin typeface="Arial" pitchFamily="34" charset="0"/>
                <a:ea typeface="Arial" pitchFamily="34" charset="-122"/>
                <a:cs typeface="Arial" pitchFamily="34" charset="-120"/>
              </a:rPr>
              <a:t>Settlement became programmable</a:t>
            </a:r>
            <a:endParaRPr lang="en-US" sz="1700" dirty="0"/>
          </a:p>
        </p:txBody>
      </p:sp>
      <p:sp>
        <p:nvSpPr>
          <p:cNvPr id="14" name="Text 10"/>
          <p:cNvSpPr/>
          <p:nvPr/>
        </p:nvSpPr>
        <p:spPr>
          <a:xfrm>
            <a:off x="6556248" y="2926080"/>
            <a:ext cx="4572000" cy="1783080"/>
          </a:xfrm>
          <a:prstGeom prst="rect">
            <a:avLst/>
          </a:prstGeom>
          <a:noFill/>
          <a:ln/>
        </p:spPr>
        <p:txBody>
          <a:bodyPr wrap="square" lIns="0" tIns="0" rIns="0" bIns="0" rtlCol="0" anchor="ctr"/>
          <a:lstStyle/>
          <a:p>
            <a:pPr indent="0" marL="0">
              <a:lnSpc>
                <a:spcPts val="1800"/>
              </a:lnSpc>
              <a:spcAft>
                <a:spcPts val="800"/>
              </a:spcAft>
              <a:buNone/>
            </a:pPr>
            <a:r>
              <a:rPr lang="en-US" sz="1250" dirty="0">
                <a:solidFill>
                  <a:srgbClr val="A9B6C6"/>
                </a:solidFill>
                <a:latin typeface="Arial" pitchFamily="34" charset="0"/>
                <a:ea typeface="Arial" pitchFamily="34" charset="-122"/>
                <a:cs typeface="Arial" pitchFamily="34" charset="-120"/>
              </a:rPr>
              <a:t>Arc prices gas in USDC and finalises in under a second, so a contest can open, close and pay inside one demo.</a:t>
            </a:r>
            <a:endParaRPr lang="en-US" sz="1250" dirty="0"/>
          </a:p>
          <a:p>
            <a:pPr indent="0" marL="0">
              <a:lnSpc>
                <a:spcPts val="1800"/>
              </a:lnSpc>
              <a:spcAft>
                <a:spcPts val="800"/>
              </a:spcAft>
              <a:buNone/>
            </a:pPr>
            <a:r>
              <a:rPr lang="en-US" sz="1250" dirty="0">
                <a:solidFill>
                  <a:srgbClr val="A9B6C6"/>
                </a:solidFill>
                <a:latin typeface="Arial" pitchFamily="34" charset="0"/>
                <a:ea typeface="Arial" pitchFamily="34" charset="-122"/>
                <a:cs typeface="Arial" pitchFamily="34" charset="-120"/>
              </a:rPr>
              <a:t>The prize, the agent's own purchases and the payout are all the same unit. No bridge, no second asset, no drift.</a:t>
            </a:r>
            <a:endParaRPr lang="en-US" sz="1250" dirty="0"/>
          </a:p>
        </p:txBody>
      </p:sp>
      <p:sp>
        <p:nvSpPr>
          <p:cNvPr id="15" name="Shape 11"/>
          <p:cNvSpPr/>
          <p:nvPr/>
        </p:nvSpPr>
        <p:spPr>
          <a:xfrm>
            <a:off x="685800" y="5230368"/>
            <a:ext cx="10820095" cy="749808"/>
          </a:xfrm>
          <a:prstGeom prst="roundRect">
            <a:avLst>
              <a:gd name="adj" fmla="val 7317"/>
            </a:avLst>
          </a:prstGeom>
          <a:solidFill>
            <a:srgbClr val="12200F"/>
          </a:solidFill>
          <a:ln w="12700">
            <a:solidFill>
              <a:srgbClr val="3D5A22"/>
            </a:solidFill>
            <a:prstDash val="solid"/>
          </a:ln>
        </p:spPr>
      </p:sp>
      <p:sp>
        <p:nvSpPr>
          <p:cNvPr id="16" name="Text 12"/>
          <p:cNvSpPr/>
          <p:nvPr/>
        </p:nvSpPr>
        <p:spPr>
          <a:xfrm>
            <a:off x="1005840" y="5230368"/>
            <a:ext cx="10180015" cy="749808"/>
          </a:xfrm>
          <a:prstGeom prst="rect">
            <a:avLst/>
          </a:prstGeom>
          <a:noFill/>
          <a:ln/>
        </p:spPr>
        <p:txBody>
          <a:bodyPr wrap="square" lIns="0" tIns="0" rIns="0" bIns="0" rtlCol="0" anchor="ctr"/>
          <a:lstStyle/>
          <a:p>
            <a:pPr indent="0" marL="0">
              <a:buNone/>
            </a:pPr>
            <a:r>
              <a:rPr lang="en-US" sz="1100" spc="120" kern="0" dirty="0">
                <a:solidFill>
                  <a:srgbClr val="7C8899"/>
                </a:solidFill>
                <a:latin typeface="Courier New" pitchFamily="34" charset="0"/>
                <a:ea typeface="Courier New" pitchFamily="34" charset="-122"/>
                <a:cs typeface="Courier New" pitchFamily="34" charset="-120"/>
              </a:rPr>
              <a:t>STILL MISSING     </a:t>
            </a:r>
            <a:pPr indent="0" marL="0">
              <a:buNone/>
            </a:pPr>
            <a:r>
              <a:rPr lang="en-US" sz="1500" b="1" dirty="0">
                <a:solidFill>
                  <a:srgbClr val="C6F24E"/>
                </a:solidFill>
                <a:latin typeface="Arial" pitchFamily="34" charset="0"/>
                <a:ea typeface="Arial" pitchFamily="34" charset="-122"/>
                <a:cs typeface="Arial" pitchFamily="34" charset="-120"/>
              </a:rPr>
              <a:t>a payout rule that neither the buyer, the builder nor the platform can reach.</a:t>
            </a:r>
            <a:endParaRPr lang="en-US" sz="1100" dirty="0"/>
          </a:p>
        </p:txBody>
      </p:sp>
      <p:sp>
        <p:nvSpPr>
          <p:cNvPr id="17" name="Text 13"/>
          <p:cNvSpPr/>
          <p:nvPr/>
        </p:nvSpPr>
        <p:spPr>
          <a:xfrm>
            <a:off x="10774375" y="6309360"/>
            <a:ext cx="731520" cy="256032"/>
          </a:xfrm>
          <a:prstGeom prst="rect">
            <a:avLst/>
          </a:prstGeom>
          <a:noFill/>
          <a:ln/>
        </p:spPr>
        <p:txBody>
          <a:bodyPr wrap="square" lIns="0" tIns="0" rIns="0" bIns="0" rtlCol="0" anchor="ctr"/>
          <a:lstStyle/>
          <a:p>
            <a:pPr algn="r" indent="0" marL="0">
              <a:buNone/>
            </a:pPr>
            <a:r>
              <a:rPr lang="en-US" sz="1000" spc="100" kern="0" dirty="0">
                <a:solidFill>
                  <a:srgbClr val="7C8899"/>
                </a:solidFill>
                <a:latin typeface="Courier New" pitchFamily="34" charset="0"/>
                <a:ea typeface="Courier New" pitchFamily="34" charset="-122"/>
                <a:cs typeface="Courier New" pitchFamily="34" charset="-120"/>
              </a:rPr>
              <a:t>03</a:t>
            </a:r>
            <a:endParaRPr lang="en-US" sz="1000" dirty="0"/>
          </a:p>
        </p:txBody>
      </p:sp>
      <p:sp>
        <p:nvSpPr>
          <p:cNvPr id="18" name="Text 14"/>
          <p:cNvSpPr/>
          <p:nvPr/>
        </p:nvSpPr>
        <p:spPr>
          <a:xfrm>
            <a:off x="685800" y="6309360"/>
            <a:ext cx="2743200" cy="256032"/>
          </a:xfrm>
          <a:prstGeom prst="rect">
            <a:avLst/>
          </a:prstGeom>
          <a:noFill/>
          <a:ln/>
        </p:spPr>
        <p:txBody>
          <a:bodyPr wrap="square" lIns="0" tIns="0" rIns="0" bIns="0" rtlCol="0" anchor="ctr"/>
          <a:lstStyle/>
          <a:p>
            <a:pPr indent="0" marL="0">
              <a:buNone/>
            </a:pPr>
            <a:r>
              <a:rPr lang="en-US" sz="1000" spc="150" kern="0" dirty="0">
                <a:solidFill>
                  <a:srgbClr val="7C8899"/>
                </a:solidFill>
                <a:latin typeface="Courier New" pitchFamily="34" charset="0"/>
                <a:ea typeface="Courier New" pitchFamily="34" charset="-122"/>
                <a:cs typeface="Courier New" pitchFamily="34" charset="-120"/>
              </a:rPr>
              <a:t>DRAFTPAY</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0D12"/>
        </a:solidFill>
      </p:bgPr>
    </p:bg>
    <p:spTree>
      <p:nvGrpSpPr>
        <p:cNvPr id="1" name=""/>
        <p:cNvGrpSpPr/>
        <p:nvPr/>
      </p:nvGrpSpPr>
      <p:grpSpPr>
        <a:xfrm>
          <a:off x="0" y="0"/>
          <a:ext cx="0" cy="0"/>
          <a:chOff x="0" y="0"/>
          <a:chExt cx="0" cy="0"/>
        </a:xfrm>
      </p:grpSpPr>
      <p:sp>
        <p:nvSpPr>
          <p:cNvPr id="2" name="Shape 0"/>
          <p:cNvSpPr/>
          <p:nvPr/>
        </p:nvSpPr>
        <p:spPr>
          <a:xfrm>
            <a:off x="685800" y="411480"/>
            <a:ext cx="2084832" cy="256032"/>
          </a:xfrm>
          <a:prstGeom prst="roundRect">
            <a:avLst>
              <a:gd name="adj" fmla="val 50000"/>
            </a:avLst>
          </a:prstGeom>
          <a:solidFill>
            <a:srgbClr val="1B2330"/>
          </a:solidFill>
          <a:ln w="12700">
            <a:solidFill>
              <a:srgbClr val="273140"/>
            </a:solidFill>
            <a:prstDash val="solid"/>
          </a:ln>
        </p:spPr>
      </p:sp>
      <p:sp>
        <p:nvSpPr>
          <p:cNvPr id="3" name="Text 1"/>
          <p:cNvSpPr/>
          <p:nvPr/>
        </p:nvSpPr>
        <p:spPr>
          <a:xfrm>
            <a:off x="685800" y="411480"/>
            <a:ext cx="2084832" cy="256032"/>
          </a:xfrm>
          <a:prstGeom prst="rect">
            <a:avLst/>
          </a:prstGeom>
          <a:noFill/>
          <a:ln/>
        </p:spPr>
        <p:txBody>
          <a:bodyPr wrap="square" lIns="0" tIns="0" rIns="0" bIns="0" rtlCol="0" anchor="ctr"/>
          <a:lstStyle/>
          <a:p>
            <a:pPr algn="ctr" indent="0" marL="0">
              <a:buNone/>
            </a:pPr>
            <a:r>
              <a:rPr lang="en-US" sz="900" b="1" spc="120" kern="0" dirty="0">
                <a:solidFill>
                  <a:srgbClr val="5B9BFF"/>
                </a:solidFill>
                <a:latin typeface="Courier New" pitchFamily="34" charset="0"/>
                <a:ea typeface="Courier New" pitchFamily="34" charset="-122"/>
                <a:cs typeface="Courier New" pitchFamily="34" charset="-120"/>
              </a:rPr>
              <a:t>03  /  HOW IT WORKS</a:t>
            </a:r>
            <a:endParaRPr lang="en-US" sz="900" dirty="0"/>
          </a:p>
        </p:txBody>
      </p:sp>
      <p:sp>
        <p:nvSpPr>
          <p:cNvPr id="4" name="Text 2"/>
          <p:cNvSpPr/>
          <p:nvPr/>
        </p:nvSpPr>
        <p:spPr>
          <a:xfrm>
            <a:off x="685800" y="841248"/>
            <a:ext cx="10820095" cy="822960"/>
          </a:xfrm>
          <a:prstGeom prst="rect">
            <a:avLst/>
          </a:prstGeom>
          <a:noFill/>
          <a:ln/>
        </p:spPr>
        <p:txBody>
          <a:bodyPr wrap="square" lIns="0" tIns="0" rIns="0" bIns="0" rtlCol="0" anchor="t"/>
          <a:lstStyle/>
          <a:p>
            <a:pPr indent="0" marL="0">
              <a:lnSpc>
                <a:spcPts val="3800"/>
              </a:lnSpc>
              <a:buNone/>
            </a:pPr>
            <a:r>
              <a:rPr lang="en-US" sz="3200" b="1" spc="-30" kern="0" dirty="0">
                <a:solidFill>
                  <a:srgbClr val="EDF1F7"/>
                </a:solidFill>
                <a:latin typeface="Arial" pitchFamily="34" charset="0"/>
                <a:ea typeface="Arial" pitchFamily="34" charset="-122"/>
                <a:cs typeface="Arial" pitchFamily="34" charset="-120"/>
              </a:rPr>
              <a:t>One brief. Three builds. One payout rule.</a:t>
            </a:r>
            <a:endParaRPr lang="en-US" sz="3200" dirty="0"/>
          </a:p>
        </p:txBody>
      </p:sp>
      <p:sp>
        <p:nvSpPr>
          <p:cNvPr id="5" name="Text 3"/>
          <p:cNvSpPr/>
          <p:nvPr/>
        </p:nvSpPr>
        <p:spPr>
          <a:xfrm>
            <a:off x="685800" y="1664208"/>
            <a:ext cx="7772400" cy="548640"/>
          </a:xfrm>
          <a:prstGeom prst="rect">
            <a:avLst/>
          </a:prstGeom>
          <a:noFill/>
          <a:ln/>
        </p:spPr>
        <p:txBody>
          <a:bodyPr wrap="square" lIns="0" tIns="0" rIns="0" bIns="0" rtlCol="0" anchor="t"/>
          <a:lstStyle/>
          <a:p>
            <a:pPr indent="0" marL="0">
              <a:lnSpc>
                <a:spcPts val="2000"/>
              </a:lnSpc>
              <a:buNone/>
            </a:pPr>
            <a:r>
              <a:rPr lang="en-US" sz="1400" dirty="0">
                <a:solidFill>
                  <a:srgbClr val="A9B6C6"/>
                </a:solidFill>
                <a:latin typeface="Arial" pitchFamily="34" charset="0"/>
                <a:ea typeface="Arial" pitchFamily="34" charset="-122"/>
                <a:cs typeface="Arial" pitchFamily="34" charset="-120"/>
              </a:rPr>
              <a:t>The client keeps product choice. The contract keeps the money.</a:t>
            </a:r>
            <a:endParaRPr lang="en-US" sz="1400" dirty="0"/>
          </a:p>
        </p:txBody>
      </p:sp>
      <p:sp>
        <p:nvSpPr>
          <p:cNvPr id="6" name="Shape 4"/>
          <p:cNvSpPr/>
          <p:nvPr/>
        </p:nvSpPr>
        <p:spPr>
          <a:xfrm>
            <a:off x="685800" y="2286000"/>
            <a:ext cx="2505456" cy="3200400"/>
          </a:xfrm>
          <a:prstGeom prst="roundRect">
            <a:avLst>
              <a:gd name="adj" fmla="val 2190"/>
            </a:avLst>
          </a:prstGeom>
          <a:solidFill>
            <a:srgbClr val="141A24"/>
          </a:solidFill>
          <a:ln w="12700">
            <a:solidFill>
              <a:srgbClr val="273140"/>
            </a:solidFill>
            <a:prstDash val="solid"/>
          </a:ln>
          <a:effectLst>
            <a:outerShdw sx="100000" sy="100000" kx="0" ky="0" algn="bl" rotWithShape="0" blurRad="177800" dist="50800" dir="5400000">
              <a:srgbClr val="000000">
                <a:alpha val="45000"/>
              </a:srgbClr>
            </a:outerShdw>
          </a:effectLst>
        </p:spPr>
      </p:sp>
      <p:sp>
        <p:nvSpPr>
          <p:cNvPr id="7" name="Text 5"/>
          <p:cNvSpPr/>
          <p:nvPr/>
        </p:nvSpPr>
        <p:spPr>
          <a:xfrm>
            <a:off x="941832" y="2487168"/>
            <a:ext cx="914400" cy="274320"/>
          </a:xfrm>
          <a:prstGeom prst="rect">
            <a:avLst/>
          </a:prstGeom>
          <a:noFill/>
          <a:ln/>
        </p:spPr>
        <p:txBody>
          <a:bodyPr wrap="square" lIns="0" tIns="0" rIns="0" bIns="0" rtlCol="0" anchor="ctr"/>
          <a:lstStyle/>
          <a:p>
            <a:pPr indent="0" marL="0">
              <a:buNone/>
            </a:pPr>
            <a:r>
              <a:rPr lang="en-US" sz="1100" b="1" spc="100" kern="0" dirty="0">
                <a:solidFill>
                  <a:srgbClr val="5B9BFF"/>
                </a:solidFill>
                <a:latin typeface="Courier New" pitchFamily="34" charset="0"/>
                <a:ea typeface="Courier New" pitchFamily="34" charset="-122"/>
                <a:cs typeface="Courier New" pitchFamily="34" charset="-120"/>
              </a:rPr>
              <a:t>01</a:t>
            </a:r>
            <a:endParaRPr lang="en-US" sz="1100" dirty="0"/>
          </a:p>
        </p:txBody>
      </p:sp>
      <p:pic>
        <p:nvPicPr>
          <p:cNvPr id="8" name="Image 0" descr="/home/claude/work/icons/edit-blue.png">    </p:cNvPr>
          <p:cNvPicPr>
            <a:picLocks noChangeAspect="1"/>
          </p:cNvPicPr>
          <p:nvPr/>
        </p:nvPicPr>
        <p:blipFill>
          <a:blip r:embed="rId1"/>
          <a:stretch>
            <a:fillRect/>
          </a:stretch>
        </p:blipFill>
        <p:spPr>
          <a:xfrm>
            <a:off x="2624328" y="2450592"/>
            <a:ext cx="310896" cy="310896"/>
          </a:xfrm>
          <a:prstGeom prst="rect">
            <a:avLst/>
          </a:prstGeom>
        </p:spPr>
      </p:pic>
      <p:sp>
        <p:nvSpPr>
          <p:cNvPr id="9" name="Text 6"/>
          <p:cNvSpPr/>
          <p:nvPr/>
        </p:nvSpPr>
        <p:spPr>
          <a:xfrm>
            <a:off x="941832" y="2926080"/>
            <a:ext cx="2048256" cy="365760"/>
          </a:xfrm>
          <a:prstGeom prst="rect">
            <a:avLst/>
          </a:prstGeom>
          <a:noFill/>
          <a:ln/>
        </p:spPr>
        <p:txBody>
          <a:bodyPr wrap="square" lIns="0" tIns="0" rIns="0" bIns="0" rtlCol="0" anchor="ctr"/>
          <a:lstStyle/>
          <a:p>
            <a:pPr indent="0" marL="0">
              <a:buNone/>
            </a:pPr>
            <a:r>
              <a:rPr lang="en-US" sz="1900" b="1" spc="60" kern="0" dirty="0">
                <a:solidFill>
                  <a:srgbClr val="EDF1F7"/>
                </a:solidFill>
                <a:latin typeface="Arial" pitchFamily="34" charset="0"/>
                <a:ea typeface="Arial" pitchFamily="34" charset="-122"/>
                <a:cs typeface="Arial" pitchFamily="34" charset="-120"/>
              </a:rPr>
              <a:t>POST</a:t>
            </a:r>
            <a:endParaRPr lang="en-US" sz="1900" dirty="0"/>
          </a:p>
        </p:txBody>
      </p:sp>
      <p:sp>
        <p:nvSpPr>
          <p:cNvPr id="10" name="Text 7"/>
          <p:cNvSpPr/>
          <p:nvPr/>
        </p:nvSpPr>
        <p:spPr>
          <a:xfrm>
            <a:off x="941832" y="3401568"/>
            <a:ext cx="2002536" cy="1874520"/>
          </a:xfrm>
          <a:prstGeom prst="rect">
            <a:avLst/>
          </a:prstGeom>
          <a:noFill/>
          <a:ln/>
        </p:spPr>
        <p:txBody>
          <a:bodyPr wrap="square" lIns="0" tIns="0" rIns="0" bIns="0" rtlCol="0" anchor="ctr"/>
          <a:lstStyle/>
          <a:p>
            <a:pPr indent="0" marL="0">
              <a:lnSpc>
                <a:spcPts val="1650"/>
              </a:lnSpc>
              <a:buNone/>
            </a:pPr>
            <a:r>
              <a:rPr lang="en-US" sz="1150" dirty="0">
                <a:solidFill>
                  <a:srgbClr val="A9B6C6"/>
                </a:solidFill>
                <a:latin typeface="Arial" pitchFamily="34" charset="0"/>
                <a:ea typeface="Arial" pitchFamily="34" charset="-122"/>
                <a:cs typeface="Arial" pitchFamily="34" charset="-120"/>
              </a:rPr>
              <a:t>The client writes the brief and locks the prize in a per-contest Arc contract. Deadline and every payout percentage are fixed at creation.</a:t>
            </a:r>
            <a:endParaRPr lang="en-US" sz="1150" dirty="0"/>
          </a:p>
        </p:txBody>
      </p:sp>
      <p:sp>
        <p:nvSpPr>
          <p:cNvPr id="11" name="Shape 8"/>
          <p:cNvSpPr/>
          <p:nvPr/>
        </p:nvSpPr>
        <p:spPr>
          <a:xfrm>
            <a:off x="3246120" y="3886200"/>
            <a:ext cx="164592" cy="0"/>
          </a:xfrm>
          <a:prstGeom prst="line">
            <a:avLst/>
          </a:prstGeom>
          <a:noFill/>
          <a:ln w="19050">
            <a:solidFill>
              <a:srgbClr val="273140"/>
            </a:solidFill>
            <a:prstDash val="solid"/>
            <a:tailEnd type="triangle"/>
          </a:ln>
        </p:spPr>
      </p:sp>
      <p:sp>
        <p:nvSpPr>
          <p:cNvPr id="12" name="Shape 9"/>
          <p:cNvSpPr/>
          <p:nvPr/>
        </p:nvSpPr>
        <p:spPr>
          <a:xfrm>
            <a:off x="3456432" y="2286000"/>
            <a:ext cx="2505456" cy="3200400"/>
          </a:xfrm>
          <a:prstGeom prst="roundRect">
            <a:avLst>
              <a:gd name="adj" fmla="val 2190"/>
            </a:avLst>
          </a:prstGeom>
          <a:solidFill>
            <a:srgbClr val="141A24"/>
          </a:solidFill>
          <a:ln w="12700">
            <a:solidFill>
              <a:srgbClr val="273140"/>
            </a:solidFill>
            <a:prstDash val="solid"/>
          </a:ln>
          <a:effectLst>
            <a:outerShdw sx="100000" sy="100000" kx="0" ky="0" algn="bl" rotWithShape="0" blurRad="177800" dist="50800" dir="5400000">
              <a:srgbClr val="000000">
                <a:alpha val="45000"/>
              </a:srgbClr>
            </a:outerShdw>
          </a:effectLst>
        </p:spPr>
      </p:sp>
      <p:sp>
        <p:nvSpPr>
          <p:cNvPr id="13" name="Text 10"/>
          <p:cNvSpPr/>
          <p:nvPr/>
        </p:nvSpPr>
        <p:spPr>
          <a:xfrm>
            <a:off x="3712464" y="2487168"/>
            <a:ext cx="914400" cy="274320"/>
          </a:xfrm>
          <a:prstGeom prst="rect">
            <a:avLst/>
          </a:prstGeom>
          <a:noFill/>
          <a:ln/>
        </p:spPr>
        <p:txBody>
          <a:bodyPr wrap="square" lIns="0" tIns="0" rIns="0" bIns="0" rtlCol="0" anchor="ctr"/>
          <a:lstStyle/>
          <a:p>
            <a:pPr indent="0" marL="0">
              <a:buNone/>
            </a:pPr>
            <a:r>
              <a:rPr lang="en-US" sz="1100" b="1" spc="100" kern="0" dirty="0">
                <a:solidFill>
                  <a:srgbClr val="5B9BFF"/>
                </a:solidFill>
                <a:latin typeface="Courier New" pitchFamily="34" charset="0"/>
                <a:ea typeface="Courier New" pitchFamily="34" charset="-122"/>
                <a:cs typeface="Courier New" pitchFamily="34" charset="-120"/>
              </a:rPr>
              <a:t>02</a:t>
            </a:r>
            <a:endParaRPr lang="en-US" sz="1100" dirty="0"/>
          </a:p>
        </p:txBody>
      </p:sp>
      <p:pic>
        <p:nvPicPr>
          <p:cNvPr id="14" name="Image 1" descr="/home/claude/work/icons/cpu-blue.png">    </p:cNvPr>
          <p:cNvPicPr>
            <a:picLocks noChangeAspect="1"/>
          </p:cNvPicPr>
          <p:nvPr/>
        </p:nvPicPr>
        <p:blipFill>
          <a:blip r:embed="rId2"/>
          <a:stretch>
            <a:fillRect/>
          </a:stretch>
        </p:blipFill>
        <p:spPr>
          <a:xfrm>
            <a:off x="5394960" y="2450592"/>
            <a:ext cx="310896" cy="310896"/>
          </a:xfrm>
          <a:prstGeom prst="rect">
            <a:avLst/>
          </a:prstGeom>
        </p:spPr>
      </p:pic>
      <p:sp>
        <p:nvSpPr>
          <p:cNvPr id="15" name="Text 11"/>
          <p:cNvSpPr/>
          <p:nvPr/>
        </p:nvSpPr>
        <p:spPr>
          <a:xfrm>
            <a:off x="3712464" y="2926080"/>
            <a:ext cx="2048256" cy="365760"/>
          </a:xfrm>
          <a:prstGeom prst="rect">
            <a:avLst/>
          </a:prstGeom>
          <a:noFill/>
          <a:ln/>
        </p:spPr>
        <p:txBody>
          <a:bodyPr wrap="square" lIns="0" tIns="0" rIns="0" bIns="0" rtlCol="0" anchor="ctr"/>
          <a:lstStyle/>
          <a:p>
            <a:pPr indent="0" marL="0">
              <a:buNone/>
            </a:pPr>
            <a:r>
              <a:rPr lang="en-US" sz="1900" b="1" spc="60" kern="0" dirty="0">
                <a:solidFill>
                  <a:srgbClr val="EDF1F7"/>
                </a:solidFill>
                <a:latin typeface="Arial" pitchFamily="34" charset="0"/>
                <a:ea typeface="Arial" pitchFamily="34" charset="-122"/>
                <a:cs typeface="Arial" pitchFamily="34" charset="-120"/>
              </a:rPr>
              <a:t>BUILD</a:t>
            </a:r>
            <a:endParaRPr lang="en-US" sz="1900" dirty="0"/>
          </a:p>
        </p:txBody>
      </p:sp>
      <p:sp>
        <p:nvSpPr>
          <p:cNvPr id="16" name="Text 12"/>
          <p:cNvSpPr/>
          <p:nvPr/>
        </p:nvSpPr>
        <p:spPr>
          <a:xfrm>
            <a:off x="3712464" y="3401568"/>
            <a:ext cx="2002536" cy="1874520"/>
          </a:xfrm>
          <a:prstGeom prst="rect">
            <a:avLst/>
          </a:prstGeom>
          <a:noFill/>
          <a:ln/>
        </p:spPr>
        <p:txBody>
          <a:bodyPr wrap="square" lIns="0" tIns="0" rIns="0" bIns="0" rtlCol="0" anchor="ctr"/>
          <a:lstStyle/>
          <a:p>
            <a:pPr indent="0" marL="0">
              <a:lnSpc>
                <a:spcPts val="1650"/>
              </a:lnSpc>
              <a:buNone/>
            </a:pPr>
            <a:r>
              <a:rPr lang="en-US" sz="1150" dirty="0">
                <a:solidFill>
                  <a:srgbClr val="A9B6C6"/>
                </a:solidFill>
                <a:latin typeface="Arial" pitchFamily="34" charset="0"/>
                <a:ea typeface="Arial" pitchFamily="34" charset="-122"/>
                <a:cs typeface="Arial" pitchFamily="34" charset="-120"/>
              </a:rPr>
              <a:t>Agents price the job against their own wallet budget, buy what they need over x402 in USDC, and produce a working product.</a:t>
            </a:r>
            <a:endParaRPr lang="en-US" sz="1150" dirty="0"/>
          </a:p>
        </p:txBody>
      </p:sp>
      <p:sp>
        <p:nvSpPr>
          <p:cNvPr id="17" name="Shape 13"/>
          <p:cNvSpPr/>
          <p:nvPr/>
        </p:nvSpPr>
        <p:spPr>
          <a:xfrm>
            <a:off x="6016752" y="3886200"/>
            <a:ext cx="164592" cy="0"/>
          </a:xfrm>
          <a:prstGeom prst="line">
            <a:avLst/>
          </a:prstGeom>
          <a:noFill/>
          <a:ln w="19050">
            <a:solidFill>
              <a:srgbClr val="273140"/>
            </a:solidFill>
            <a:prstDash val="solid"/>
            <a:tailEnd type="triangle"/>
          </a:ln>
        </p:spPr>
      </p:sp>
      <p:sp>
        <p:nvSpPr>
          <p:cNvPr id="18" name="Shape 14"/>
          <p:cNvSpPr/>
          <p:nvPr/>
        </p:nvSpPr>
        <p:spPr>
          <a:xfrm>
            <a:off x="6227064" y="2286000"/>
            <a:ext cx="2505456" cy="3200400"/>
          </a:xfrm>
          <a:prstGeom prst="roundRect">
            <a:avLst>
              <a:gd name="adj" fmla="val 2190"/>
            </a:avLst>
          </a:prstGeom>
          <a:solidFill>
            <a:srgbClr val="141A24"/>
          </a:solidFill>
          <a:ln w="12700">
            <a:solidFill>
              <a:srgbClr val="273140"/>
            </a:solidFill>
            <a:prstDash val="solid"/>
          </a:ln>
          <a:effectLst>
            <a:outerShdw sx="100000" sy="100000" kx="0" ky="0" algn="bl" rotWithShape="0" blurRad="177800" dist="50800" dir="5400000">
              <a:srgbClr val="000000">
                <a:alpha val="45000"/>
              </a:srgbClr>
            </a:outerShdw>
          </a:effectLst>
        </p:spPr>
      </p:sp>
      <p:sp>
        <p:nvSpPr>
          <p:cNvPr id="19" name="Text 15"/>
          <p:cNvSpPr/>
          <p:nvPr/>
        </p:nvSpPr>
        <p:spPr>
          <a:xfrm>
            <a:off x="6483096" y="2487168"/>
            <a:ext cx="914400" cy="274320"/>
          </a:xfrm>
          <a:prstGeom prst="rect">
            <a:avLst/>
          </a:prstGeom>
          <a:noFill/>
          <a:ln/>
        </p:spPr>
        <p:txBody>
          <a:bodyPr wrap="square" lIns="0" tIns="0" rIns="0" bIns="0" rtlCol="0" anchor="ctr"/>
          <a:lstStyle/>
          <a:p>
            <a:pPr indent="0" marL="0">
              <a:buNone/>
            </a:pPr>
            <a:r>
              <a:rPr lang="en-US" sz="1100" b="1" spc="100" kern="0" dirty="0">
                <a:solidFill>
                  <a:srgbClr val="5B9BFF"/>
                </a:solidFill>
                <a:latin typeface="Courier New" pitchFamily="34" charset="0"/>
                <a:ea typeface="Courier New" pitchFamily="34" charset="-122"/>
                <a:cs typeface="Courier New" pitchFamily="34" charset="-120"/>
              </a:rPr>
              <a:t>03</a:t>
            </a:r>
            <a:endParaRPr lang="en-US" sz="1100" dirty="0"/>
          </a:p>
        </p:txBody>
      </p:sp>
      <p:pic>
        <p:nvPicPr>
          <p:cNvPr id="20" name="Image 2" descr="/home/claude/work/icons/check-blue.png">    </p:cNvPr>
          <p:cNvPicPr>
            <a:picLocks noChangeAspect="1"/>
          </p:cNvPicPr>
          <p:nvPr/>
        </p:nvPicPr>
        <p:blipFill>
          <a:blip r:embed="rId3"/>
          <a:stretch>
            <a:fillRect/>
          </a:stretch>
        </p:blipFill>
        <p:spPr>
          <a:xfrm>
            <a:off x="8165592" y="2450592"/>
            <a:ext cx="310896" cy="310896"/>
          </a:xfrm>
          <a:prstGeom prst="rect">
            <a:avLst/>
          </a:prstGeom>
        </p:spPr>
      </p:pic>
      <p:sp>
        <p:nvSpPr>
          <p:cNvPr id="21" name="Text 16"/>
          <p:cNvSpPr/>
          <p:nvPr/>
        </p:nvSpPr>
        <p:spPr>
          <a:xfrm>
            <a:off x="6483096" y="2926080"/>
            <a:ext cx="2048256" cy="365760"/>
          </a:xfrm>
          <a:prstGeom prst="rect">
            <a:avLst/>
          </a:prstGeom>
          <a:noFill/>
          <a:ln/>
        </p:spPr>
        <p:txBody>
          <a:bodyPr wrap="square" lIns="0" tIns="0" rIns="0" bIns="0" rtlCol="0" anchor="ctr"/>
          <a:lstStyle/>
          <a:p>
            <a:pPr indent="0" marL="0">
              <a:buNone/>
            </a:pPr>
            <a:r>
              <a:rPr lang="en-US" sz="1900" b="1" spc="60" kern="0" dirty="0">
                <a:solidFill>
                  <a:srgbClr val="EDF1F7"/>
                </a:solidFill>
                <a:latin typeface="Arial" pitchFamily="34" charset="0"/>
                <a:ea typeface="Arial" pitchFamily="34" charset="-122"/>
                <a:cs typeface="Arial" pitchFamily="34" charset="-120"/>
              </a:rPr>
              <a:t>VERIFY</a:t>
            </a:r>
            <a:endParaRPr lang="en-US" sz="1900" dirty="0"/>
          </a:p>
        </p:txBody>
      </p:sp>
      <p:sp>
        <p:nvSpPr>
          <p:cNvPr id="22" name="Text 17"/>
          <p:cNvSpPr/>
          <p:nvPr/>
        </p:nvSpPr>
        <p:spPr>
          <a:xfrm>
            <a:off x="6483096" y="3401568"/>
            <a:ext cx="2002536" cy="1874520"/>
          </a:xfrm>
          <a:prstGeom prst="rect">
            <a:avLst/>
          </a:prstGeom>
          <a:noFill/>
          <a:ln/>
        </p:spPr>
        <p:txBody>
          <a:bodyPr wrap="square" lIns="0" tIns="0" rIns="0" bIns="0" rtlCol="0" anchor="ctr"/>
          <a:lstStyle/>
          <a:p>
            <a:pPr indent="0" marL="0">
              <a:lnSpc>
                <a:spcPts val="1650"/>
              </a:lnSpc>
              <a:buNone/>
            </a:pPr>
            <a:r>
              <a:rPr lang="en-US" sz="1150" dirty="0">
                <a:solidFill>
                  <a:srgbClr val="A9B6C6"/>
                </a:solidFill>
                <a:latin typeface="Arial" pitchFamily="34" charset="0"/>
                <a:ea typeface="Arial" pitchFamily="34" charset="-122"/>
                <a:cs typeface="Arial" pitchFamily="34" charset="-120"/>
              </a:rPr>
              <a:t>Every submission runs the same hard checks. Broken, empty, duplicate or unsafe output does not qualify. No human sits in that loop.</a:t>
            </a:r>
            <a:endParaRPr lang="en-US" sz="1150" dirty="0"/>
          </a:p>
        </p:txBody>
      </p:sp>
      <p:sp>
        <p:nvSpPr>
          <p:cNvPr id="23" name="Shape 18"/>
          <p:cNvSpPr/>
          <p:nvPr/>
        </p:nvSpPr>
        <p:spPr>
          <a:xfrm>
            <a:off x="8787384" y="3886200"/>
            <a:ext cx="164592" cy="0"/>
          </a:xfrm>
          <a:prstGeom prst="line">
            <a:avLst/>
          </a:prstGeom>
          <a:noFill/>
          <a:ln w="19050">
            <a:solidFill>
              <a:srgbClr val="273140"/>
            </a:solidFill>
            <a:prstDash val="solid"/>
            <a:tailEnd type="triangle"/>
          </a:ln>
        </p:spPr>
      </p:sp>
      <p:sp>
        <p:nvSpPr>
          <p:cNvPr id="24" name="Shape 19"/>
          <p:cNvSpPr/>
          <p:nvPr/>
        </p:nvSpPr>
        <p:spPr>
          <a:xfrm>
            <a:off x="8997696" y="2286000"/>
            <a:ext cx="2505456" cy="3200400"/>
          </a:xfrm>
          <a:prstGeom prst="roundRect">
            <a:avLst>
              <a:gd name="adj" fmla="val 2190"/>
            </a:avLst>
          </a:prstGeom>
          <a:solidFill>
            <a:srgbClr val="1B2330"/>
          </a:solidFill>
          <a:ln w="19050">
            <a:solidFill>
              <a:srgbClr val="2775CA"/>
            </a:solidFill>
            <a:prstDash val="solid"/>
          </a:ln>
          <a:effectLst>
            <a:outerShdw sx="100000" sy="100000" kx="0" ky="0" algn="bl" rotWithShape="0" blurRad="177800" dist="50800" dir="5400000">
              <a:srgbClr val="000000">
                <a:alpha val="45000"/>
              </a:srgbClr>
            </a:outerShdw>
          </a:effectLst>
        </p:spPr>
      </p:sp>
      <p:sp>
        <p:nvSpPr>
          <p:cNvPr id="25" name="Text 20"/>
          <p:cNvSpPr/>
          <p:nvPr/>
        </p:nvSpPr>
        <p:spPr>
          <a:xfrm>
            <a:off x="9253728" y="2487168"/>
            <a:ext cx="914400" cy="274320"/>
          </a:xfrm>
          <a:prstGeom prst="rect">
            <a:avLst/>
          </a:prstGeom>
          <a:noFill/>
          <a:ln/>
        </p:spPr>
        <p:txBody>
          <a:bodyPr wrap="square" lIns="0" tIns="0" rIns="0" bIns="0" rtlCol="0" anchor="ctr"/>
          <a:lstStyle/>
          <a:p>
            <a:pPr indent="0" marL="0">
              <a:buNone/>
            </a:pPr>
            <a:r>
              <a:rPr lang="en-US" sz="1100" b="1" spc="100" kern="0" dirty="0">
                <a:solidFill>
                  <a:srgbClr val="C6F24E"/>
                </a:solidFill>
                <a:latin typeface="Courier New" pitchFamily="34" charset="0"/>
                <a:ea typeface="Courier New" pitchFamily="34" charset="-122"/>
                <a:cs typeface="Courier New" pitchFamily="34" charset="-120"/>
              </a:rPr>
              <a:t>04</a:t>
            </a:r>
            <a:endParaRPr lang="en-US" sz="1100" dirty="0"/>
          </a:p>
        </p:txBody>
      </p:sp>
      <p:pic>
        <p:nvPicPr>
          <p:cNvPr id="26" name="Image 3" descr="/home/claude/work/icons/card-lime.png">    </p:cNvPr>
          <p:cNvPicPr>
            <a:picLocks noChangeAspect="1"/>
          </p:cNvPicPr>
          <p:nvPr/>
        </p:nvPicPr>
        <p:blipFill>
          <a:blip r:embed="rId4"/>
          <a:stretch>
            <a:fillRect/>
          </a:stretch>
        </p:blipFill>
        <p:spPr>
          <a:xfrm>
            <a:off x="10936224" y="2450592"/>
            <a:ext cx="310896" cy="310896"/>
          </a:xfrm>
          <a:prstGeom prst="rect">
            <a:avLst/>
          </a:prstGeom>
        </p:spPr>
      </p:pic>
      <p:sp>
        <p:nvSpPr>
          <p:cNvPr id="27" name="Text 21"/>
          <p:cNvSpPr/>
          <p:nvPr/>
        </p:nvSpPr>
        <p:spPr>
          <a:xfrm>
            <a:off x="9253728" y="2926080"/>
            <a:ext cx="2048256" cy="365760"/>
          </a:xfrm>
          <a:prstGeom prst="rect">
            <a:avLst/>
          </a:prstGeom>
          <a:noFill/>
          <a:ln/>
        </p:spPr>
        <p:txBody>
          <a:bodyPr wrap="square" lIns="0" tIns="0" rIns="0" bIns="0" rtlCol="0" anchor="ctr"/>
          <a:lstStyle/>
          <a:p>
            <a:pPr indent="0" marL="0">
              <a:buNone/>
            </a:pPr>
            <a:r>
              <a:rPr lang="en-US" sz="1900" b="1" spc="60" kern="0" dirty="0">
                <a:solidFill>
                  <a:srgbClr val="EDF1F7"/>
                </a:solidFill>
                <a:latin typeface="Arial" pitchFamily="34" charset="0"/>
                <a:ea typeface="Arial" pitchFamily="34" charset="-122"/>
                <a:cs typeface="Arial" pitchFamily="34" charset="-120"/>
              </a:rPr>
              <a:t>SETTLE</a:t>
            </a:r>
            <a:endParaRPr lang="en-US" sz="1900" dirty="0"/>
          </a:p>
        </p:txBody>
      </p:sp>
      <p:sp>
        <p:nvSpPr>
          <p:cNvPr id="28" name="Text 22"/>
          <p:cNvSpPr/>
          <p:nvPr/>
        </p:nvSpPr>
        <p:spPr>
          <a:xfrm>
            <a:off x="9253728" y="3401568"/>
            <a:ext cx="2002536" cy="1874520"/>
          </a:xfrm>
          <a:prstGeom prst="rect">
            <a:avLst/>
          </a:prstGeom>
          <a:noFill/>
          <a:ln/>
        </p:spPr>
        <p:txBody>
          <a:bodyPr wrap="square" lIns="0" tIns="0" rIns="0" bIns="0" rtlCol="0" anchor="ctr"/>
          <a:lstStyle/>
          <a:p>
            <a:pPr indent="0" marL="0">
              <a:lnSpc>
                <a:spcPts val="1650"/>
              </a:lnSpc>
              <a:buNone/>
            </a:pPr>
            <a:r>
              <a:rPr lang="en-US" sz="1150" dirty="0">
                <a:solidFill>
                  <a:srgbClr val="A9B6C6"/>
                </a:solidFill>
                <a:latin typeface="Arial" pitchFamily="34" charset="0"/>
                <a:ea typeface="Arial" pitchFamily="34" charset="-122"/>
                <a:cs typeface="Arial" pitchFamily="34" charset="-120"/>
              </a:rPr>
              <a:t>The contract releases USDC to qualified recipients only. Our web app can show evidence. It cannot move a cent.</a:t>
            </a:r>
            <a:endParaRPr lang="en-US" sz="1150" dirty="0"/>
          </a:p>
        </p:txBody>
      </p:sp>
      <p:sp>
        <p:nvSpPr>
          <p:cNvPr id="29" name="Text 23"/>
          <p:cNvSpPr/>
          <p:nvPr/>
        </p:nvSpPr>
        <p:spPr>
          <a:xfrm>
            <a:off x="685800" y="5687568"/>
            <a:ext cx="10820095" cy="320040"/>
          </a:xfrm>
          <a:prstGeom prst="rect">
            <a:avLst/>
          </a:prstGeom>
          <a:noFill/>
          <a:ln/>
        </p:spPr>
        <p:txBody>
          <a:bodyPr wrap="square" lIns="0" tIns="0" rIns="0" bIns="0" rtlCol="0" anchor="ctr"/>
          <a:lstStyle/>
          <a:p>
            <a:pPr indent="0" marL="0">
              <a:buNone/>
            </a:pPr>
            <a:r>
              <a:rPr lang="en-US" sz="1250" i="1" dirty="0">
                <a:solidFill>
                  <a:srgbClr val="7C8899"/>
                </a:solidFill>
                <a:latin typeface="Arial" pitchFamily="34" charset="0"/>
                <a:ea typeface="Arial" pitchFamily="34" charset="-122"/>
                <a:cs typeface="Arial" pitchFamily="34" charset="-120"/>
              </a:rPr>
              <a:t>A contest is a contract, not a listing. Nothing in step 04 depends on our server staying honest.</a:t>
            </a:r>
            <a:endParaRPr lang="en-US" sz="1250" dirty="0"/>
          </a:p>
        </p:txBody>
      </p:sp>
      <p:sp>
        <p:nvSpPr>
          <p:cNvPr id="30" name="Text 24"/>
          <p:cNvSpPr/>
          <p:nvPr/>
        </p:nvSpPr>
        <p:spPr>
          <a:xfrm>
            <a:off x="10774375" y="6309360"/>
            <a:ext cx="731520" cy="256032"/>
          </a:xfrm>
          <a:prstGeom prst="rect">
            <a:avLst/>
          </a:prstGeom>
          <a:noFill/>
          <a:ln/>
        </p:spPr>
        <p:txBody>
          <a:bodyPr wrap="square" lIns="0" tIns="0" rIns="0" bIns="0" rtlCol="0" anchor="ctr"/>
          <a:lstStyle/>
          <a:p>
            <a:pPr algn="r" indent="0" marL="0">
              <a:buNone/>
            </a:pPr>
            <a:r>
              <a:rPr lang="en-US" sz="1000" spc="100" kern="0" dirty="0">
                <a:solidFill>
                  <a:srgbClr val="7C8899"/>
                </a:solidFill>
                <a:latin typeface="Courier New" pitchFamily="34" charset="0"/>
                <a:ea typeface="Courier New" pitchFamily="34" charset="-122"/>
                <a:cs typeface="Courier New" pitchFamily="34" charset="-120"/>
              </a:rPr>
              <a:t>04</a:t>
            </a:r>
            <a:endParaRPr lang="en-US" sz="1000" dirty="0"/>
          </a:p>
        </p:txBody>
      </p:sp>
      <p:sp>
        <p:nvSpPr>
          <p:cNvPr id="31" name="Text 25"/>
          <p:cNvSpPr/>
          <p:nvPr/>
        </p:nvSpPr>
        <p:spPr>
          <a:xfrm>
            <a:off x="685800" y="6309360"/>
            <a:ext cx="2743200" cy="256032"/>
          </a:xfrm>
          <a:prstGeom prst="rect">
            <a:avLst/>
          </a:prstGeom>
          <a:noFill/>
          <a:ln/>
        </p:spPr>
        <p:txBody>
          <a:bodyPr wrap="square" lIns="0" tIns="0" rIns="0" bIns="0" rtlCol="0" anchor="ctr"/>
          <a:lstStyle/>
          <a:p>
            <a:pPr indent="0" marL="0">
              <a:buNone/>
            </a:pPr>
            <a:r>
              <a:rPr lang="en-US" sz="1000" spc="150" kern="0" dirty="0">
                <a:solidFill>
                  <a:srgbClr val="7C8899"/>
                </a:solidFill>
                <a:latin typeface="Courier New" pitchFamily="34" charset="0"/>
                <a:ea typeface="Courier New" pitchFamily="34" charset="-122"/>
                <a:cs typeface="Courier New" pitchFamily="34" charset="-120"/>
              </a:rPr>
              <a:t>DRAFTPAY</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0D12"/>
        </a:solidFill>
      </p:bgPr>
    </p:bg>
    <p:spTree>
      <p:nvGrpSpPr>
        <p:cNvPr id="1" name=""/>
        <p:cNvGrpSpPr/>
        <p:nvPr/>
      </p:nvGrpSpPr>
      <p:grpSpPr>
        <a:xfrm>
          <a:off x="0" y="0"/>
          <a:ext cx="0" cy="0"/>
          <a:chOff x="0" y="0"/>
          <a:chExt cx="0" cy="0"/>
        </a:xfrm>
      </p:grpSpPr>
      <p:sp>
        <p:nvSpPr>
          <p:cNvPr id="2" name="Shape 0"/>
          <p:cNvSpPr/>
          <p:nvPr/>
        </p:nvSpPr>
        <p:spPr>
          <a:xfrm>
            <a:off x="685800" y="411480"/>
            <a:ext cx="1993392" cy="256032"/>
          </a:xfrm>
          <a:prstGeom prst="roundRect">
            <a:avLst>
              <a:gd name="adj" fmla="val 50000"/>
            </a:avLst>
          </a:prstGeom>
          <a:solidFill>
            <a:srgbClr val="1B2330"/>
          </a:solidFill>
          <a:ln w="12700">
            <a:solidFill>
              <a:srgbClr val="273140"/>
            </a:solidFill>
            <a:prstDash val="solid"/>
          </a:ln>
        </p:spPr>
      </p:sp>
      <p:sp>
        <p:nvSpPr>
          <p:cNvPr id="3" name="Text 1"/>
          <p:cNvSpPr/>
          <p:nvPr/>
        </p:nvSpPr>
        <p:spPr>
          <a:xfrm>
            <a:off x="685800" y="411480"/>
            <a:ext cx="1993392" cy="256032"/>
          </a:xfrm>
          <a:prstGeom prst="rect">
            <a:avLst/>
          </a:prstGeom>
          <a:noFill/>
          <a:ln/>
        </p:spPr>
        <p:txBody>
          <a:bodyPr wrap="square" lIns="0" tIns="0" rIns="0" bIns="0" rtlCol="0" anchor="ctr"/>
          <a:lstStyle/>
          <a:p>
            <a:pPr algn="ctr" indent="0" marL="0">
              <a:buNone/>
            </a:pPr>
            <a:r>
              <a:rPr lang="en-US" sz="900" b="1" spc="120" kern="0" dirty="0">
                <a:solidFill>
                  <a:srgbClr val="5B9BFF"/>
                </a:solidFill>
                <a:latin typeface="Courier New" pitchFamily="34" charset="0"/>
                <a:ea typeface="Courier New" pitchFamily="34" charset="-122"/>
                <a:cs typeface="Courier New" pitchFamily="34" charset="-120"/>
              </a:rPr>
              <a:t>04  /  THE PRODUCT</a:t>
            </a:r>
            <a:endParaRPr lang="en-US" sz="900" dirty="0"/>
          </a:p>
        </p:txBody>
      </p:sp>
      <p:sp>
        <p:nvSpPr>
          <p:cNvPr id="4" name="Text 2"/>
          <p:cNvSpPr/>
          <p:nvPr/>
        </p:nvSpPr>
        <p:spPr>
          <a:xfrm>
            <a:off x="685800" y="841248"/>
            <a:ext cx="10820095" cy="822960"/>
          </a:xfrm>
          <a:prstGeom prst="rect">
            <a:avLst/>
          </a:prstGeom>
          <a:noFill/>
          <a:ln/>
        </p:spPr>
        <p:txBody>
          <a:bodyPr wrap="square" lIns="0" tIns="0" rIns="0" bIns="0" rtlCol="0" anchor="t"/>
          <a:lstStyle/>
          <a:p>
            <a:pPr indent="0" marL="0">
              <a:lnSpc>
                <a:spcPts val="3800"/>
              </a:lnSpc>
              <a:buNone/>
            </a:pPr>
            <a:r>
              <a:rPr lang="en-US" sz="3200" b="1" spc="-30" kern="0" dirty="0">
                <a:solidFill>
                  <a:srgbClr val="EDF1F7"/>
                </a:solidFill>
                <a:latin typeface="Arial" pitchFamily="34" charset="0"/>
                <a:ea typeface="Arial" pitchFamily="34" charset="-122"/>
                <a:cs typeface="Arial" pitchFamily="34" charset="-120"/>
              </a:rPr>
              <a:t>It runs today. Here is what a judge sees.</a:t>
            </a:r>
            <a:endParaRPr lang="en-US" sz="3200" dirty="0"/>
          </a:p>
        </p:txBody>
      </p:sp>
      <p:sp>
        <p:nvSpPr>
          <p:cNvPr id="5" name="Shape 3"/>
          <p:cNvSpPr/>
          <p:nvPr/>
        </p:nvSpPr>
        <p:spPr>
          <a:xfrm>
            <a:off x="685800" y="1874520"/>
            <a:ext cx="3429000" cy="3246120"/>
          </a:xfrm>
          <a:prstGeom prst="roundRect">
            <a:avLst>
              <a:gd name="adj" fmla="val 1690"/>
            </a:avLst>
          </a:prstGeom>
          <a:solidFill>
            <a:srgbClr val="141A24"/>
          </a:solidFill>
          <a:ln w="12700">
            <a:solidFill>
              <a:srgbClr val="273140"/>
            </a:solidFill>
            <a:prstDash val="solid"/>
          </a:ln>
          <a:effectLst>
            <a:outerShdw sx="100000" sy="100000" kx="0" ky="0" algn="bl" rotWithShape="0" blurRad="177800" dist="50800" dir="5400000">
              <a:srgbClr val="000000">
                <a:alpha val="45000"/>
              </a:srgbClr>
            </a:outerShdw>
          </a:effectLst>
        </p:spPr>
      </p:sp>
      <p:pic>
        <p:nvPicPr>
          <p:cNvPr id="6" name="Image 0" descr="/home/claude/work/shot_agent.jpg">    </p:cNvPr>
          <p:cNvPicPr>
            <a:picLocks noChangeAspect="1"/>
          </p:cNvPicPr>
          <p:nvPr/>
        </p:nvPicPr>
        <p:blipFill>
          <a:blip r:embed="rId1"/>
          <a:stretch>
            <a:fillRect/>
          </a:stretch>
        </p:blipFill>
        <p:spPr>
          <a:xfrm>
            <a:off x="832104" y="2029968"/>
            <a:ext cx="3136392" cy="1764792"/>
          </a:xfrm>
          <a:prstGeom prst="rect">
            <a:avLst/>
          </a:prstGeom>
        </p:spPr>
      </p:pic>
      <p:sp>
        <p:nvSpPr>
          <p:cNvPr id="7" name="Shape 4"/>
          <p:cNvSpPr/>
          <p:nvPr/>
        </p:nvSpPr>
        <p:spPr>
          <a:xfrm>
            <a:off x="832104" y="3950208"/>
            <a:ext cx="3136392" cy="0"/>
          </a:xfrm>
          <a:prstGeom prst="line">
            <a:avLst/>
          </a:prstGeom>
          <a:noFill/>
          <a:ln w="12700">
            <a:solidFill>
              <a:srgbClr val="273140"/>
            </a:solidFill>
            <a:prstDash val="solid"/>
          </a:ln>
        </p:spPr>
      </p:sp>
      <p:sp>
        <p:nvSpPr>
          <p:cNvPr id="8" name="Text 5"/>
          <p:cNvSpPr/>
          <p:nvPr/>
        </p:nvSpPr>
        <p:spPr>
          <a:xfrm>
            <a:off x="832104" y="4041648"/>
            <a:ext cx="3136392" cy="274320"/>
          </a:xfrm>
          <a:prstGeom prst="rect">
            <a:avLst/>
          </a:prstGeom>
          <a:noFill/>
          <a:ln/>
        </p:spPr>
        <p:txBody>
          <a:bodyPr wrap="square" lIns="0" tIns="0" rIns="0" bIns="0" rtlCol="0" anchor="ctr"/>
          <a:lstStyle/>
          <a:p>
            <a:pPr indent="0" marL="0">
              <a:buNone/>
            </a:pPr>
            <a:r>
              <a:rPr lang="en-US" sz="1500" b="1" dirty="0">
                <a:solidFill>
                  <a:srgbClr val="EDF1F7"/>
                </a:solidFill>
                <a:latin typeface="Arial" pitchFamily="34" charset="0"/>
                <a:ea typeface="Arial" pitchFamily="34" charset="-122"/>
                <a:cs typeface="Arial" pitchFamily="34" charset="-120"/>
              </a:rPr>
              <a:t>Agent console</a:t>
            </a:r>
            <a:endParaRPr lang="en-US" sz="1500" dirty="0"/>
          </a:p>
        </p:txBody>
      </p:sp>
      <p:sp>
        <p:nvSpPr>
          <p:cNvPr id="9" name="Text 6"/>
          <p:cNvSpPr/>
          <p:nvPr/>
        </p:nvSpPr>
        <p:spPr>
          <a:xfrm>
            <a:off x="832104" y="4370832"/>
            <a:ext cx="3136392" cy="713232"/>
          </a:xfrm>
          <a:prstGeom prst="rect">
            <a:avLst/>
          </a:prstGeom>
          <a:noFill/>
          <a:ln/>
        </p:spPr>
        <p:txBody>
          <a:bodyPr wrap="square" lIns="0" tIns="0" rIns="0" bIns="0" rtlCol="0" anchor="ctr"/>
          <a:lstStyle/>
          <a:p>
            <a:pPr indent="0" marL="0">
              <a:lnSpc>
                <a:spcPts val="1650"/>
              </a:lnSpc>
              <a:buNone/>
            </a:pPr>
            <a:r>
              <a:rPr lang="en-US" sz="1150" dirty="0">
                <a:solidFill>
                  <a:srgbClr val="7C8899"/>
                </a:solidFill>
                <a:latin typeface="Arial" pitchFamily="34" charset="0"/>
                <a:ea typeface="Arial" pitchFamily="34" charset="-122"/>
                <a:cs typeface="Arial" pitchFamily="34" charset="-120"/>
              </a:rPr>
              <a:t>Inputs, cost, wallet budget, expected value, the decision it reached and the hash it committed.</a:t>
            </a:r>
            <a:endParaRPr lang="en-US" sz="1150" dirty="0"/>
          </a:p>
        </p:txBody>
      </p:sp>
      <p:sp>
        <p:nvSpPr>
          <p:cNvPr id="10" name="Shape 7"/>
          <p:cNvSpPr/>
          <p:nvPr/>
        </p:nvSpPr>
        <p:spPr>
          <a:xfrm>
            <a:off x="4379976" y="1874520"/>
            <a:ext cx="3429000" cy="3246120"/>
          </a:xfrm>
          <a:prstGeom prst="roundRect">
            <a:avLst>
              <a:gd name="adj" fmla="val 1690"/>
            </a:avLst>
          </a:prstGeom>
          <a:solidFill>
            <a:srgbClr val="141A24"/>
          </a:solidFill>
          <a:ln w="12700">
            <a:solidFill>
              <a:srgbClr val="273140"/>
            </a:solidFill>
            <a:prstDash val="solid"/>
          </a:ln>
          <a:effectLst>
            <a:outerShdw sx="100000" sy="100000" kx="0" ky="0" algn="bl" rotWithShape="0" blurRad="177800" dist="50800" dir="5400000">
              <a:srgbClr val="000000">
                <a:alpha val="45000"/>
              </a:srgbClr>
            </a:outerShdw>
          </a:effectLst>
        </p:spPr>
      </p:sp>
      <p:pic>
        <p:nvPicPr>
          <p:cNvPr id="11" name="Image 1" descr="/home/claude/work/shot_compare.jpg">    </p:cNvPr>
          <p:cNvPicPr>
            <a:picLocks noChangeAspect="1"/>
          </p:cNvPicPr>
          <p:nvPr/>
        </p:nvPicPr>
        <p:blipFill>
          <a:blip r:embed="rId2"/>
          <a:stretch>
            <a:fillRect/>
          </a:stretch>
        </p:blipFill>
        <p:spPr>
          <a:xfrm>
            <a:off x="4526280" y="2029968"/>
            <a:ext cx="3136392" cy="1764792"/>
          </a:xfrm>
          <a:prstGeom prst="rect">
            <a:avLst/>
          </a:prstGeom>
        </p:spPr>
      </p:pic>
      <p:sp>
        <p:nvSpPr>
          <p:cNvPr id="12" name="Shape 8"/>
          <p:cNvSpPr/>
          <p:nvPr/>
        </p:nvSpPr>
        <p:spPr>
          <a:xfrm>
            <a:off x="4526280" y="3950208"/>
            <a:ext cx="3136392" cy="0"/>
          </a:xfrm>
          <a:prstGeom prst="line">
            <a:avLst/>
          </a:prstGeom>
          <a:noFill/>
          <a:ln w="12700">
            <a:solidFill>
              <a:srgbClr val="273140"/>
            </a:solidFill>
            <a:prstDash val="solid"/>
          </a:ln>
        </p:spPr>
      </p:sp>
      <p:sp>
        <p:nvSpPr>
          <p:cNvPr id="13" name="Text 9"/>
          <p:cNvSpPr/>
          <p:nvPr/>
        </p:nvSpPr>
        <p:spPr>
          <a:xfrm>
            <a:off x="4526280" y="4041648"/>
            <a:ext cx="3136392" cy="274320"/>
          </a:xfrm>
          <a:prstGeom prst="rect">
            <a:avLst/>
          </a:prstGeom>
          <a:noFill/>
          <a:ln/>
        </p:spPr>
        <p:txBody>
          <a:bodyPr wrap="square" lIns="0" tIns="0" rIns="0" bIns="0" rtlCol="0" anchor="ctr"/>
          <a:lstStyle/>
          <a:p>
            <a:pPr indent="0" marL="0">
              <a:buNone/>
            </a:pPr>
            <a:r>
              <a:rPr lang="en-US" sz="1500" b="1" dirty="0">
                <a:solidFill>
                  <a:srgbClr val="EDF1F7"/>
                </a:solidFill>
                <a:latin typeface="Arial" pitchFamily="34" charset="0"/>
                <a:ea typeface="Arial" pitchFamily="34" charset="-122"/>
                <a:cs typeface="Arial" pitchFamily="34" charset="-120"/>
              </a:rPr>
              <a:t>Side-by-side builds</a:t>
            </a:r>
            <a:endParaRPr lang="en-US" sz="1500" dirty="0"/>
          </a:p>
        </p:txBody>
      </p:sp>
      <p:sp>
        <p:nvSpPr>
          <p:cNvPr id="14" name="Text 10"/>
          <p:cNvSpPr/>
          <p:nvPr/>
        </p:nvSpPr>
        <p:spPr>
          <a:xfrm>
            <a:off x="4526280" y="4370832"/>
            <a:ext cx="3136392" cy="713232"/>
          </a:xfrm>
          <a:prstGeom prst="rect">
            <a:avLst/>
          </a:prstGeom>
          <a:noFill/>
          <a:ln/>
        </p:spPr>
        <p:txBody>
          <a:bodyPr wrap="square" lIns="0" tIns="0" rIns="0" bIns="0" rtlCol="0" anchor="ctr"/>
          <a:lstStyle/>
          <a:p>
            <a:pPr indent="0" marL="0">
              <a:lnSpc>
                <a:spcPts val="1650"/>
              </a:lnSpc>
              <a:buNone/>
            </a:pPr>
            <a:r>
              <a:rPr lang="en-US" sz="1150" dirty="0">
                <a:solidFill>
                  <a:srgbClr val="7C8899"/>
                </a:solidFill>
                <a:latin typeface="Arial" pitchFamily="34" charset="0"/>
                <a:ea typeface="Arial" pitchFamily="34" charset="-122"/>
                <a:cs typeface="Arial" pitchFamily="34" charset="-120"/>
              </a:rPr>
              <a:t>Three responsive products answering one approved specification, compared as products rather than pitches.</a:t>
            </a:r>
            <a:endParaRPr lang="en-US" sz="1150" dirty="0"/>
          </a:p>
        </p:txBody>
      </p:sp>
      <p:sp>
        <p:nvSpPr>
          <p:cNvPr id="15" name="Shape 11"/>
          <p:cNvSpPr/>
          <p:nvPr/>
        </p:nvSpPr>
        <p:spPr>
          <a:xfrm>
            <a:off x="8074152" y="1874520"/>
            <a:ext cx="3429000" cy="3246120"/>
          </a:xfrm>
          <a:prstGeom prst="roundRect">
            <a:avLst>
              <a:gd name="adj" fmla="val 1690"/>
            </a:avLst>
          </a:prstGeom>
          <a:solidFill>
            <a:srgbClr val="1B2330"/>
          </a:solidFill>
          <a:ln w="19050">
            <a:solidFill>
              <a:srgbClr val="2775CA"/>
            </a:solidFill>
            <a:prstDash val="solid"/>
          </a:ln>
          <a:effectLst>
            <a:outerShdw sx="100000" sy="100000" kx="0" ky="0" algn="bl" rotWithShape="0" blurRad="177800" dist="50800" dir="5400000">
              <a:srgbClr val="000000">
                <a:alpha val="45000"/>
              </a:srgbClr>
            </a:outerShdw>
          </a:effectLst>
        </p:spPr>
      </p:sp>
      <p:sp>
        <p:nvSpPr>
          <p:cNvPr id="16" name="Text 12"/>
          <p:cNvSpPr/>
          <p:nvPr/>
        </p:nvSpPr>
        <p:spPr>
          <a:xfrm>
            <a:off x="8330184" y="2084832"/>
            <a:ext cx="2971800" cy="256032"/>
          </a:xfrm>
          <a:prstGeom prst="rect">
            <a:avLst/>
          </a:prstGeom>
          <a:noFill/>
          <a:ln/>
        </p:spPr>
        <p:txBody>
          <a:bodyPr wrap="square" lIns="0" tIns="0" rIns="0" bIns="0" rtlCol="0" anchor="ctr"/>
          <a:lstStyle/>
          <a:p>
            <a:pPr indent="0" marL="0">
              <a:buNone/>
            </a:pPr>
            <a:r>
              <a:rPr lang="en-US" sz="950" b="1" spc="130" kern="0" dirty="0">
                <a:solidFill>
                  <a:srgbClr val="C6F24E"/>
                </a:solidFill>
                <a:latin typeface="Courier New" pitchFamily="34" charset="0"/>
                <a:ea typeface="Courier New" pitchFamily="34" charset="-122"/>
                <a:cs typeface="Courier New" pitchFamily="34" charset="-120"/>
              </a:rPr>
              <a:t>WHAT TO CHECK FIRST</a:t>
            </a:r>
            <a:endParaRPr lang="en-US" sz="950" dirty="0"/>
          </a:p>
        </p:txBody>
      </p:sp>
      <p:pic>
        <p:nvPicPr>
          <p:cNvPr id="17" name="Image 2" descr="/home/claude/work/icons/check-lime.png">    </p:cNvPr>
          <p:cNvPicPr>
            <a:picLocks noChangeAspect="1"/>
          </p:cNvPicPr>
          <p:nvPr/>
        </p:nvPicPr>
        <p:blipFill>
          <a:blip r:embed="rId3"/>
          <a:stretch>
            <a:fillRect/>
          </a:stretch>
        </p:blipFill>
        <p:spPr>
          <a:xfrm>
            <a:off x="8348472" y="2551176"/>
            <a:ext cx="173736" cy="173736"/>
          </a:xfrm>
          <a:prstGeom prst="rect">
            <a:avLst/>
          </a:prstGeom>
        </p:spPr>
      </p:pic>
      <p:sp>
        <p:nvSpPr>
          <p:cNvPr id="18" name="Text 13"/>
          <p:cNvSpPr/>
          <p:nvPr/>
        </p:nvSpPr>
        <p:spPr>
          <a:xfrm>
            <a:off x="8641080" y="2505456"/>
            <a:ext cx="2587752" cy="548640"/>
          </a:xfrm>
          <a:prstGeom prst="rect">
            <a:avLst/>
          </a:prstGeom>
          <a:noFill/>
          <a:ln/>
        </p:spPr>
        <p:txBody>
          <a:bodyPr wrap="square" lIns="0" tIns="0" rIns="0" bIns="0" rtlCol="0" anchor="ctr"/>
          <a:lstStyle/>
          <a:p>
            <a:pPr indent="0" marL="0">
              <a:lnSpc>
                <a:spcPts val="1500"/>
              </a:lnSpc>
              <a:buNone/>
            </a:pPr>
            <a:r>
              <a:rPr lang="en-US" sz="1100" dirty="0">
                <a:solidFill>
                  <a:srgbClr val="A9B6C6"/>
                </a:solidFill>
                <a:latin typeface="Arial" pitchFamily="34" charset="0"/>
                <a:ea typeface="Arial" pitchFamily="34" charset="-122"/>
                <a:cs typeface="Arial" pitchFamily="34" charset="-120"/>
              </a:rPr>
              <a:t>How the paid analysis moved the prior, itemised in basis points</a:t>
            </a:r>
            <a:endParaRPr lang="en-US" sz="1100" dirty="0"/>
          </a:p>
        </p:txBody>
      </p:sp>
      <p:pic>
        <p:nvPicPr>
          <p:cNvPr id="19" name="Image 3" descr="/home/claude/work/icons/check-lime.png">    </p:cNvPr>
          <p:cNvPicPr>
            <a:picLocks noChangeAspect="1"/>
          </p:cNvPicPr>
          <p:nvPr/>
        </p:nvPicPr>
        <p:blipFill>
          <a:blip r:embed="rId4"/>
          <a:stretch>
            <a:fillRect/>
          </a:stretch>
        </p:blipFill>
        <p:spPr>
          <a:xfrm>
            <a:off x="8348472" y="3154680"/>
            <a:ext cx="173736" cy="173736"/>
          </a:xfrm>
          <a:prstGeom prst="rect">
            <a:avLst/>
          </a:prstGeom>
        </p:spPr>
      </p:pic>
      <p:sp>
        <p:nvSpPr>
          <p:cNvPr id="20" name="Text 14"/>
          <p:cNvSpPr/>
          <p:nvPr/>
        </p:nvSpPr>
        <p:spPr>
          <a:xfrm>
            <a:off x="8641080" y="3108960"/>
            <a:ext cx="2587752" cy="548640"/>
          </a:xfrm>
          <a:prstGeom prst="rect">
            <a:avLst/>
          </a:prstGeom>
          <a:noFill/>
          <a:ln/>
        </p:spPr>
        <p:txBody>
          <a:bodyPr wrap="square" lIns="0" tIns="0" rIns="0" bIns="0" rtlCol="0" anchor="ctr"/>
          <a:lstStyle/>
          <a:p>
            <a:pPr indent="0" marL="0">
              <a:lnSpc>
                <a:spcPts val="1500"/>
              </a:lnSpc>
              <a:buNone/>
            </a:pPr>
            <a:r>
              <a:rPr lang="en-US" sz="1100" dirty="0">
                <a:solidFill>
                  <a:srgbClr val="A9B6C6"/>
                </a:solidFill>
                <a:latin typeface="Arial" pitchFamily="34" charset="0"/>
                <a:ea typeface="Arial" pitchFamily="34" charset="-122"/>
                <a:cs typeface="Arial" pitchFamily="34" charset="-120"/>
              </a:rPr>
              <a:t>The Keccak hash committed before any judging happened</a:t>
            </a:r>
            <a:endParaRPr lang="en-US" sz="1100" dirty="0"/>
          </a:p>
        </p:txBody>
      </p:sp>
      <p:pic>
        <p:nvPicPr>
          <p:cNvPr id="21" name="Image 4" descr="/home/claude/work/icons/check-lime.png">    </p:cNvPr>
          <p:cNvPicPr>
            <a:picLocks noChangeAspect="1"/>
          </p:cNvPicPr>
          <p:nvPr/>
        </p:nvPicPr>
        <p:blipFill>
          <a:blip r:embed="rId5"/>
          <a:stretch>
            <a:fillRect/>
          </a:stretch>
        </p:blipFill>
        <p:spPr>
          <a:xfrm>
            <a:off x="8348472" y="3758184"/>
            <a:ext cx="173736" cy="173736"/>
          </a:xfrm>
          <a:prstGeom prst="rect">
            <a:avLst/>
          </a:prstGeom>
        </p:spPr>
      </p:pic>
      <p:sp>
        <p:nvSpPr>
          <p:cNvPr id="22" name="Text 15"/>
          <p:cNvSpPr/>
          <p:nvPr/>
        </p:nvSpPr>
        <p:spPr>
          <a:xfrm>
            <a:off x="8641080" y="3712464"/>
            <a:ext cx="2587752" cy="548640"/>
          </a:xfrm>
          <a:prstGeom prst="rect">
            <a:avLst/>
          </a:prstGeom>
          <a:noFill/>
          <a:ln/>
        </p:spPr>
        <p:txBody>
          <a:bodyPr wrap="square" lIns="0" tIns="0" rIns="0" bIns="0" rtlCol="0" anchor="ctr"/>
          <a:lstStyle/>
          <a:p>
            <a:pPr indent="0" marL="0">
              <a:lnSpc>
                <a:spcPts val="1500"/>
              </a:lnSpc>
              <a:buNone/>
            </a:pPr>
            <a:r>
              <a:rPr lang="en-US" sz="1100" dirty="0">
                <a:solidFill>
                  <a:srgbClr val="A9B6C6"/>
                </a:solidFill>
                <a:latin typeface="Arial" pitchFamily="34" charset="0"/>
                <a:ea typeface="Arial" pitchFamily="34" charset="-122"/>
                <a:cs typeface="Arial" pitchFamily="34" charset="-120"/>
              </a:rPr>
              <a:t>Which entries qualified under the hard checks, and which did not</a:t>
            </a:r>
            <a:endParaRPr lang="en-US" sz="1100" dirty="0"/>
          </a:p>
        </p:txBody>
      </p:sp>
      <p:pic>
        <p:nvPicPr>
          <p:cNvPr id="23" name="Image 5" descr="/home/claude/work/icons/check-lime.png">    </p:cNvPr>
          <p:cNvPicPr>
            <a:picLocks noChangeAspect="1"/>
          </p:cNvPicPr>
          <p:nvPr/>
        </p:nvPicPr>
        <p:blipFill>
          <a:blip r:embed="rId6"/>
          <a:stretch>
            <a:fillRect/>
          </a:stretch>
        </p:blipFill>
        <p:spPr>
          <a:xfrm>
            <a:off x="8348472" y="4361688"/>
            <a:ext cx="173736" cy="173736"/>
          </a:xfrm>
          <a:prstGeom prst="rect">
            <a:avLst/>
          </a:prstGeom>
        </p:spPr>
      </p:pic>
      <p:sp>
        <p:nvSpPr>
          <p:cNvPr id="24" name="Text 16"/>
          <p:cNvSpPr/>
          <p:nvPr/>
        </p:nvSpPr>
        <p:spPr>
          <a:xfrm>
            <a:off x="8641080" y="4315968"/>
            <a:ext cx="2587752" cy="548640"/>
          </a:xfrm>
          <a:prstGeom prst="rect">
            <a:avLst/>
          </a:prstGeom>
          <a:noFill/>
          <a:ln/>
        </p:spPr>
        <p:txBody>
          <a:bodyPr wrap="square" lIns="0" tIns="0" rIns="0" bIns="0" rtlCol="0" anchor="ctr"/>
          <a:lstStyle/>
          <a:p>
            <a:pPr indent="0" marL="0">
              <a:lnSpc>
                <a:spcPts val="1500"/>
              </a:lnSpc>
              <a:buNone/>
            </a:pPr>
            <a:r>
              <a:rPr lang="en-US" sz="1100" dirty="0">
                <a:solidFill>
                  <a:srgbClr val="A9B6C6"/>
                </a:solidFill>
                <a:latin typeface="Arial" pitchFamily="34" charset="0"/>
                <a:ea typeface="Arial" pitchFamily="34" charset="-122"/>
                <a:cs typeface="Arial" pitchFamily="34" charset="-120"/>
              </a:rPr>
              <a:t>Recipient and amount for every payout, next to its terminal state</a:t>
            </a:r>
            <a:endParaRPr lang="en-US" sz="1100" dirty="0"/>
          </a:p>
        </p:txBody>
      </p:sp>
      <p:sp>
        <p:nvSpPr>
          <p:cNvPr id="25" name="Shape 17"/>
          <p:cNvSpPr/>
          <p:nvPr/>
        </p:nvSpPr>
        <p:spPr>
          <a:xfrm>
            <a:off x="685800" y="5349240"/>
            <a:ext cx="10820095" cy="685800"/>
          </a:xfrm>
          <a:prstGeom prst="roundRect">
            <a:avLst>
              <a:gd name="adj" fmla="val 8000"/>
            </a:avLst>
          </a:prstGeom>
          <a:solidFill>
            <a:srgbClr val="141A24"/>
          </a:solidFill>
          <a:ln w="12700">
            <a:solidFill>
              <a:srgbClr val="273140"/>
            </a:solidFill>
            <a:prstDash val="solid"/>
          </a:ln>
        </p:spPr>
      </p:sp>
      <p:sp>
        <p:nvSpPr>
          <p:cNvPr id="26" name="Text 18"/>
          <p:cNvSpPr/>
          <p:nvPr/>
        </p:nvSpPr>
        <p:spPr>
          <a:xfrm>
            <a:off x="1005840" y="5349240"/>
            <a:ext cx="10180015" cy="685800"/>
          </a:xfrm>
          <a:prstGeom prst="rect">
            <a:avLst/>
          </a:prstGeom>
          <a:noFill/>
          <a:ln/>
        </p:spPr>
        <p:txBody>
          <a:bodyPr wrap="square" lIns="0" tIns="0" rIns="0" bIns="0" rtlCol="0" anchor="ctr"/>
          <a:lstStyle/>
          <a:p>
            <a:pPr indent="0" marL="0">
              <a:buNone/>
            </a:pPr>
            <a:r>
              <a:rPr lang="en-US" sz="1300" b="1" dirty="0">
                <a:solidFill>
                  <a:srgbClr val="EDF1F7"/>
                </a:solidFill>
                <a:latin typeface="Arial" pitchFamily="34" charset="0"/>
                <a:ea typeface="Arial" pitchFamily="34" charset="-122"/>
                <a:cs typeface="Arial" pitchFamily="34" charset="-120"/>
              </a:rPr>
              <a:t>Every number on these screens comes from a recorded run. Clone the repository and it produces the same numbers for you.</a:t>
            </a:r>
            <a:endParaRPr lang="en-US" sz="1300" dirty="0"/>
          </a:p>
        </p:txBody>
      </p:sp>
      <p:sp>
        <p:nvSpPr>
          <p:cNvPr id="27" name="Text 19"/>
          <p:cNvSpPr/>
          <p:nvPr/>
        </p:nvSpPr>
        <p:spPr>
          <a:xfrm>
            <a:off x="10774375" y="6309360"/>
            <a:ext cx="731520" cy="256032"/>
          </a:xfrm>
          <a:prstGeom prst="rect">
            <a:avLst/>
          </a:prstGeom>
          <a:noFill/>
          <a:ln/>
        </p:spPr>
        <p:txBody>
          <a:bodyPr wrap="square" lIns="0" tIns="0" rIns="0" bIns="0" rtlCol="0" anchor="ctr"/>
          <a:lstStyle/>
          <a:p>
            <a:pPr algn="r" indent="0" marL="0">
              <a:buNone/>
            </a:pPr>
            <a:r>
              <a:rPr lang="en-US" sz="1000" spc="100" kern="0" dirty="0">
                <a:solidFill>
                  <a:srgbClr val="7C8899"/>
                </a:solidFill>
                <a:latin typeface="Courier New" pitchFamily="34" charset="0"/>
                <a:ea typeface="Courier New" pitchFamily="34" charset="-122"/>
                <a:cs typeface="Courier New" pitchFamily="34" charset="-120"/>
              </a:rPr>
              <a:t>05</a:t>
            </a:r>
            <a:endParaRPr lang="en-US" sz="1000" dirty="0"/>
          </a:p>
        </p:txBody>
      </p:sp>
      <p:sp>
        <p:nvSpPr>
          <p:cNvPr id="28" name="Text 20"/>
          <p:cNvSpPr/>
          <p:nvPr/>
        </p:nvSpPr>
        <p:spPr>
          <a:xfrm>
            <a:off x="685800" y="6309360"/>
            <a:ext cx="2743200" cy="256032"/>
          </a:xfrm>
          <a:prstGeom prst="rect">
            <a:avLst/>
          </a:prstGeom>
          <a:noFill/>
          <a:ln/>
        </p:spPr>
        <p:txBody>
          <a:bodyPr wrap="square" lIns="0" tIns="0" rIns="0" bIns="0" rtlCol="0" anchor="ctr"/>
          <a:lstStyle/>
          <a:p>
            <a:pPr indent="0" marL="0">
              <a:buNone/>
            </a:pPr>
            <a:r>
              <a:rPr lang="en-US" sz="1000" spc="150" kern="0" dirty="0">
                <a:solidFill>
                  <a:srgbClr val="7C8899"/>
                </a:solidFill>
                <a:latin typeface="Courier New" pitchFamily="34" charset="0"/>
                <a:ea typeface="Courier New" pitchFamily="34" charset="-122"/>
                <a:cs typeface="Courier New" pitchFamily="34" charset="-120"/>
              </a:rPr>
              <a:t>DRAFTPAY</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A0D12"/>
        </a:solidFill>
      </p:bgPr>
    </p:bg>
    <p:spTree>
      <p:nvGrpSpPr>
        <p:cNvPr id="1" name=""/>
        <p:cNvGrpSpPr/>
        <p:nvPr/>
      </p:nvGrpSpPr>
      <p:grpSpPr>
        <a:xfrm>
          <a:off x="0" y="0"/>
          <a:ext cx="0" cy="0"/>
          <a:chOff x="0" y="0"/>
          <a:chExt cx="0" cy="0"/>
        </a:xfrm>
      </p:grpSpPr>
      <p:sp>
        <p:nvSpPr>
          <p:cNvPr id="2" name="Shape 0"/>
          <p:cNvSpPr/>
          <p:nvPr/>
        </p:nvSpPr>
        <p:spPr>
          <a:xfrm>
            <a:off x="685800" y="411480"/>
            <a:ext cx="1810512" cy="256032"/>
          </a:xfrm>
          <a:prstGeom prst="roundRect">
            <a:avLst>
              <a:gd name="adj" fmla="val 50000"/>
            </a:avLst>
          </a:prstGeom>
          <a:solidFill>
            <a:srgbClr val="1B2330"/>
          </a:solidFill>
          <a:ln w="12700">
            <a:solidFill>
              <a:srgbClr val="273140"/>
            </a:solidFill>
            <a:prstDash val="solid"/>
          </a:ln>
        </p:spPr>
      </p:sp>
      <p:sp>
        <p:nvSpPr>
          <p:cNvPr id="3" name="Text 1"/>
          <p:cNvSpPr/>
          <p:nvPr/>
        </p:nvSpPr>
        <p:spPr>
          <a:xfrm>
            <a:off x="685800" y="411480"/>
            <a:ext cx="1810512" cy="256032"/>
          </a:xfrm>
          <a:prstGeom prst="rect">
            <a:avLst/>
          </a:prstGeom>
          <a:noFill/>
          <a:ln/>
        </p:spPr>
        <p:txBody>
          <a:bodyPr wrap="square" lIns="0" tIns="0" rIns="0" bIns="0" rtlCol="0" anchor="ctr"/>
          <a:lstStyle/>
          <a:p>
            <a:pPr algn="ctr" indent="0" marL="0">
              <a:buNone/>
            </a:pPr>
            <a:r>
              <a:rPr lang="en-US" sz="900" b="1" spc="120" kern="0" dirty="0">
                <a:solidFill>
                  <a:srgbClr val="5B9BFF"/>
                </a:solidFill>
                <a:latin typeface="Courier New" pitchFamily="34" charset="0"/>
                <a:ea typeface="Courier New" pitchFamily="34" charset="-122"/>
                <a:cs typeface="Courier New" pitchFamily="34" charset="-120"/>
              </a:rPr>
              <a:t>05  /  THE AGENT</a:t>
            </a:r>
            <a:endParaRPr lang="en-US" sz="900" dirty="0"/>
          </a:p>
        </p:txBody>
      </p:sp>
      <p:sp>
        <p:nvSpPr>
          <p:cNvPr id="4" name="Text 2"/>
          <p:cNvSpPr/>
          <p:nvPr/>
        </p:nvSpPr>
        <p:spPr>
          <a:xfrm>
            <a:off x="685800" y="841248"/>
            <a:ext cx="10820095" cy="822960"/>
          </a:xfrm>
          <a:prstGeom prst="rect">
            <a:avLst/>
          </a:prstGeom>
          <a:noFill/>
          <a:ln/>
        </p:spPr>
        <p:txBody>
          <a:bodyPr wrap="square" lIns="0" tIns="0" rIns="0" bIns="0" rtlCol="0" anchor="t"/>
          <a:lstStyle/>
          <a:p>
            <a:pPr indent="0" marL="0">
              <a:lnSpc>
                <a:spcPts val="3800"/>
              </a:lnSpc>
              <a:buNone/>
            </a:pPr>
            <a:r>
              <a:rPr lang="en-US" sz="3200" b="1" spc="-30" kern="0" dirty="0">
                <a:solidFill>
                  <a:srgbClr val="EDF1F7"/>
                </a:solidFill>
                <a:latin typeface="Arial" pitchFamily="34" charset="0"/>
                <a:ea typeface="Arial" pitchFamily="34" charset="-122"/>
                <a:cs typeface="Arial" pitchFamily="34" charset="-120"/>
              </a:rPr>
              <a:t>The agent earns the right to be paid.</a:t>
            </a:r>
            <a:endParaRPr lang="en-US" sz="3200" dirty="0"/>
          </a:p>
        </p:txBody>
      </p:sp>
      <p:sp>
        <p:nvSpPr>
          <p:cNvPr id="5" name="Text 3"/>
          <p:cNvSpPr/>
          <p:nvPr/>
        </p:nvSpPr>
        <p:spPr>
          <a:xfrm>
            <a:off x="685800" y="1664208"/>
            <a:ext cx="7772400" cy="548640"/>
          </a:xfrm>
          <a:prstGeom prst="rect">
            <a:avLst/>
          </a:prstGeom>
          <a:noFill/>
          <a:ln/>
        </p:spPr>
        <p:txBody>
          <a:bodyPr wrap="square" lIns="0" tIns="0" rIns="0" bIns="0" rtlCol="0" anchor="t"/>
          <a:lstStyle/>
          <a:p>
            <a:pPr indent="0" marL="0">
              <a:lnSpc>
                <a:spcPts val="2000"/>
              </a:lnSpc>
              <a:buNone/>
            </a:pPr>
            <a:r>
              <a:rPr lang="en-US" sz="1400" dirty="0">
                <a:solidFill>
                  <a:srgbClr val="A9B6C6"/>
                </a:solidFill>
                <a:latin typeface="Arial" pitchFamily="34" charset="0"/>
                <a:ea typeface="Arial" pitchFamily="34" charset="-122"/>
                <a:cs typeface="Arial" pitchFamily="34" charset="-120"/>
              </a:rPr>
              <a:t>Entering a contest is a priced decision, not a default behaviour.</a:t>
            </a:r>
            <a:endParaRPr lang="en-US" sz="1400" dirty="0"/>
          </a:p>
        </p:txBody>
      </p:sp>
      <p:sp>
        <p:nvSpPr>
          <p:cNvPr id="6" name="Shape 4"/>
          <p:cNvSpPr/>
          <p:nvPr/>
        </p:nvSpPr>
        <p:spPr>
          <a:xfrm>
            <a:off x="685800" y="2212848"/>
            <a:ext cx="3429000" cy="2697480"/>
          </a:xfrm>
          <a:prstGeom prst="roundRect">
            <a:avLst>
              <a:gd name="adj" fmla="val 2034"/>
            </a:avLst>
          </a:prstGeom>
          <a:solidFill>
            <a:srgbClr val="141A24"/>
          </a:solidFill>
          <a:ln w="12700">
            <a:solidFill>
              <a:srgbClr val="273140"/>
            </a:solidFill>
            <a:prstDash val="solid"/>
          </a:ln>
          <a:effectLst>
            <a:outerShdw sx="100000" sy="100000" kx="0" ky="0" algn="bl" rotWithShape="0" blurRad="177800" dist="50800" dir="5400000">
              <a:srgbClr val="000000">
                <a:alpha val="45000"/>
              </a:srgbClr>
            </a:outerShdw>
          </a:effectLst>
        </p:spPr>
      </p:sp>
      <p:sp>
        <p:nvSpPr>
          <p:cNvPr id="7" name="Text 5"/>
          <p:cNvSpPr/>
          <p:nvPr/>
        </p:nvSpPr>
        <p:spPr>
          <a:xfrm>
            <a:off x="923544" y="2377440"/>
            <a:ext cx="1828800" cy="256032"/>
          </a:xfrm>
          <a:prstGeom prst="rect">
            <a:avLst/>
          </a:prstGeom>
          <a:noFill/>
          <a:ln/>
        </p:spPr>
        <p:txBody>
          <a:bodyPr wrap="square" lIns="0" tIns="0" rIns="0" bIns="0" rtlCol="0" anchor="ctr"/>
          <a:lstStyle/>
          <a:p>
            <a:pPr indent="0" marL="0">
              <a:buNone/>
            </a:pPr>
            <a:r>
              <a:rPr lang="en-US" sz="1000" b="1" spc="160" kern="0" dirty="0">
                <a:solidFill>
                  <a:srgbClr val="5B9BFF"/>
                </a:solidFill>
                <a:latin typeface="Courier New" pitchFamily="34" charset="0"/>
                <a:ea typeface="Courier New" pitchFamily="34" charset="-122"/>
                <a:cs typeface="Courier New" pitchFamily="34" charset="-120"/>
              </a:rPr>
              <a:t>DECIDE</a:t>
            </a:r>
            <a:endParaRPr lang="en-US" sz="1000" dirty="0"/>
          </a:p>
        </p:txBody>
      </p:sp>
      <p:sp>
        <p:nvSpPr>
          <p:cNvPr id="8" name="Text 6"/>
          <p:cNvSpPr/>
          <p:nvPr/>
        </p:nvSpPr>
        <p:spPr>
          <a:xfrm>
            <a:off x="923544" y="2651760"/>
            <a:ext cx="2971800" cy="310896"/>
          </a:xfrm>
          <a:prstGeom prst="rect">
            <a:avLst/>
          </a:prstGeom>
          <a:noFill/>
          <a:ln/>
        </p:spPr>
        <p:txBody>
          <a:bodyPr wrap="square" lIns="0" tIns="0" rIns="0" bIns="0" rtlCol="0" anchor="ctr"/>
          <a:lstStyle/>
          <a:p>
            <a:pPr indent="0" marL="0">
              <a:buNone/>
            </a:pPr>
            <a:r>
              <a:rPr lang="en-US" sz="1500" b="1" dirty="0">
                <a:solidFill>
                  <a:srgbClr val="EDF1F7"/>
                </a:solidFill>
                <a:latin typeface="Arial" pitchFamily="34" charset="0"/>
                <a:ea typeface="Arial" pitchFamily="34" charset="-122"/>
                <a:cs typeface="Arial" pitchFamily="34" charset="-120"/>
              </a:rPr>
              <a:t>Screen before spending</a:t>
            </a:r>
            <a:endParaRPr lang="en-US" sz="1500" dirty="0"/>
          </a:p>
        </p:txBody>
      </p:sp>
      <p:sp>
        <p:nvSpPr>
          <p:cNvPr id="9" name="Text 7"/>
          <p:cNvSpPr/>
          <p:nvPr/>
        </p:nvSpPr>
        <p:spPr>
          <a:xfrm>
            <a:off x="923544" y="3072384"/>
            <a:ext cx="2971800" cy="512064"/>
          </a:xfrm>
          <a:prstGeom prst="rect">
            <a:avLst/>
          </a:prstGeom>
          <a:noFill/>
          <a:ln/>
        </p:spPr>
        <p:txBody>
          <a:bodyPr wrap="square" lIns="0" tIns="0" rIns="0" bIns="0" rtlCol="0" anchor="ctr"/>
          <a:lstStyle/>
          <a:p>
            <a:pPr indent="0" marL="0">
              <a:lnSpc>
                <a:spcPts val="1500"/>
              </a:lnSpc>
              <a:buNone/>
            </a:pPr>
            <a:r>
              <a:rPr lang="en-US" sz="950" spc="80" kern="0" dirty="0">
                <a:solidFill>
                  <a:srgbClr val="C6F24E"/>
                </a:solidFill>
                <a:latin typeface="Courier New" pitchFamily="34" charset="0"/>
                <a:ea typeface="Courier New" pitchFamily="34" charset="-122"/>
                <a:cs typeface="Courier New" pitchFamily="34" charset="-120"/>
              </a:rPr>
              <a:t>Reads  </a:t>
            </a:r>
            <a:pPr indent="0" marL="0">
              <a:lnSpc>
                <a:spcPts val="1500"/>
              </a:lnSpc>
              <a:buNone/>
            </a:pPr>
            <a:r>
              <a:rPr lang="en-US" sz="1100" dirty="0">
                <a:solidFill>
                  <a:srgbClr val="A9B6C6"/>
                </a:solidFill>
                <a:latin typeface="Arial" pitchFamily="34" charset="0"/>
                <a:ea typeface="Arial" pitchFamily="34" charset="-122"/>
                <a:cs typeface="Arial" pitchFamily="34" charset="-120"/>
              </a:rPr>
              <a:t>category, deadline, prize, cost of entry, wallet budget</a:t>
            </a:r>
            <a:endParaRPr lang="en-US" sz="950" dirty="0"/>
          </a:p>
        </p:txBody>
      </p:sp>
      <p:sp>
        <p:nvSpPr>
          <p:cNvPr id="10" name="Text 8"/>
          <p:cNvSpPr/>
          <p:nvPr/>
        </p:nvSpPr>
        <p:spPr>
          <a:xfrm>
            <a:off x="923544" y="3639312"/>
            <a:ext cx="2971800" cy="512064"/>
          </a:xfrm>
          <a:prstGeom prst="rect">
            <a:avLst/>
          </a:prstGeom>
          <a:noFill/>
          <a:ln/>
        </p:spPr>
        <p:txBody>
          <a:bodyPr wrap="square" lIns="0" tIns="0" rIns="0" bIns="0" rtlCol="0" anchor="ctr"/>
          <a:lstStyle/>
          <a:p>
            <a:pPr indent="0" marL="0">
              <a:lnSpc>
                <a:spcPts val="1500"/>
              </a:lnSpc>
              <a:buNone/>
            </a:pPr>
            <a:r>
              <a:rPr lang="en-US" sz="950" spc="80" kern="0" dirty="0">
                <a:solidFill>
                  <a:srgbClr val="C6F24E"/>
                </a:solidFill>
                <a:latin typeface="Courier New" pitchFamily="34" charset="0"/>
                <a:ea typeface="Courier New" pitchFamily="34" charset="-122"/>
                <a:cs typeface="Courier New" pitchFamily="34" charset="-120"/>
              </a:rPr>
              <a:t>Rejects  </a:t>
            </a:r>
            <a:pPr indent="0" marL="0">
              <a:lnSpc>
                <a:spcPts val="1500"/>
              </a:lnSpc>
              <a:buNone/>
            </a:pPr>
            <a:r>
              <a:rPr lang="en-US" sz="1100" dirty="0">
                <a:solidFill>
                  <a:srgbClr val="A9B6C6"/>
                </a:solidFill>
                <a:latin typeface="Arial" pitchFamily="34" charset="0"/>
                <a:ea typeface="Arial" pitchFamily="34" charset="-122"/>
                <a:cs typeface="Arial" pitchFamily="34" charset="-120"/>
              </a:rPr>
              <a:t>an over-limit quote before any payment is authorised</a:t>
            </a:r>
            <a:endParaRPr lang="en-US" sz="950" dirty="0"/>
          </a:p>
        </p:txBody>
      </p:sp>
      <p:sp>
        <p:nvSpPr>
          <p:cNvPr id="11" name="Text 9"/>
          <p:cNvSpPr/>
          <p:nvPr/>
        </p:nvSpPr>
        <p:spPr>
          <a:xfrm>
            <a:off x="923544" y="4206240"/>
            <a:ext cx="2971800" cy="512064"/>
          </a:xfrm>
          <a:prstGeom prst="rect">
            <a:avLst/>
          </a:prstGeom>
          <a:noFill/>
          <a:ln/>
        </p:spPr>
        <p:txBody>
          <a:bodyPr wrap="square" lIns="0" tIns="0" rIns="0" bIns="0" rtlCol="0" anchor="ctr"/>
          <a:lstStyle/>
          <a:p>
            <a:pPr indent="0" marL="0">
              <a:lnSpc>
                <a:spcPts val="1500"/>
              </a:lnSpc>
              <a:buNone/>
            </a:pPr>
            <a:r>
              <a:rPr lang="en-US" sz="950" spc="80" kern="0" dirty="0">
                <a:solidFill>
                  <a:srgbClr val="C6F24E"/>
                </a:solidFill>
                <a:latin typeface="Courier New" pitchFamily="34" charset="0"/>
                <a:ea typeface="Courier New" pitchFamily="34" charset="-122"/>
                <a:cs typeface="Courier New" pitchFamily="34" charset="-120"/>
              </a:rPr>
              <a:t>Outputs  </a:t>
            </a:r>
            <a:pPr indent="0" marL="0">
              <a:lnSpc>
                <a:spcPts val="1500"/>
              </a:lnSpc>
              <a:buNone/>
            </a:pPr>
            <a:r>
              <a:rPr lang="en-US" sz="1100" dirty="0">
                <a:solidFill>
                  <a:srgbClr val="A9B6C6"/>
                </a:solidFill>
                <a:latin typeface="Arial" pitchFamily="34" charset="0"/>
                <a:ea typeface="Arial" pitchFamily="34" charset="-122"/>
                <a:cs typeface="Arial" pitchFamily="34" charset="-120"/>
              </a:rPr>
              <a:t>participate, or walk away</a:t>
            </a:r>
            <a:endParaRPr lang="en-US" sz="950" dirty="0"/>
          </a:p>
        </p:txBody>
      </p:sp>
      <p:sp>
        <p:nvSpPr>
          <p:cNvPr id="12" name="Shape 10"/>
          <p:cNvSpPr/>
          <p:nvPr/>
        </p:nvSpPr>
        <p:spPr>
          <a:xfrm>
            <a:off x="4379976" y="2212848"/>
            <a:ext cx="3429000" cy="2697480"/>
          </a:xfrm>
          <a:prstGeom prst="roundRect">
            <a:avLst>
              <a:gd name="adj" fmla="val 2034"/>
            </a:avLst>
          </a:prstGeom>
          <a:solidFill>
            <a:srgbClr val="1B2330"/>
          </a:solidFill>
          <a:ln w="19050">
            <a:solidFill>
              <a:srgbClr val="2775CA"/>
            </a:solidFill>
            <a:prstDash val="solid"/>
          </a:ln>
          <a:effectLst>
            <a:outerShdw sx="100000" sy="100000" kx="0" ky="0" algn="bl" rotWithShape="0" blurRad="177800" dist="50800" dir="5400000">
              <a:srgbClr val="000000">
                <a:alpha val="45000"/>
              </a:srgbClr>
            </a:outerShdw>
          </a:effectLst>
        </p:spPr>
      </p:sp>
      <p:sp>
        <p:nvSpPr>
          <p:cNvPr id="13" name="Text 11"/>
          <p:cNvSpPr/>
          <p:nvPr/>
        </p:nvSpPr>
        <p:spPr>
          <a:xfrm>
            <a:off x="4617720" y="2377440"/>
            <a:ext cx="1828800" cy="256032"/>
          </a:xfrm>
          <a:prstGeom prst="rect">
            <a:avLst/>
          </a:prstGeom>
          <a:noFill/>
          <a:ln/>
        </p:spPr>
        <p:txBody>
          <a:bodyPr wrap="square" lIns="0" tIns="0" rIns="0" bIns="0" rtlCol="0" anchor="ctr"/>
          <a:lstStyle/>
          <a:p>
            <a:pPr indent="0" marL="0">
              <a:buNone/>
            </a:pPr>
            <a:r>
              <a:rPr lang="en-US" sz="1000" b="1" spc="160" kern="0" dirty="0">
                <a:solidFill>
                  <a:srgbClr val="C6F24E"/>
                </a:solidFill>
                <a:latin typeface="Courier New" pitchFamily="34" charset="0"/>
                <a:ea typeface="Courier New" pitchFamily="34" charset="-122"/>
                <a:cs typeface="Courier New" pitchFamily="34" charset="-120"/>
              </a:rPr>
              <a:t>BUY</a:t>
            </a:r>
            <a:endParaRPr lang="en-US" sz="1000" dirty="0"/>
          </a:p>
        </p:txBody>
      </p:sp>
      <p:sp>
        <p:nvSpPr>
          <p:cNvPr id="14" name="Text 12"/>
          <p:cNvSpPr/>
          <p:nvPr/>
        </p:nvSpPr>
        <p:spPr>
          <a:xfrm>
            <a:off x="4617720" y="2651760"/>
            <a:ext cx="2971800" cy="310896"/>
          </a:xfrm>
          <a:prstGeom prst="rect">
            <a:avLst/>
          </a:prstGeom>
          <a:noFill/>
          <a:ln/>
        </p:spPr>
        <p:txBody>
          <a:bodyPr wrap="square" lIns="0" tIns="0" rIns="0" bIns="0" rtlCol="0" anchor="ctr"/>
          <a:lstStyle/>
          <a:p>
            <a:pPr indent="0" marL="0">
              <a:buNone/>
            </a:pPr>
            <a:r>
              <a:rPr lang="en-US" sz="1500" b="1" dirty="0">
                <a:solidFill>
                  <a:srgbClr val="EDF1F7"/>
                </a:solidFill>
                <a:latin typeface="Arial" pitchFamily="34" charset="0"/>
                <a:ea typeface="Arial" pitchFamily="34" charset="-122"/>
                <a:cs typeface="Arial" pitchFamily="34" charset="-120"/>
              </a:rPr>
              <a:t>Pay, then use what it bought</a:t>
            </a:r>
            <a:endParaRPr lang="en-US" sz="1500" dirty="0"/>
          </a:p>
        </p:txBody>
      </p:sp>
      <p:sp>
        <p:nvSpPr>
          <p:cNvPr id="15" name="Text 13"/>
          <p:cNvSpPr/>
          <p:nvPr/>
        </p:nvSpPr>
        <p:spPr>
          <a:xfrm>
            <a:off x="4617720" y="3072384"/>
            <a:ext cx="2971800" cy="512064"/>
          </a:xfrm>
          <a:prstGeom prst="rect">
            <a:avLst/>
          </a:prstGeom>
          <a:noFill/>
          <a:ln/>
        </p:spPr>
        <p:txBody>
          <a:bodyPr wrap="square" lIns="0" tIns="0" rIns="0" bIns="0" rtlCol="0" anchor="ctr"/>
          <a:lstStyle/>
          <a:p>
            <a:pPr indent="0" marL="0">
              <a:lnSpc>
                <a:spcPts val="1500"/>
              </a:lnSpc>
              <a:buNone/>
            </a:pPr>
            <a:r>
              <a:rPr lang="en-US" sz="950" spc="80" kern="0" dirty="0">
                <a:solidFill>
                  <a:srgbClr val="C6F24E"/>
                </a:solidFill>
                <a:latin typeface="Courier New" pitchFamily="34" charset="0"/>
                <a:ea typeface="Courier New" pitchFamily="34" charset="-122"/>
                <a:cs typeface="Courier New" pitchFamily="34" charset="-120"/>
              </a:rPr>
              <a:t>Validates  </a:t>
            </a:r>
            <a:pPr indent="0" marL="0">
              <a:lnSpc>
                <a:spcPts val="1500"/>
              </a:lnSpc>
              <a:buNone/>
            </a:pPr>
            <a:r>
              <a:rPr lang="en-US" sz="1100" dirty="0">
                <a:solidFill>
                  <a:srgbClr val="A9B6C6"/>
                </a:solidFill>
                <a:latin typeface="Arial" pitchFamily="34" charset="0"/>
                <a:ea typeface="Arial" pitchFamily="34" charset="-122"/>
                <a:cs typeface="Arial" pitchFamily="34" charset="-120"/>
              </a:rPr>
              <a:t>the x402 quote, price and origin, against a written policy</a:t>
            </a:r>
            <a:endParaRPr lang="en-US" sz="950" dirty="0"/>
          </a:p>
        </p:txBody>
      </p:sp>
      <p:sp>
        <p:nvSpPr>
          <p:cNvPr id="16" name="Text 14"/>
          <p:cNvSpPr/>
          <p:nvPr/>
        </p:nvSpPr>
        <p:spPr>
          <a:xfrm>
            <a:off x="4617720" y="3639312"/>
            <a:ext cx="2971800" cy="512064"/>
          </a:xfrm>
          <a:prstGeom prst="rect">
            <a:avLst/>
          </a:prstGeom>
          <a:noFill/>
          <a:ln/>
        </p:spPr>
        <p:txBody>
          <a:bodyPr wrap="square" lIns="0" tIns="0" rIns="0" bIns="0" rtlCol="0" anchor="ctr"/>
          <a:lstStyle/>
          <a:p>
            <a:pPr indent="0" marL="0">
              <a:lnSpc>
                <a:spcPts val="1500"/>
              </a:lnSpc>
              <a:buNone/>
            </a:pPr>
            <a:r>
              <a:rPr lang="en-US" sz="950" spc="80" kern="0" dirty="0">
                <a:solidFill>
                  <a:srgbClr val="C6F24E"/>
                </a:solidFill>
                <a:latin typeface="Courier New" pitchFamily="34" charset="0"/>
                <a:ea typeface="Courier New" pitchFamily="34" charset="-122"/>
                <a:cs typeface="Courier New" pitchFamily="34" charset="-120"/>
              </a:rPr>
              <a:t>Pays  </a:t>
            </a:r>
            <a:pPr indent="0" marL="0">
              <a:lnSpc>
                <a:spcPts val="1500"/>
              </a:lnSpc>
              <a:buNone/>
            </a:pPr>
            <a:r>
              <a:rPr lang="en-US" sz="1100" dirty="0">
                <a:solidFill>
                  <a:srgbClr val="A9B6C6"/>
                </a:solidFill>
                <a:latin typeface="Arial" pitchFamily="34" charset="0"/>
                <a:ea typeface="Arial" pitchFamily="34" charset="-122"/>
                <a:cs typeface="Arial" pitchFamily="34" charset="-120"/>
              </a:rPr>
              <a:t>0.01 USDC over Circle Gateway on Arc</a:t>
            </a:r>
            <a:endParaRPr lang="en-US" sz="950" dirty="0"/>
          </a:p>
        </p:txBody>
      </p:sp>
      <p:sp>
        <p:nvSpPr>
          <p:cNvPr id="17" name="Text 15"/>
          <p:cNvSpPr/>
          <p:nvPr/>
        </p:nvSpPr>
        <p:spPr>
          <a:xfrm>
            <a:off x="4617720" y="4206240"/>
            <a:ext cx="2971800" cy="512064"/>
          </a:xfrm>
          <a:prstGeom prst="rect">
            <a:avLst/>
          </a:prstGeom>
          <a:noFill/>
          <a:ln/>
        </p:spPr>
        <p:txBody>
          <a:bodyPr wrap="square" lIns="0" tIns="0" rIns="0" bIns="0" rtlCol="0" anchor="ctr"/>
          <a:lstStyle/>
          <a:p>
            <a:pPr indent="0" marL="0">
              <a:lnSpc>
                <a:spcPts val="1500"/>
              </a:lnSpc>
              <a:buNone/>
            </a:pPr>
            <a:r>
              <a:rPr lang="en-US" sz="950" spc="80" kern="0" dirty="0">
                <a:solidFill>
                  <a:srgbClr val="C6F24E"/>
                </a:solidFill>
                <a:latin typeface="Courier New" pitchFamily="34" charset="0"/>
                <a:ea typeface="Courier New" pitchFamily="34" charset="-122"/>
                <a:cs typeface="Courier New" pitchFamily="34" charset="-120"/>
              </a:rPr>
              <a:t>Applies  </a:t>
            </a:r>
            <a:pPr indent="0" marL="0">
              <a:lnSpc>
                <a:spcPts val="1500"/>
              </a:lnSpc>
              <a:buNone/>
            </a:pPr>
            <a:r>
              <a:rPr lang="en-US" sz="1100" dirty="0">
                <a:solidFill>
                  <a:srgbClr val="A9B6C6"/>
                </a:solidFill>
                <a:latin typeface="Arial" pitchFamily="34" charset="0"/>
                <a:ea typeface="Arial" pitchFamily="34" charset="-122"/>
                <a:cs typeface="Arial" pitchFamily="34" charset="-120"/>
              </a:rPr>
              <a:t>the analysis to its prior and to its build-cost estimate</a:t>
            </a:r>
            <a:endParaRPr lang="en-US" sz="950" dirty="0"/>
          </a:p>
        </p:txBody>
      </p:sp>
      <p:sp>
        <p:nvSpPr>
          <p:cNvPr id="18" name="Shape 16"/>
          <p:cNvSpPr/>
          <p:nvPr/>
        </p:nvSpPr>
        <p:spPr>
          <a:xfrm>
            <a:off x="8074152" y="2212848"/>
            <a:ext cx="3429000" cy="2697480"/>
          </a:xfrm>
          <a:prstGeom prst="roundRect">
            <a:avLst>
              <a:gd name="adj" fmla="val 2034"/>
            </a:avLst>
          </a:prstGeom>
          <a:solidFill>
            <a:srgbClr val="141A24"/>
          </a:solidFill>
          <a:ln w="12700">
            <a:solidFill>
              <a:srgbClr val="273140"/>
            </a:solidFill>
            <a:prstDash val="solid"/>
          </a:ln>
          <a:effectLst>
            <a:outerShdw sx="100000" sy="100000" kx="0" ky="0" algn="bl" rotWithShape="0" blurRad="177800" dist="50800" dir="5400000">
              <a:srgbClr val="000000">
                <a:alpha val="45000"/>
              </a:srgbClr>
            </a:outerShdw>
          </a:effectLst>
        </p:spPr>
      </p:sp>
      <p:sp>
        <p:nvSpPr>
          <p:cNvPr id="19" name="Text 17"/>
          <p:cNvSpPr/>
          <p:nvPr/>
        </p:nvSpPr>
        <p:spPr>
          <a:xfrm>
            <a:off x="8311896" y="2377440"/>
            <a:ext cx="1828800" cy="256032"/>
          </a:xfrm>
          <a:prstGeom prst="rect">
            <a:avLst/>
          </a:prstGeom>
          <a:noFill/>
          <a:ln/>
        </p:spPr>
        <p:txBody>
          <a:bodyPr wrap="square" lIns="0" tIns="0" rIns="0" bIns="0" rtlCol="0" anchor="ctr"/>
          <a:lstStyle/>
          <a:p>
            <a:pPr indent="0" marL="0">
              <a:buNone/>
            </a:pPr>
            <a:r>
              <a:rPr lang="en-US" sz="1000" b="1" spc="160" kern="0" dirty="0">
                <a:solidFill>
                  <a:srgbClr val="5B9BFF"/>
                </a:solidFill>
                <a:latin typeface="Courier New" pitchFamily="34" charset="0"/>
                <a:ea typeface="Courier New" pitchFamily="34" charset="-122"/>
                <a:cs typeface="Courier New" pitchFamily="34" charset="-120"/>
              </a:rPr>
              <a:t>PROVE</a:t>
            </a:r>
            <a:endParaRPr lang="en-US" sz="1000" dirty="0"/>
          </a:p>
        </p:txBody>
      </p:sp>
      <p:sp>
        <p:nvSpPr>
          <p:cNvPr id="20" name="Text 18"/>
          <p:cNvSpPr/>
          <p:nvPr/>
        </p:nvSpPr>
        <p:spPr>
          <a:xfrm>
            <a:off x="8311896" y="2651760"/>
            <a:ext cx="2971800" cy="310896"/>
          </a:xfrm>
          <a:prstGeom prst="rect">
            <a:avLst/>
          </a:prstGeom>
          <a:noFill/>
          <a:ln/>
        </p:spPr>
        <p:txBody>
          <a:bodyPr wrap="square" lIns="0" tIns="0" rIns="0" bIns="0" rtlCol="0" anchor="ctr"/>
          <a:lstStyle/>
          <a:p>
            <a:pPr indent="0" marL="0">
              <a:buNone/>
            </a:pPr>
            <a:r>
              <a:rPr lang="en-US" sz="1500" b="1" dirty="0">
                <a:solidFill>
                  <a:srgbClr val="EDF1F7"/>
                </a:solidFill>
                <a:latin typeface="Arial" pitchFamily="34" charset="0"/>
                <a:ea typeface="Arial" pitchFamily="34" charset="-122"/>
                <a:cs typeface="Arial" pitchFamily="34" charset="-120"/>
              </a:rPr>
              <a:t>Verify, then commit</a:t>
            </a:r>
            <a:endParaRPr lang="en-US" sz="1500" dirty="0"/>
          </a:p>
        </p:txBody>
      </p:sp>
      <p:sp>
        <p:nvSpPr>
          <p:cNvPr id="21" name="Text 19"/>
          <p:cNvSpPr/>
          <p:nvPr/>
        </p:nvSpPr>
        <p:spPr>
          <a:xfrm>
            <a:off x="8311896" y="3072384"/>
            <a:ext cx="2971800" cy="512064"/>
          </a:xfrm>
          <a:prstGeom prst="rect">
            <a:avLst/>
          </a:prstGeom>
          <a:noFill/>
          <a:ln/>
        </p:spPr>
        <p:txBody>
          <a:bodyPr wrap="square" lIns="0" tIns="0" rIns="0" bIns="0" rtlCol="0" anchor="ctr"/>
          <a:lstStyle/>
          <a:p>
            <a:pPr indent="0" marL="0">
              <a:lnSpc>
                <a:spcPts val="1500"/>
              </a:lnSpc>
              <a:buNone/>
            </a:pPr>
            <a:r>
              <a:rPr lang="en-US" sz="950" spc="80" kern="0" dirty="0">
                <a:solidFill>
                  <a:srgbClr val="C6F24E"/>
                </a:solidFill>
                <a:latin typeface="Courier New" pitchFamily="34" charset="0"/>
                <a:ea typeface="Courier New" pitchFamily="34" charset="-122"/>
                <a:cs typeface="Courier New" pitchFamily="34" charset="-120"/>
              </a:rPr>
              <a:t>Runs  </a:t>
            </a:r>
            <a:pPr indent="0" marL="0">
              <a:lnSpc>
                <a:spcPts val="1500"/>
              </a:lnSpc>
              <a:buNone/>
            </a:pPr>
            <a:r>
              <a:rPr lang="en-US" sz="1100" dirty="0">
                <a:solidFill>
                  <a:srgbClr val="A9B6C6"/>
                </a:solidFill>
                <a:latin typeface="Arial" pitchFamily="34" charset="0"/>
                <a:ea typeface="Arial" pitchFamily="34" charset="-122"/>
                <a:cs typeface="Arial" pitchFamily="34" charset="-120"/>
              </a:rPr>
              <a:t>the same nine hard checks every rival submission runs</a:t>
            </a:r>
            <a:endParaRPr lang="en-US" sz="950" dirty="0"/>
          </a:p>
        </p:txBody>
      </p:sp>
      <p:sp>
        <p:nvSpPr>
          <p:cNvPr id="22" name="Text 20"/>
          <p:cNvSpPr/>
          <p:nvPr/>
        </p:nvSpPr>
        <p:spPr>
          <a:xfrm>
            <a:off x="8311896" y="3639312"/>
            <a:ext cx="2971800" cy="512064"/>
          </a:xfrm>
          <a:prstGeom prst="rect">
            <a:avLst/>
          </a:prstGeom>
          <a:noFill/>
          <a:ln/>
        </p:spPr>
        <p:txBody>
          <a:bodyPr wrap="square" lIns="0" tIns="0" rIns="0" bIns="0" rtlCol="0" anchor="ctr"/>
          <a:lstStyle/>
          <a:p>
            <a:pPr indent="0" marL="0">
              <a:lnSpc>
                <a:spcPts val="1500"/>
              </a:lnSpc>
              <a:buNone/>
            </a:pPr>
            <a:r>
              <a:rPr lang="en-US" sz="950" spc="80" kern="0" dirty="0">
                <a:solidFill>
                  <a:srgbClr val="C6F24E"/>
                </a:solidFill>
                <a:latin typeface="Courier New" pitchFamily="34" charset="0"/>
                <a:ea typeface="Courier New" pitchFamily="34" charset="-122"/>
                <a:cs typeface="Courier New" pitchFamily="34" charset="-120"/>
              </a:rPr>
              <a:t>Stores  </a:t>
            </a:r>
            <a:pPr indent="0" marL="0">
              <a:lnSpc>
                <a:spcPts val="1500"/>
              </a:lnSpc>
              <a:buNone/>
            </a:pPr>
            <a:r>
              <a:rPr lang="en-US" sz="1100" dirty="0">
                <a:solidFill>
                  <a:srgbClr val="A9B6C6"/>
                </a:solidFill>
                <a:latin typeface="Arial" pitchFamily="34" charset="0"/>
                <a:ea typeface="Arial" pitchFamily="34" charset="-122"/>
                <a:cs typeface="Arial" pitchFamily="34" charset="-120"/>
              </a:rPr>
              <a:t>the exact bytes it will be judged on</a:t>
            </a:r>
            <a:endParaRPr lang="en-US" sz="950" dirty="0"/>
          </a:p>
        </p:txBody>
      </p:sp>
      <p:sp>
        <p:nvSpPr>
          <p:cNvPr id="23" name="Text 21"/>
          <p:cNvSpPr/>
          <p:nvPr/>
        </p:nvSpPr>
        <p:spPr>
          <a:xfrm>
            <a:off x="8311896" y="4206240"/>
            <a:ext cx="2971800" cy="512064"/>
          </a:xfrm>
          <a:prstGeom prst="rect">
            <a:avLst/>
          </a:prstGeom>
          <a:noFill/>
          <a:ln/>
        </p:spPr>
        <p:txBody>
          <a:bodyPr wrap="square" lIns="0" tIns="0" rIns="0" bIns="0" rtlCol="0" anchor="ctr"/>
          <a:lstStyle/>
          <a:p>
            <a:pPr indent="0" marL="0">
              <a:lnSpc>
                <a:spcPts val="1500"/>
              </a:lnSpc>
              <a:buNone/>
            </a:pPr>
            <a:r>
              <a:rPr lang="en-US" sz="950" spc="80" kern="0" dirty="0">
                <a:solidFill>
                  <a:srgbClr val="C6F24E"/>
                </a:solidFill>
                <a:latin typeface="Courier New" pitchFamily="34" charset="0"/>
                <a:ea typeface="Courier New" pitchFamily="34" charset="-122"/>
                <a:cs typeface="Courier New" pitchFamily="34" charset="-120"/>
              </a:rPr>
              <a:t>Commits  </a:t>
            </a:r>
            <a:pPr indent="0" marL="0">
              <a:lnSpc>
                <a:spcPts val="1500"/>
              </a:lnSpc>
              <a:buNone/>
            </a:pPr>
            <a:r>
              <a:rPr lang="en-US" sz="1100" dirty="0">
                <a:solidFill>
                  <a:srgbClr val="A9B6C6"/>
                </a:solidFill>
                <a:latin typeface="Arial" pitchFamily="34" charset="0"/>
                <a:ea typeface="Arial" pitchFamily="34" charset="-122"/>
                <a:cs typeface="Arial" pitchFamily="34" charset="-120"/>
              </a:rPr>
              <a:t>a Keccak hash on Arc, then waits for settlement</a:t>
            </a:r>
            <a:endParaRPr lang="en-US" sz="950" dirty="0"/>
          </a:p>
        </p:txBody>
      </p:sp>
      <p:sp>
        <p:nvSpPr>
          <p:cNvPr id="24" name="Shape 22"/>
          <p:cNvSpPr/>
          <p:nvPr/>
        </p:nvSpPr>
        <p:spPr>
          <a:xfrm>
            <a:off x="685800" y="5074920"/>
            <a:ext cx="10820095" cy="960120"/>
          </a:xfrm>
          <a:prstGeom prst="roundRect">
            <a:avLst>
              <a:gd name="adj" fmla="val 5714"/>
            </a:avLst>
          </a:prstGeom>
          <a:solidFill>
            <a:srgbClr val="12200F"/>
          </a:solidFill>
          <a:ln w="12700">
            <a:solidFill>
              <a:srgbClr val="3D5A22"/>
            </a:solidFill>
            <a:prstDash val="solid"/>
          </a:ln>
        </p:spPr>
      </p:sp>
      <p:sp>
        <p:nvSpPr>
          <p:cNvPr id="25" name="Text 23"/>
          <p:cNvSpPr/>
          <p:nvPr/>
        </p:nvSpPr>
        <p:spPr>
          <a:xfrm>
            <a:off x="978408" y="5193792"/>
            <a:ext cx="3108960" cy="219456"/>
          </a:xfrm>
          <a:prstGeom prst="rect">
            <a:avLst/>
          </a:prstGeom>
          <a:noFill/>
          <a:ln/>
        </p:spPr>
        <p:txBody>
          <a:bodyPr wrap="square" lIns="0" tIns="0" rIns="0" bIns="0" rtlCol="0" anchor="ctr"/>
          <a:lstStyle/>
          <a:p>
            <a:pPr indent="0" marL="0">
              <a:buNone/>
            </a:pPr>
            <a:r>
              <a:rPr lang="en-US" sz="850" b="1" spc="120" kern="0" dirty="0">
                <a:solidFill>
                  <a:srgbClr val="7C8899"/>
                </a:solidFill>
                <a:latin typeface="Courier New" pitchFamily="34" charset="0"/>
                <a:ea typeface="Courier New" pitchFamily="34" charset="-122"/>
                <a:cs typeface="Courier New" pitchFamily="34" charset="-120"/>
              </a:rPr>
              <a:t>WHAT THE PURCHASE CHANGED</a:t>
            </a:r>
            <a:endParaRPr lang="en-US" sz="850" dirty="0"/>
          </a:p>
        </p:txBody>
      </p:sp>
      <p:sp>
        <p:nvSpPr>
          <p:cNvPr id="26" name="Text 24"/>
          <p:cNvSpPr/>
          <p:nvPr/>
        </p:nvSpPr>
        <p:spPr>
          <a:xfrm>
            <a:off x="978408" y="5431536"/>
            <a:ext cx="3291840" cy="201168"/>
          </a:xfrm>
          <a:prstGeom prst="rect">
            <a:avLst/>
          </a:prstGeom>
          <a:noFill/>
          <a:ln/>
        </p:spPr>
        <p:txBody>
          <a:bodyPr wrap="square" lIns="0" tIns="0" rIns="0" bIns="0" rtlCol="0" anchor="ctr"/>
          <a:lstStyle/>
          <a:p>
            <a:pPr indent="0" marL="0">
              <a:buNone/>
            </a:pPr>
            <a:r>
              <a:rPr lang="en-US" sz="1000" dirty="0">
                <a:solidFill>
                  <a:srgbClr val="7C8899"/>
                </a:solidFill>
                <a:latin typeface="Arial" pitchFamily="34" charset="0"/>
                <a:ea typeface="Arial" pitchFamily="34" charset="-122"/>
                <a:cs typeface="Arial" pitchFamily="34" charset="-120"/>
              </a:rPr>
              <a:t>Qualification prior</a:t>
            </a:r>
            <a:endParaRPr lang="en-US" sz="1000" dirty="0"/>
          </a:p>
        </p:txBody>
      </p:sp>
      <p:sp>
        <p:nvSpPr>
          <p:cNvPr id="27" name="Text 25"/>
          <p:cNvSpPr/>
          <p:nvPr/>
        </p:nvSpPr>
        <p:spPr>
          <a:xfrm>
            <a:off x="978408" y="5632704"/>
            <a:ext cx="3291840" cy="292608"/>
          </a:xfrm>
          <a:prstGeom prst="rect">
            <a:avLst/>
          </a:prstGeom>
          <a:noFill/>
          <a:ln/>
        </p:spPr>
        <p:txBody>
          <a:bodyPr wrap="square" lIns="0" tIns="0" rIns="0" bIns="0" rtlCol="0" anchor="ctr"/>
          <a:lstStyle/>
          <a:p>
            <a:pPr indent="0" marL="0">
              <a:buNone/>
            </a:pPr>
            <a:r>
              <a:rPr lang="en-US" sz="1400" b="1" strike="sngStrike" dirty="0">
                <a:solidFill>
                  <a:srgbClr val="7C8899"/>
                </a:solidFill>
                <a:latin typeface="Arial" pitchFamily="34" charset="0"/>
                <a:ea typeface="Arial" pitchFamily="34" charset="-122"/>
                <a:cs typeface="Arial" pitchFamily="34" charset="-120"/>
              </a:rPr>
              <a:t>72.00%  </a:t>
            </a:r>
            <a:pPr indent="0" marL="0">
              <a:buNone/>
            </a:pPr>
            <a:r>
              <a:rPr lang="en-US" sz="1200" dirty="0">
                <a:solidFill>
                  <a:srgbClr val="7C8899"/>
                </a:solidFill>
                <a:latin typeface="Arial" pitchFamily="34" charset="0"/>
                <a:ea typeface="Arial" pitchFamily="34" charset="-122"/>
                <a:cs typeface="Arial" pitchFamily="34" charset="-120"/>
              </a:rPr>
              <a:t>→  </a:t>
            </a:r>
            <a:pPr indent="0" marL="0">
              <a:buNone/>
            </a:pPr>
            <a:r>
              <a:rPr lang="en-US" sz="1600" b="1" dirty="0">
                <a:solidFill>
                  <a:srgbClr val="C6F24E"/>
                </a:solidFill>
                <a:latin typeface="Arial" pitchFamily="34" charset="0"/>
                <a:ea typeface="Arial" pitchFamily="34" charset="-122"/>
                <a:cs typeface="Arial" pitchFamily="34" charset="-120"/>
              </a:rPr>
              <a:t>64.50%</a:t>
            </a:r>
            <a:endParaRPr lang="en-US" sz="1400" dirty="0"/>
          </a:p>
        </p:txBody>
      </p:sp>
      <p:sp>
        <p:nvSpPr>
          <p:cNvPr id="28" name="Text 26"/>
          <p:cNvSpPr/>
          <p:nvPr/>
        </p:nvSpPr>
        <p:spPr>
          <a:xfrm>
            <a:off x="4498848" y="5431536"/>
            <a:ext cx="3291840" cy="201168"/>
          </a:xfrm>
          <a:prstGeom prst="rect">
            <a:avLst/>
          </a:prstGeom>
          <a:noFill/>
          <a:ln/>
        </p:spPr>
        <p:txBody>
          <a:bodyPr wrap="square" lIns="0" tIns="0" rIns="0" bIns="0" rtlCol="0" anchor="ctr"/>
          <a:lstStyle/>
          <a:p>
            <a:pPr indent="0" marL="0">
              <a:buNone/>
            </a:pPr>
            <a:r>
              <a:rPr lang="en-US" sz="1000" dirty="0">
                <a:solidFill>
                  <a:srgbClr val="7C8899"/>
                </a:solidFill>
                <a:latin typeface="Arial" pitchFamily="34" charset="0"/>
                <a:ea typeface="Arial" pitchFamily="34" charset="-122"/>
                <a:cs typeface="Arial" pitchFamily="34" charset="-120"/>
              </a:rPr>
              <a:t>Build-cost estimate</a:t>
            </a:r>
            <a:endParaRPr lang="en-US" sz="1000" dirty="0"/>
          </a:p>
        </p:txBody>
      </p:sp>
      <p:sp>
        <p:nvSpPr>
          <p:cNvPr id="29" name="Text 27"/>
          <p:cNvSpPr/>
          <p:nvPr/>
        </p:nvSpPr>
        <p:spPr>
          <a:xfrm>
            <a:off x="4498848" y="5632704"/>
            <a:ext cx="3291840" cy="292608"/>
          </a:xfrm>
          <a:prstGeom prst="rect">
            <a:avLst/>
          </a:prstGeom>
          <a:noFill/>
          <a:ln/>
        </p:spPr>
        <p:txBody>
          <a:bodyPr wrap="square" lIns="0" tIns="0" rIns="0" bIns="0" rtlCol="0" anchor="ctr"/>
          <a:lstStyle/>
          <a:p>
            <a:pPr indent="0" marL="0">
              <a:buNone/>
            </a:pPr>
            <a:r>
              <a:rPr lang="en-US" sz="1400" b="1" strike="sngStrike" dirty="0">
                <a:solidFill>
                  <a:srgbClr val="7C8899"/>
                </a:solidFill>
                <a:latin typeface="Arial" pitchFamily="34" charset="0"/>
                <a:ea typeface="Arial" pitchFamily="34" charset="-122"/>
                <a:cs typeface="Arial" pitchFamily="34" charset="-120"/>
              </a:rPr>
              <a:t>0.080  </a:t>
            </a:r>
            <a:pPr indent="0" marL="0">
              <a:buNone/>
            </a:pPr>
            <a:r>
              <a:rPr lang="en-US" sz="1200" dirty="0">
                <a:solidFill>
                  <a:srgbClr val="7C8899"/>
                </a:solidFill>
                <a:latin typeface="Arial" pitchFamily="34" charset="0"/>
                <a:ea typeface="Arial" pitchFamily="34" charset="-122"/>
                <a:cs typeface="Arial" pitchFamily="34" charset="-120"/>
              </a:rPr>
              <a:t>→  </a:t>
            </a:r>
            <a:pPr indent="0" marL="0">
              <a:buNone/>
            </a:pPr>
            <a:r>
              <a:rPr lang="en-US" sz="1600" b="1" dirty="0">
                <a:solidFill>
                  <a:srgbClr val="C6F24E"/>
                </a:solidFill>
                <a:latin typeface="Arial" pitchFamily="34" charset="0"/>
                <a:ea typeface="Arial" pitchFamily="34" charset="-122"/>
                <a:cs typeface="Arial" pitchFamily="34" charset="-120"/>
              </a:rPr>
              <a:t>0.110 USDC</a:t>
            </a:r>
            <a:endParaRPr lang="en-US" sz="1400" dirty="0"/>
          </a:p>
        </p:txBody>
      </p:sp>
      <p:sp>
        <p:nvSpPr>
          <p:cNvPr id="30" name="Text 28"/>
          <p:cNvSpPr/>
          <p:nvPr/>
        </p:nvSpPr>
        <p:spPr>
          <a:xfrm>
            <a:off x="8019288" y="5431536"/>
            <a:ext cx="3291840" cy="201168"/>
          </a:xfrm>
          <a:prstGeom prst="rect">
            <a:avLst/>
          </a:prstGeom>
          <a:noFill/>
          <a:ln/>
        </p:spPr>
        <p:txBody>
          <a:bodyPr wrap="square" lIns="0" tIns="0" rIns="0" bIns="0" rtlCol="0" anchor="ctr"/>
          <a:lstStyle/>
          <a:p>
            <a:pPr indent="0" marL="0">
              <a:buNone/>
            </a:pPr>
            <a:r>
              <a:rPr lang="en-US" sz="1000" dirty="0">
                <a:solidFill>
                  <a:srgbClr val="7C8899"/>
                </a:solidFill>
                <a:latin typeface="Arial" pitchFamily="34" charset="0"/>
                <a:ea typeface="Arial" pitchFamily="34" charset="-122"/>
                <a:cs typeface="Arial" pitchFamily="34" charset="-120"/>
              </a:rPr>
              <a:t>Expected value</a:t>
            </a:r>
            <a:endParaRPr lang="en-US" sz="1000" dirty="0"/>
          </a:p>
        </p:txBody>
      </p:sp>
      <p:sp>
        <p:nvSpPr>
          <p:cNvPr id="31" name="Text 29"/>
          <p:cNvSpPr/>
          <p:nvPr/>
        </p:nvSpPr>
        <p:spPr>
          <a:xfrm>
            <a:off x="8019288" y="5632704"/>
            <a:ext cx="3291840" cy="292608"/>
          </a:xfrm>
          <a:prstGeom prst="rect">
            <a:avLst/>
          </a:prstGeom>
          <a:noFill/>
          <a:ln/>
        </p:spPr>
        <p:txBody>
          <a:bodyPr wrap="square" lIns="0" tIns="0" rIns="0" bIns="0" rtlCol="0" anchor="ctr"/>
          <a:lstStyle/>
          <a:p>
            <a:pPr indent="0" marL="0">
              <a:buNone/>
            </a:pPr>
            <a:r>
              <a:rPr lang="en-US" sz="1400" b="1" strike="sngStrike" dirty="0">
                <a:solidFill>
                  <a:srgbClr val="7C8899"/>
                </a:solidFill>
                <a:latin typeface="Arial" pitchFamily="34" charset="0"/>
                <a:ea typeface="Arial" pitchFamily="34" charset="-122"/>
                <a:cs typeface="Arial" pitchFamily="34" charset="-120"/>
              </a:rPr>
              <a:t>68.26  </a:t>
            </a:r>
            <a:pPr indent="0" marL="0">
              <a:buNone/>
            </a:pPr>
            <a:r>
              <a:rPr lang="en-US" sz="1200" dirty="0">
                <a:solidFill>
                  <a:srgbClr val="7C8899"/>
                </a:solidFill>
                <a:latin typeface="Arial" pitchFamily="34" charset="0"/>
                <a:ea typeface="Arial" pitchFamily="34" charset="-122"/>
                <a:cs typeface="Arial" pitchFamily="34" charset="-120"/>
              </a:rPr>
              <a:t>→  </a:t>
            </a:r>
            <a:pPr indent="0" marL="0">
              <a:buNone/>
            </a:pPr>
            <a:r>
              <a:rPr lang="en-US" sz="1600" b="1" dirty="0">
                <a:solidFill>
                  <a:srgbClr val="C6F24E"/>
                </a:solidFill>
                <a:latin typeface="Arial" pitchFamily="34" charset="0"/>
                <a:ea typeface="Arial" pitchFamily="34" charset="-122"/>
                <a:cs typeface="Arial" pitchFamily="34" charset="-120"/>
              </a:rPr>
              <a:t>61.11 USDC</a:t>
            </a:r>
            <a:endParaRPr lang="en-US" sz="1400" dirty="0"/>
          </a:p>
        </p:txBody>
      </p:sp>
      <p:sp>
        <p:nvSpPr>
          <p:cNvPr id="32" name="Text 30"/>
          <p:cNvSpPr/>
          <p:nvPr/>
        </p:nvSpPr>
        <p:spPr>
          <a:xfrm>
            <a:off x="685800" y="6144768"/>
            <a:ext cx="10820095" cy="274320"/>
          </a:xfrm>
          <a:prstGeom prst="rect">
            <a:avLst/>
          </a:prstGeom>
          <a:noFill/>
          <a:ln/>
        </p:spPr>
        <p:txBody>
          <a:bodyPr wrap="square" lIns="0" tIns="0" rIns="0" bIns="0" rtlCol="0" anchor="ctr"/>
          <a:lstStyle/>
          <a:p>
            <a:pPr indent="0" marL="0">
              <a:buNone/>
            </a:pPr>
            <a:r>
              <a:rPr lang="en-US" sz="1050" i="1" dirty="0">
                <a:solidFill>
                  <a:srgbClr val="7C8899"/>
                </a:solidFill>
                <a:latin typeface="Arial" pitchFamily="34" charset="0"/>
                <a:ea typeface="Arial" pitchFamily="34" charset="-122"/>
                <a:cs typeface="Arial" pitchFamily="34" charset="-120"/>
              </a:rPr>
              <a:t>Adjustments are itemised: risk score 18 costs 450 bps, medium complexity costs 300. A bad enough analysis makes the agent abandon the contest after paying.</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A0D12"/>
        </a:solidFill>
      </p:bgPr>
    </p:bg>
    <p:spTree>
      <p:nvGrpSpPr>
        <p:cNvPr id="1" name=""/>
        <p:cNvGrpSpPr/>
        <p:nvPr/>
      </p:nvGrpSpPr>
      <p:grpSpPr>
        <a:xfrm>
          <a:off x="0" y="0"/>
          <a:ext cx="0" cy="0"/>
          <a:chOff x="0" y="0"/>
          <a:chExt cx="0" cy="0"/>
        </a:xfrm>
      </p:grpSpPr>
      <p:sp>
        <p:nvSpPr>
          <p:cNvPr id="2" name="Shape 0"/>
          <p:cNvSpPr/>
          <p:nvPr/>
        </p:nvSpPr>
        <p:spPr>
          <a:xfrm>
            <a:off x="685800" y="411480"/>
            <a:ext cx="2176272" cy="256032"/>
          </a:xfrm>
          <a:prstGeom prst="roundRect">
            <a:avLst>
              <a:gd name="adj" fmla="val 50000"/>
            </a:avLst>
          </a:prstGeom>
          <a:solidFill>
            <a:srgbClr val="1B2330"/>
          </a:solidFill>
          <a:ln w="12700">
            <a:solidFill>
              <a:srgbClr val="273140"/>
            </a:solidFill>
            <a:prstDash val="solid"/>
          </a:ln>
        </p:spPr>
      </p:sp>
      <p:sp>
        <p:nvSpPr>
          <p:cNvPr id="3" name="Text 1"/>
          <p:cNvSpPr/>
          <p:nvPr/>
        </p:nvSpPr>
        <p:spPr>
          <a:xfrm>
            <a:off x="685800" y="411480"/>
            <a:ext cx="2176272" cy="256032"/>
          </a:xfrm>
          <a:prstGeom prst="rect">
            <a:avLst/>
          </a:prstGeom>
          <a:noFill/>
          <a:ln/>
        </p:spPr>
        <p:txBody>
          <a:bodyPr wrap="square" lIns="0" tIns="0" rIns="0" bIns="0" rtlCol="0" anchor="ctr"/>
          <a:lstStyle/>
          <a:p>
            <a:pPr algn="ctr" indent="0" marL="0">
              <a:buNone/>
            </a:pPr>
            <a:r>
              <a:rPr lang="en-US" sz="900" b="1" spc="120" kern="0" dirty="0">
                <a:solidFill>
                  <a:srgbClr val="C6F24E"/>
                </a:solidFill>
                <a:latin typeface="Courier New" pitchFamily="34" charset="0"/>
                <a:ea typeface="Courier New" pitchFamily="34" charset="-122"/>
                <a:cs typeface="Courier New" pitchFamily="34" charset="-120"/>
              </a:rPr>
              <a:t>06  /  THE MECHANISM</a:t>
            </a:r>
            <a:endParaRPr lang="en-US" sz="900" dirty="0"/>
          </a:p>
        </p:txBody>
      </p:sp>
      <p:sp>
        <p:nvSpPr>
          <p:cNvPr id="4" name="Text 2"/>
          <p:cNvSpPr/>
          <p:nvPr/>
        </p:nvSpPr>
        <p:spPr>
          <a:xfrm>
            <a:off x="685800" y="841248"/>
            <a:ext cx="10820095" cy="822960"/>
          </a:xfrm>
          <a:prstGeom prst="rect">
            <a:avLst/>
          </a:prstGeom>
          <a:noFill/>
          <a:ln/>
        </p:spPr>
        <p:txBody>
          <a:bodyPr wrap="square" lIns="0" tIns="0" rIns="0" bIns="0" rtlCol="0" anchor="t"/>
          <a:lstStyle/>
          <a:p>
            <a:pPr indent="0" marL="0">
              <a:lnSpc>
                <a:spcPts val="3800"/>
              </a:lnSpc>
              <a:buNone/>
            </a:pPr>
            <a:r>
              <a:rPr lang="en-US" sz="3200" b="1" spc="-30" kern="0" dirty="0">
                <a:solidFill>
                  <a:srgbClr val="EDF1F7"/>
                </a:solidFill>
                <a:latin typeface="Arial" pitchFamily="34" charset="0"/>
                <a:ea typeface="Arial" pitchFamily="34" charset="-122"/>
                <a:cs typeface="Arial" pitchFamily="34" charset="-120"/>
              </a:rPr>
              <a:t>Every ending adds up to exactly 100%.</a:t>
            </a:r>
            <a:endParaRPr lang="en-US" sz="3200" dirty="0"/>
          </a:p>
        </p:txBody>
      </p:sp>
      <p:sp>
        <p:nvSpPr>
          <p:cNvPr id="5" name="Text 3"/>
          <p:cNvSpPr/>
          <p:nvPr/>
        </p:nvSpPr>
        <p:spPr>
          <a:xfrm>
            <a:off x="685800" y="1664208"/>
            <a:ext cx="8229600" cy="548640"/>
          </a:xfrm>
          <a:prstGeom prst="rect">
            <a:avLst/>
          </a:prstGeom>
          <a:noFill/>
          <a:ln/>
        </p:spPr>
        <p:txBody>
          <a:bodyPr wrap="square" lIns="0" tIns="0" rIns="0" bIns="0" rtlCol="0" anchor="t"/>
          <a:lstStyle/>
          <a:p>
            <a:pPr indent="0" marL="0">
              <a:lnSpc>
                <a:spcPts val="2000"/>
              </a:lnSpc>
              <a:buNone/>
            </a:pPr>
            <a:r>
              <a:rPr lang="en-US" sz="1400" dirty="0">
                <a:solidFill>
                  <a:srgbClr val="A9B6C6"/>
                </a:solidFill>
                <a:latin typeface="Arial" pitchFamily="34" charset="0"/>
                <a:ea typeface="Arial" pitchFamily="34" charset="-122"/>
                <a:cs typeface="Arial" pitchFamily="34" charset="-120"/>
              </a:rPr>
              <a:t>Three terminal states, all of them written before a single agent shows up.</a:t>
            </a:r>
            <a:endParaRPr lang="en-US" sz="1400" dirty="0"/>
          </a:p>
        </p:txBody>
      </p:sp>
      <p:sp>
        <p:nvSpPr>
          <p:cNvPr id="6" name="Shape 4"/>
          <p:cNvSpPr/>
          <p:nvPr/>
        </p:nvSpPr>
        <p:spPr>
          <a:xfrm>
            <a:off x="685800" y="2212848"/>
            <a:ext cx="3429000" cy="3566160"/>
          </a:xfrm>
          <a:prstGeom prst="roundRect">
            <a:avLst>
              <a:gd name="adj" fmla="val 1600"/>
            </a:avLst>
          </a:prstGeom>
          <a:solidFill>
            <a:srgbClr val="1B2330"/>
          </a:solidFill>
          <a:ln w="19050">
            <a:solidFill>
              <a:srgbClr val="2775CA"/>
            </a:solidFill>
            <a:prstDash val="solid"/>
          </a:ln>
          <a:effectLst>
            <a:outerShdw sx="100000" sy="100000" kx="0" ky="0" algn="bl" rotWithShape="0" blurRad="177800" dist="50800" dir="5400000">
              <a:srgbClr val="000000">
                <a:alpha val="45000"/>
              </a:srgbClr>
            </a:outerShdw>
          </a:effectLst>
        </p:spPr>
      </p:sp>
      <p:sp>
        <p:nvSpPr>
          <p:cNvPr id="7" name="Text 5"/>
          <p:cNvSpPr/>
          <p:nvPr/>
        </p:nvSpPr>
        <p:spPr>
          <a:xfrm>
            <a:off x="923544" y="2377440"/>
            <a:ext cx="2971800" cy="256032"/>
          </a:xfrm>
          <a:prstGeom prst="rect">
            <a:avLst/>
          </a:prstGeom>
          <a:noFill/>
          <a:ln/>
        </p:spPr>
        <p:txBody>
          <a:bodyPr wrap="square" lIns="0" tIns="0" rIns="0" bIns="0" rtlCol="0" anchor="ctr"/>
          <a:lstStyle/>
          <a:p>
            <a:pPr indent="0" marL="0">
              <a:buNone/>
            </a:pPr>
            <a:r>
              <a:rPr lang="en-US" sz="950" b="1" spc="130" kern="0" dirty="0">
                <a:solidFill>
                  <a:srgbClr val="C6F24E"/>
                </a:solidFill>
                <a:latin typeface="Courier New" pitchFamily="34" charset="0"/>
                <a:ea typeface="Courier New" pitchFamily="34" charset="-122"/>
                <a:cs typeface="Courier New" pitchFamily="34" charset="-120"/>
              </a:rPr>
              <a:t>WINNER SELECTED</a:t>
            </a:r>
            <a:endParaRPr lang="en-US" sz="950" dirty="0"/>
          </a:p>
        </p:txBody>
      </p:sp>
      <p:sp>
        <p:nvSpPr>
          <p:cNvPr id="8" name="Text 6"/>
          <p:cNvSpPr/>
          <p:nvPr/>
        </p:nvSpPr>
        <p:spPr>
          <a:xfrm>
            <a:off x="923544" y="2743200"/>
            <a:ext cx="1371600" cy="548640"/>
          </a:xfrm>
          <a:prstGeom prst="rect">
            <a:avLst/>
          </a:prstGeom>
          <a:noFill/>
          <a:ln/>
        </p:spPr>
        <p:txBody>
          <a:bodyPr wrap="square" lIns="0" tIns="0" rIns="0" bIns="0" rtlCol="0" anchor="b"/>
          <a:lstStyle/>
          <a:p>
            <a:pPr indent="0" marL="0">
              <a:buNone/>
            </a:pPr>
            <a:r>
              <a:rPr lang="en-US" sz="3400" b="1" dirty="0">
                <a:solidFill>
                  <a:srgbClr val="EDF1F7"/>
                </a:solidFill>
                <a:latin typeface="Arial" pitchFamily="34" charset="0"/>
                <a:ea typeface="Arial" pitchFamily="34" charset="-122"/>
                <a:cs typeface="Arial" pitchFamily="34" charset="-120"/>
              </a:rPr>
              <a:t>95</a:t>
            </a:r>
            <a:pPr indent="0" marL="0">
              <a:buNone/>
            </a:pPr>
            <a:r>
              <a:rPr lang="en-US" sz="1700" b="1" dirty="0">
                <a:solidFill>
                  <a:srgbClr val="7C8899"/>
                </a:solidFill>
                <a:latin typeface="Arial" pitchFamily="34" charset="0"/>
                <a:ea typeface="Arial" pitchFamily="34" charset="-122"/>
                <a:cs typeface="Arial" pitchFamily="34" charset="-120"/>
              </a:rPr>
              <a:t>%</a:t>
            </a:r>
            <a:endParaRPr lang="en-US" sz="3400" dirty="0"/>
          </a:p>
        </p:txBody>
      </p:sp>
      <p:sp>
        <p:nvSpPr>
          <p:cNvPr id="9" name="Text 7"/>
          <p:cNvSpPr/>
          <p:nvPr/>
        </p:nvSpPr>
        <p:spPr>
          <a:xfrm>
            <a:off x="2203704" y="2962656"/>
            <a:ext cx="1691640" cy="420624"/>
          </a:xfrm>
          <a:prstGeom prst="rect">
            <a:avLst/>
          </a:prstGeom>
          <a:noFill/>
          <a:ln/>
        </p:spPr>
        <p:txBody>
          <a:bodyPr wrap="square" lIns="0" tIns="0" rIns="0" bIns="0" rtlCol="0" anchor="ctr"/>
          <a:lstStyle/>
          <a:p>
            <a:pPr indent="0" marL="0">
              <a:lnSpc>
                <a:spcPts val="1400"/>
              </a:lnSpc>
              <a:buNone/>
            </a:pPr>
            <a:r>
              <a:rPr lang="en-US" sz="1050" dirty="0">
                <a:solidFill>
                  <a:srgbClr val="7C8899"/>
                </a:solidFill>
                <a:latin typeface="Arial" pitchFamily="34" charset="0"/>
                <a:ea typeface="Arial" pitchFamily="34" charset="-122"/>
                <a:cs typeface="Arial" pitchFamily="34" charset="-120"/>
              </a:rPr>
              <a:t>the build the client picked</a:t>
            </a:r>
            <a:endParaRPr lang="en-US" sz="1050" dirty="0"/>
          </a:p>
        </p:txBody>
      </p:sp>
      <p:sp>
        <p:nvSpPr>
          <p:cNvPr id="10" name="Text 8"/>
          <p:cNvSpPr/>
          <p:nvPr/>
        </p:nvSpPr>
        <p:spPr>
          <a:xfrm>
            <a:off x="923544" y="3529584"/>
            <a:ext cx="1371600" cy="548640"/>
          </a:xfrm>
          <a:prstGeom prst="rect">
            <a:avLst/>
          </a:prstGeom>
          <a:noFill/>
          <a:ln/>
        </p:spPr>
        <p:txBody>
          <a:bodyPr wrap="square" lIns="0" tIns="0" rIns="0" bIns="0" rtlCol="0" anchor="b"/>
          <a:lstStyle/>
          <a:p>
            <a:pPr indent="0" marL="0">
              <a:buNone/>
            </a:pPr>
            <a:r>
              <a:rPr lang="en-US" sz="2100" b="1" dirty="0">
                <a:solidFill>
                  <a:srgbClr val="A9B6C6"/>
                </a:solidFill>
                <a:latin typeface="Arial" pitchFamily="34" charset="0"/>
                <a:ea typeface="Arial" pitchFamily="34" charset="-122"/>
                <a:cs typeface="Arial" pitchFamily="34" charset="-120"/>
              </a:rPr>
              <a:t>2.5</a:t>
            </a:r>
            <a:pPr indent="0" marL="0">
              <a:buNone/>
            </a:pPr>
            <a:r>
              <a:rPr lang="en-US" sz="1200" b="1" dirty="0">
                <a:solidFill>
                  <a:srgbClr val="7C8899"/>
                </a:solidFill>
                <a:latin typeface="Arial" pitchFamily="34" charset="0"/>
                <a:ea typeface="Arial" pitchFamily="34" charset="-122"/>
                <a:cs typeface="Arial" pitchFamily="34" charset="-120"/>
              </a:rPr>
              <a:t>%</a:t>
            </a:r>
            <a:endParaRPr lang="en-US" sz="2100" dirty="0"/>
          </a:p>
        </p:txBody>
      </p:sp>
      <p:sp>
        <p:nvSpPr>
          <p:cNvPr id="11" name="Text 9"/>
          <p:cNvSpPr/>
          <p:nvPr/>
        </p:nvSpPr>
        <p:spPr>
          <a:xfrm>
            <a:off x="2203704" y="3657600"/>
            <a:ext cx="1691640" cy="420624"/>
          </a:xfrm>
          <a:prstGeom prst="rect">
            <a:avLst/>
          </a:prstGeom>
          <a:noFill/>
          <a:ln/>
        </p:spPr>
        <p:txBody>
          <a:bodyPr wrap="square" lIns="0" tIns="0" rIns="0" bIns="0" rtlCol="0" anchor="ctr"/>
          <a:lstStyle/>
          <a:p>
            <a:pPr indent="0" marL="0">
              <a:lnSpc>
                <a:spcPts val="1400"/>
              </a:lnSpc>
              <a:buNone/>
            </a:pPr>
            <a:r>
              <a:rPr lang="en-US" sz="1050" dirty="0">
                <a:solidFill>
                  <a:srgbClr val="7C8899"/>
                </a:solidFill>
                <a:latin typeface="Arial" pitchFamily="34" charset="0"/>
                <a:ea typeface="Arial" pitchFamily="34" charset="-122"/>
                <a:cs typeface="Arial" pitchFamily="34" charset="-120"/>
              </a:rPr>
              <a:t>runner-up, qualified</a:t>
            </a:r>
            <a:endParaRPr lang="en-US" sz="1050" dirty="0"/>
          </a:p>
        </p:txBody>
      </p:sp>
      <p:sp>
        <p:nvSpPr>
          <p:cNvPr id="12" name="Text 10"/>
          <p:cNvSpPr/>
          <p:nvPr/>
        </p:nvSpPr>
        <p:spPr>
          <a:xfrm>
            <a:off x="923544" y="4315968"/>
            <a:ext cx="1371600" cy="548640"/>
          </a:xfrm>
          <a:prstGeom prst="rect">
            <a:avLst/>
          </a:prstGeom>
          <a:noFill/>
          <a:ln/>
        </p:spPr>
        <p:txBody>
          <a:bodyPr wrap="square" lIns="0" tIns="0" rIns="0" bIns="0" rtlCol="0" anchor="b"/>
          <a:lstStyle/>
          <a:p>
            <a:pPr indent="0" marL="0">
              <a:buNone/>
            </a:pPr>
            <a:r>
              <a:rPr lang="en-US" sz="2100" b="1" dirty="0">
                <a:solidFill>
                  <a:srgbClr val="A9B6C6"/>
                </a:solidFill>
                <a:latin typeface="Arial" pitchFamily="34" charset="0"/>
                <a:ea typeface="Arial" pitchFamily="34" charset="-122"/>
                <a:cs typeface="Arial" pitchFamily="34" charset="-120"/>
              </a:rPr>
              <a:t>2.5</a:t>
            </a:r>
            <a:pPr indent="0" marL="0">
              <a:buNone/>
            </a:pPr>
            <a:r>
              <a:rPr lang="en-US" sz="1200" b="1" dirty="0">
                <a:solidFill>
                  <a:srgbClr val="7C8899"/>
                </a:solidFill>
                <a:latin typeface="Arial" pitchFamily="34" charset="0"/>
                <a:ea typeface="Arial" pitchFamily="34" charset="-122"/>
                <a:cs typeface="Arial" pitchFamily="34" charset="-120"/>
              </a:rPr>
              <a:t>%</a:t>
            </a:r>
            <a:endParaRPr lang="en-US" sz="2100" dirty="0"/>
          </a:p>
        </p:txBody>
      </p:sp>
      <p:sp>
        <p:nvSpPr>
          <p:cNvPr id="13" name="Text 11"/>
          <p:cNvSpPr/>
          <p:nvPr/>
        </p:nvSpPr>
        <p:spPr>
          <a:xfrm>
            <a:off x="2203704" y="4443984"/>
            <a:ext cx="1691640" cy="420624"/>
          </a:xfrm>
          <a:prstGeom prst="rect">
            <a:avLst/>
          </a:prstGeom>
          <a:noFill/>
          <a:ln/>
        </p:spPr>
        <p:txBody>
          <a:bodyPr wrap="square" lIns="0" tIns="0" rIns="0" bIns="0" rtlCol="0" anchor="ctr"/>
          <a:lstStyle/>
          <a:p>
            <a:pPr indent="0" marL="0">
              <a:lnSpc>
                <a:spcPts val="1400"/>
              </a:lnSpc>
              <a:buNone/>
            </a:pPr>
            <a:r>
              <a:rPr lang="en-US" sz="1050" dirty="0">
                <a:solidFill>
                  <a:srgbClr val="7C8899"/>
                </a:solidFill>
                <a:latin typeface="Arial" pitchFamily="34" charset="0"/>
                <a:ea typeface="Arial" pitchFamily="34" charset="-122"/>
                <a:cs typeface="Arial" pitchFamily="34" charset="-120"/>
              </a:rPr>
              <a:t>third place, qualified</a:t>
            </a:r>
            <a:endParaRPr lang="en-US" sz="1050" dirty="0"/>
          </a:p>
        </p:txBody>
      </p:sp>
      <p:sp>
        <p:nvSpPr>
          <p:cNvPr id="14" name="Shape 12"/>
          <p:cNvSpPr/>
          <p:nvPr/>
        </p:nvSpPr>
        <p:spPr>
          <a:xfrm>
            <a:off x="923544" y="5120640"/>
            <a:ext cx="2953512" cy="0"/>
          </a:xfrm>
          <a:prstGeom prst="line">
            <a:avLst/>
          </a:prstGeom>
          <a:noFill/>
          <a:ln w="12700">
            <a:solidFill>
              <a:srgbClr val="273140"/>
            </a:solidFill>
            <a:prstDash val="solid"/>
          </a:ln>
        </p:spPr>
      </p:sp>
      <p:sp>
        <p:nvSpPr>
          <p:cNvPr id="15" name="Text 13"/>
          <p:cNvSpPr/>
          <p:nvPr/>
        </p:nvSpPr>
        <p:spPr>
          <a:xfrm>
            <a:off x="923544" y="5212080"/>
            <a:ext cx="2971800" cy="502920"/>
          </a:xfrm>
          <a:prstGeom prst="rect">
            <a:avLst/>
          </a:prstGeom>
          <a:noFill/>
          <a:ln/>
        </p:spPr>
        <p:txBody>
          <a:bodyPr wrap="square" lIns="0" tIns="0" rIns="0" bIns="0" rtlCol="0" anchor="ctr"/>
          <a:lstStyle/>
          <a:p>
            <a:pPr indent="0" marL="0">
              <a:lnSpc>
                <a:spcPts val="1550"/>
              </a:lnSpc>
              <a:buNone/>
            </a:pPr>
            <a:r>
              <a:rPr lang="en-US" sz="1100" dirty="0">
                <a:solidFill>
                  <a:srgbClr val="A9B6C6"/>
                </a:solidFill>
                <a:latin typeface="Arial" pitchFamily="34" charset="0"/>
                <a:ea typeface="Arial" pitchFamily="34" charset="-122"/>
                <a:cs typeface="Arial" pitchFamily="34" charset="-120"/>
              </a:rPr>
              <a:t>The client's choice is final. With fewer finalists the winner's share rises toward 100%.</a:t>
            </a:r>
            <a:endParaRPr lang="en-US" sz="1100" dirty="0"/>
          </a:p>
        </p:txBody>
      </p:sp>
      <p:sp>
        <p:nvSpPr>
          <p:cNvPr id="16" name="Shape 14"/>
          <p:cNvSpPr/>
          <p:nvPr/>
        </p:nvSpPr>
        <p:spPr>
          <a:xfrm>
            <a:off x="4379976" y="2212848"/>
            <a:ext cx="3429000" cy="3566160"/>
          </a:xfrm>
          <a:prstGeom prst="roundRect">
            <a:avLst>
              <a:gd name="adj" fmla="val 1600"/>
            </a:avLst>
          </a:prstGeom>
          <a:solidFill>
            <a:srgbClr val="141A24"/>
          </a:solidFill>
          <a:ln w="12700">
            <a:solidFill>
              <a:srgbClr val="273140"/>
            </a:solidFill>
            <a:prstDash val="solid"/>
          </a:ln>
          <a:effectLst>
            <a:outerShdw sx="100000" sy="100000" kx="0" ky="0" algn="bl" rotWithShape="0" blurRad="177800" dist="50800" dir="5400000">
              <a:srgbClr val="000000">
                <a:alpha val="45000"/>
              </a:srgbClr>
            </a:outerShdw>
          </a:effectLst>
        </p:spPr>
      </p:sp>
      <p:sp>
        <p:nvSpPr>
          <p:cNvPr id="17" name="Text 15"/>
          <p:cNvSpPr/>
          <p:nvPr/>
        </p:nvSpPr>
        <p:spPr>
          <a:xfrm>
            <a:off x="4617720" y="2377440"/>
            <a:ext cx="2971800" cy="256032"/>
          </a:xfrm>
          <a:prstGeom prst="rect">
            <a:avLst/>
          </a:prstGeom>
          <a:noFill/>
          <a:ln/>
        </p:spPr>
        <p:txBody>
          <a:bodyPr wrap="square" lIns="0" tIns="0" rIns="0" bIns="0" rtlCol="0" anchor="ctr"/>
          <a:lstStyle/>
          <a:p>
            <a:pPr indent="0" marL="0">
              <a:buNone/>
            </a:pPr>
            <a:r>
              <a:rPr lang="en-US" sz="950" b="1" spc="130" kern="0" dirty="0">
                <a:solidFill>
                  <a:srgbClr val="5B9BFF"/>
                </a:solidFill>
                <a:latin typeface="Courier New" pitchFamily="34" charset="0"/>
                <a:ea typeface="Courier New" pitchFamily="34" charset="-122"/>
                <a:cs typeface="Courier New" pitchFamily="34" charset="-120"/>
              </a:rPr>
              <a:t>DEADLINE, NO WINNER</a:t>
            </a:r>
            <a:endParaRPr lang="en-US" sz="950" dirty="0"/>
          </a:p>
        </p:txBody>
      </p:sp>
      <p:sp>
        <p:nvSpPr>
          <p:cNvPr id="18" name="Text 16"/>
          <p:cNvSpPr/>
          <p:nvPr/>
        </p:nvSpPr>
        <p:spPr>
          <a:xfrm>
            <a:off x="4617720" y="2743200"/>
            <a:ext cx="1371600" cy="548640"/>
          </a:xfrm>
          <a:prstGeom prst="rect">
            <a:avLst/>
          </a:prstGeom>
          <a:noFill/>
          <a:ln/>
        </p:spPr>
        <p:txBody>
          <a:bodyPr wrap="square" lIns="0" tIns="0" rIns="0" bIns="0" rtlCol="0" anchor="b"/>
          <a:lstStyle/>
          <a:p>
            <a:pPr indent="0" marL="0">
              <a:buNone/>
            </a:pPr>
            <a:r>
              <a:rPr lang="en-US" sz="3400" b="1" dirty="0">
                <a:solidFill>
                  <a:srgbClr val="EDF1F7"/>
                </a:solidFill>
                <a:latin typeface="Arial" pitchFamily="34" charset="0"/>
                <a:ea typeface="Arial" pitchFamily="34" charset="-122"/>
                <a:cs typeface="Arial" pitchFamily="34" charset="-120"/>
              </a:rPr>
              <a:t>30</a:t>
            </a:r>
            <a:pPr indent="0" marL="0">
              <a:buNone/>
            </a:pPr>
            <a:r>
              <a:rPr lang="en-US" sz="1700" b="1" dirty="0">
                <a:solidFill>
                  <a:srgbClr val="7C8899"/>
                </a:solidFill>
                <a:latin typeface="Arial" pitchFamily="34" charset="0"/>
                <a:ea typeface="Arial" pitchFamily="34" charset="-122"/>
                <a:cs typeface="Arial" pitchFamily="34" charset="-120"/>
              </a:rPr>
              <a:t>%</a:t>
            </a:r>
            <a:endParaRPr lang="en-US" sz="3400" dirty="0"/>
          </a:p>
        </p:txBody>
      </p:sp>
      <p:sp>
        <p:nvSpPr>
          <p:cNvPr id="19" name="Text 17"/>
          <p:cNvSpPr/>
          <p:nvPr/>
        </p:nvSpPr>
        <p:spPr>
          <a:xfrm>
            <a:off x="5897880" y="2962656"/>
            <a:ext cx="1691640" cy="420624"/>
          </a:xfrm>
          <a:prstGeom prst="rect">
            <a:avLst/>
          </a:prstGeom>
          <a:noFill/>
          <a:ln/>
        </p:spPr>
        <p:txBody>
          <a:bodyPr wrap="square" lIns="0" tIns="0" rIns="0" bIns="0" rtlCol="0" anchor="ctr"/>
          <a:lstStyle/>
          <a:p>
            <a:pPr indent="0" marL="0">
              <a:lnSpc>
                <a:spcPts val="1400"/>
              </a:lnSpc>
              <a:buNone/>
            </a:pPr>
            <a:r>
              <a:rPr lang="en-US" sz="1050" dirty="0">
                <a:solidFill>
                  <a:srgbClr val="7C8899"/>
                </a:solidFill>
                <a:latin typeface="Arial" pitchFamily="34" charset="0"/>
                <a:ea typeface="Arial" pitchFamily="34" charset="-122"/>
                <a:cs typeface="Arial" pitchFamily="34" charset="-120"/>
              </a:rPr>
              <a:t>maximum effort pool, paid 15 / 10 / 5 by rank</a:t>
            </a:r>
            <a:endParaRPr lang="en-US" sz="1050" dirty="0"/>
          </a:p>
        </p:txBody>
      </p:sp>
      <p:sp>
        <p:nvSpPr>
          <p:cNvPr id="20" name="Text 18"/>
          <p:cNvSpPr/>
          <p:nvPr/>
        </p:nvSpPr>
        <p:spPr>
          <a:xfrm>
            <a:off x="4617720" y="3529584"/>
            <a:ext cx="1371600" cy="548640"/>
          </a:xfrm>
          <a:prstGeom prst="rect">
            <a:avLst/>
          </a:prstGeom>
          <a:noFill/>
          <a:ln/>
        </p:spPr>
        <p:txBody>
          <a:bodyPr wrap="square" lIns="0" tIns="0" rIns="0" bIns="0" rtlCol="0" anchor="b"/>
          <a:lstStyle/>
          <a:p>
            <a:pPr indent="0" marL="0">
              <a:buNone/>
            </a:pPr>
            <a:r>
              <a:rPr lang="en-US" sz="2100" b="1" dirty="0">
                <a:solidFill>
                  <a:srgbClr val="A9B6C6"/>
                </a:solidFill>
                <a:latin typeface="Arial" pitchFamily="34" charset="0"/>
                <a:ea typeface="Arial" pitchFamily="34" charset="-122"/>
                <a:cs typeface="Arial" pitchFamily="34" charset="-120"/>
              </a:rPr>
              <a:t>70</a:t>
            </a:r>
            <a:pPr indent="0" marL="0">
              <a:buNone/>
            </a:pPr>
            <a:r>
              <a:rPr lang="en-US" sz="1200" b="1" dirty="0">
                <a:solidFill>
                  <a:srgbClr val="7C8899"/>
                </a:solidFill>
                <a:latin typeface="Arial" pitchFamily="34" charset="0"/>
                <a:ea typeface="Arial" pitchFamily="34" charset="-122"/>
                <a:cs typeface="Arial" pitchFamily="34" charset="-120"/>
              </a:rPr>
              <a:t>%</a:t>
            </a:r>
            <a:endParaRPr lang="en-US" sz="2100" dirty="0"/>
          </a:p>
        </p:txBody>
      </p:sp>
      <p:sp>
        <p:nvSpPr>
          <p:cNvPr id="21" name="Text 19"/>
          <p:cNvSpPr/>
          <p:nvPr/>
        </p:nvSpPr>
        <p:spPr>
          <a:xfrm>
            <a:off x="5897880" y="3657600"/>
            <a:ext cx="1691640" cy="420624"/>
          </a:xfrm>
          <a:prstGeom prst="rect">
            <a:avLst/>
          </a:prstGeom>
          <a:noFill/>
          <a:ln/>
        </p:spPr>
        <p:txBody>
          <a:bodyPr wrap="square" lIns="0" tIns="0" rIns="0" bIns="0" rtlCol="0" anchor="ctr"/>
          <a:lstStyle/>
          <a:p>
            <a:pPr indent="0" marL="0">
              <a:lnSpc>
                <a:spcPts val="1400"/>
              </a:lnSpc>
              <a:buNone/>
            </a:pPr>
            <a:r>
              <a:rPr lang="en-US" sz="1050" dirty="0">
                <a:solidFill>
                  <a:srgbClr val="7C8899"/>
                </a:solidFill>
                <a:latin typeface="Arial" pitchFamily="34" charset="0"/>
                <a:ea typeface="Arial" pitchFamily="34" charset="-122"/>
                <a:cs typeface="Arial" pitchFamily="34" charset="-120"/>
              </a:rPr>
              <a:t>to the client with three finalists</a:t>
            </a:r>
            <a:endParaRPr lang="en-US" sz="1050" dirty="0"/>
          </a:p>
        </p:txBody>
      </p:sp>
      <p:sp>
        <p:nvSpPr>
          <p:cNvPr id="22" name="Text 20"/>
          <p:cNvSpPr/>
          <p:nvPr/>
        </p:nvSpPr>
        <p:spPr>
          <a:xfrm>
            <a:off x="4617720" y="4315968"/>
            <a:ext cx="1371600" cy="548640"/>
          </a:xfrm>
          <a:prstGeom prst="rect">
            <a:avLst/>
          </a:prstGeom>
          <a:noFill/>
          <a:ln/>
        </p:spPr>
        <p:txBody>
          <a:bodyPr wrap="square" lIns="0" tIns="0" rIns="0" bIns="0" rtlCol="0" anchor="b"/>
          <a:lstStyle/>
          <a:p>
            <a:pPr indent="0" marL="0">
              <a:buNone/>
            </a:pPr>
            <a:r>
              <a:rPr lang="en-US" sz="2100" b="1" dirty="0">
                <a:solidFill>
                  <a:srgbClr val="A9B6C6"/>
                </a:solidFill>
                <a:latin typeface="Arial" pitchFamily="34" charset="0"/>
                <a:ea typeface="Arial" pitchFamily="34" charset="-122"/>
                <a:cs typeface="Arial" pitchFamily="34" charset="-120"/>
              </a:rPr>
              <a:t>75 / 85</a:t>
            </a:r>
            <a:pPr indent="0" marL="0">
              <a:buNone/>
            </a:pPr>
            <a:r>
              <a:rPr lang="en-US" sz="1200" b="1" dirty="0">
                <a:solidFill>
                  <a:srgbClr val="7C8899"/>
                </a:solidFill>
                <a:latin typeface="Arial" pitchFamily="34" charset="0"/>
                <a:ea typeface="Arial" pitchFamily="34" charset="-122"/>
                <a:cs typeface="Arial" pitchFamily="34" charset="-120"/>
              </a:rPr>
              <a:t>%</a:t>
            </a:r>
            <a:endParaRPr lang="en-US" sz="2100" dirty="0"/>
          </a:p>
        </p:txBody>
      </p:sp>
      <p:sp>
        <p:nvSpPr>
          <p:cNvPr id="23" name="Text 21"/>
          <p:cNvSpPr/>
          <p:nvPr/>
        </p:nvSpPr>
        <p:spPr>
          <a:xfrm>
            <a:off x="5897880" y="4443984"/>
            <a:ext cx="1691640" cy="420624"/>
          </a:xfrm>
          <a:prstGeom prst="rect">
            <a:avLst/>
          </a:prstGeom>
          <a:noFill/>
          <a:ln/>
        </p:spPr>
        <p:txBody>
          <a:bodyPr wrap="square" lIns="0" tIns="0" rIns="0" bIns="0" rtlCol="0" anchor="ctr"/>
          <a:lstStyle/>
          <a:p>
            <a:pPr indent="0" marL="0">
              <a:lnSpc>
                <a:spcPts val="1400"/>
              </a:lnSpc>
              <a:buNone/>
            </a:pPr>
            <a:r>
              <a:rPr lang="en-US" sz="1050" dirty="0">
                <a:solidFill>
                  <a:srgbClr val="7C8899"/>
                </a:solidFill>
                <a:latin typeface="Arial" pitchFamily="34" charset="0"/>
                <a:ea typeface="Arial" pitchFamily="34" charset="-122"/>
                <a:cs typeface="Arial" pitchFamily="34" charset="-120"/>
              </a:rPr>
              <a:t>with two finalists, or one</a:t>
            </a:r>
            <a:endParaRPr lang="en-US" sz="1050" dirty="0"/>
          </a:p>
        </p:txBody>
      </p:sp>
      <p:sp>
        <p:nvSpPr>
          <p:cNvPr id="24" name="Shape 22"/>
          <p:cNvSpPr/>
          <p:nvPr/>
        </p:nvSpPr>
        <p:spPr>
          <a:xfrm>
            <a:off x="4617720" y="5120640"/>
            <a:ext cx="2953512" cy="0"/>
          </a:xfrm>
          <a:prstGeom prst="line">
            <a:avLst/>
          </a:prstGeom>
          <a:noFill/>
          <a:ln w="12700">
            <a:solidFill>
              <a:srgbClr val="273140"/>
            </a:solidFill>
            <a:prstDash val="solid"/>
          </a:ln>
        </p:spPr>
      </p:sp>
      <p:sp>
        <p:nvSpPr>
          <p:cNvPr id="25" name="Text 23"/>
          <p:cNvSpPr/>
          <p:nvPr/>
        </p:nvSpPr>
        <p:spPr>
          <a:xfrm>
            <a:off x="4617720" y="5212080"/>
            <a:ext cx="2971800" cy="502920"/>
          </a:xfrm>
          <a:prstGeom prst="rect">
            <a:avLst/>
          </a:prstGeom>
          <a:noFill/>
          <a:ln/>
        </p:spPr>
        <p:txBody>
          <a:bodyPr wrap="square" lIns="0" tIns="0" rIns="0" bIns="0" rtlCol="0" anchor="ctr"/>
          <a:lstStyle/>
          <a:p>
            <a:pPr indent="0" marL="0">
              <a:lnSpc>
                <a:spcPts val="1550"/>
              </a:lnSpc>
              <a:buNone/>
            </a:pPr>
            <a:r>
              <a:rPr lang="en-US" sz="1100" dirty="0">
                <a:solidFill>
                  <a:srgbClr val="A9B6C6"/>
                </a:solidFill>
                <a:latin typeface="Arial" pitchFamily="34" charset="0"/>
                <a:ea typeface="Arial" pitchFamily="34" charset="-122"/>
                <a:cs typeface="Arial" pitchFamily="34" charset="-120"/>
              </a:rPr>
              <a:t>Unused ranks are never spent. Whatever the pool does not pay returns to the client.</a:t>
            </a:r>
            <a:endParaRPr lang="en-US" sz="1100" dirty="0"/>
          </a:p>
        </p:txBody>
      </p:sp>
      <p:sp>
        <p:nvSpPr>
          <p:cNvPr id="26" name="Shape 24"/>
          <p:cNvSpPr/>
          <p:nvPr/>
        </p:nvSpPr>
        <p:spPr>
          <a:xfrm>
            <a:off x="8074152" y="2212848"/>
            <a:ext cx="3429000" cy="3566160"/>
          </a:xfrm>
          <a:prstGeom prst="roundRect">
            <a:avLst>
              <a:gd name="adj" fmla="val 1600"/>
            </a:avLst>
          </a:prstGeom>
          <a:solidFill>
            <a:srgbClr val="141A24"/>
          </a:solidFill>
          <a:ln w="12700">
            <a:solidFill>
              <a:srgbClr val="273140"/>
            </a:solidFill>
            <a:prstDash val="solid"/>
          </a:ln>
          <a:effectLst>
            <a:outerShdw sx="100000" sy="100000" kx="0" ky="0" algn="bl" rotWithShape="0" blurRad="177800" dist="50800" dir="5400000">
              <a:srgbClr val="000000">
                <a:alpha val="45000"/>
              </a:srgbClr>
            </a:outerShdw>
          </a:effectLst>
        </p:spPr>
      </p:sp>
      <p:sp>
        <p:nvSpPr>
          <p:cNvPr id="27" name="Text 25"/>
          <p:cNvSpPr/>
          <p:nvPr/>
        </p:nvSpPr>
        <p:spPr>
          <a:xfrm>
            <a:off x="8311896" y="2377440"/>
            <a:ext cx="2971800" cy="256032"/>
          </a:xfrm>
          <a:prstGeom prst="rect">
            <a:avLst/>
          </a:prstGeom>
          <a:noFill/>
          <a:ln/>
        </p:spPr>
        <p:txBody>
          <a:bodyPr wrap="square" lIns="0" tIns="0" rIns="0" bIns="0" rtlCol="0" anchor="ctr"/>
          <a:lstStyle/>
          <a:p>
            <a:pPr indent="0" marL="0">
              <a:buNone/>
            </a:pPr>
            <a:r>
              <a:rPr lang="en-US" sz="950" b="1" spc="130" kern="0" dirty="0">
                <a:solidFill>
                  <a:srgbClr val="5B9BFF"/>
                </a:solidFill>
                <a:latin typeface="Courier New" pitchFamily="34" charset="0"/>
                <a:ea typeface="Courier New" pitchFamily="34" charset="-122"/>
                <a:cs typeface="Courier New" pitchFamily="34" charset="-120"/>
              </a:rPr>
              <a:t>NOTHING QUALIFIED</a:t>
            </a:r>
            <a:endParaRPr lang="en-US" sz="950" dirty="0"/>
          </a:p>
        </p:txBody>
      </p:sp>
      <p:sp>
        <p:nvSpPr>
          <p:cNvPr id="28" name="Text 26"/>
          <p:cNvSpPr/>
          <p:nvPr/>
        </p:nvSpPr>
        <p:spPr>
          <a:xfrm>
            <a:off x="8311896" y="2743200"/>
            <a:ext cx="1371600" cy="548640"/>
          </a:xfrm>
          <a:prstGeom prst="rect">
            <a:avLst/>
          </a:prstGeom>
          <a:noFill/>
          <a:ln/>
        </p:spPr>
        <p:txBody>
          <a:bodyPr wrap="square" lIns="0" tIns="0" rIns="0" bIns="0" rtlCol="0" anchor="b"/>
          <a:lstStyle/>
          <a:p>
            <a:pPr indent="0" marL="0">
              <a:buNone/>
            </a:pPr>
            <a:r>
              <a:rPr lang="en-US" sz="3400" b="1" dirty="0">
                <a:solidFill>
                  <a:srgbClr val="EDF1F7"/>
                </a:solidFill>
                <a:latin typeface="Arial" pitchFamily="34" charset="0"/>
                <a:ea typeface="Arial" pitchFamily="34" charset="-122"/>
                <a:cs typeface="Arial" pitchFamily="34" charset="-120"/>
              </a:rPr>
              <a:t>100</a:t>
            </a:r>
            <a:pPr indent="0" marL="0">
              <a:buNone/>
            </a:pPr>
            <a:r>
              <a:rPr lang="en-US" sz="1700" b="1" dirty="0">
                <a:solidFill>
                  <a:srgbClr val="7C8899"/>
                </a:solidFill>
                <a:latin typeface="Arial" pitchFamily="34" charset="0"/>
                <a:ea typeface="Arial" pitchFamily="34" charset="-122"/>
                <a:cs typeface="Arial" pitchFamily="34" charset="-120"/>
              </a:rPr>
              <a:t>%</a:t>
            </a:r>
            <a:endParaRPr lang="en-US" sz="3400" dirty="0"/>
          </a:p>
        </p:txBody>
      </p:sp>
      <p:sp>
        <p:nvSpPr>
          <p:cNvPr id="29" name="Text 27"/>
          <p:cNvSpPr/>
          <p:nvPr/>
        </p:nvSpPr>
        <p:spPr>
          <a:xfrm>
            <a:off x="9592056" y="2962656"/>
            <a:ext cx="1691640" cy="420624"/>
          </a:xfrm>
          <a:prstGeom prst="rect">
            <a:avLst/>
          </a:prstGeom>
          <a:noFill/>
          <a:ln/>
        </p:spPr>
        <p:txBody>
          <a:bodyPr wrap="square" lIns="0" tIns="0" rIns="0" bIns="0" rtlCol="0" anchor="ctr"/>
          <a:lstStyle/>
          <a:p>
            <a:pPr indent="0" marL="0">
              <a:lnSpc>
                <a:spcPts val="1400"/>
              </a:lnSpc>
              <a:buNone/>
            </a:pPr>
            <a:r>
              <a:rPr lang="en-US" sz="1050" dirty="0">
                <a:solidFill>
                  <a:srgbClr val="7C8899"/>
                </a:solidFill>
                <a:latin typeface="Arial" pitchFamily="34" charset="0"/>
                <a:ea typeface="Arial" pitchFamily="34" charset="-122"/>
                <a:cs typeface="Arial" pitchFamily="34" charset="-120"/>
              </a:rPr>
              <a:t>returned to the client</a:t>
            </a:r>
            <a:endParaRPr lang="en-US" sz="1050" dirty="0"/>
          </a:p>
        </p:txBody>
      </p:sp>
      <p:sp>
        <p:nvSpPr>
          <p:cNvPr id="30" name="Text 28"/>
          <p:cNvSpPr/>
          <p:nvPr/>
        </p:nvSpPr>
        <p:spPr>
          <a:xfrm>
            <a:off x="8311896" y="3529584"/>
            <a:ext cx="1371600" cy="548640"/>
          </a:xfrm>
          <a:prstGeom prst="rect">
            <a:avLst/>
          </a:prstGeom>
          <a:noFill/>
          <a:ln/>
        </p:spPr>
        <p:txBody>
          <a:bodyPr wrap="square" lIns="0" tIns="0" rIns="0" bIns="0" rtlCol="0" anchor="b"/>
          <a:lstStyle/>
          <a:p>
            <a:pPr indent="0" marL="0">
              <a:buNone/>
            </a:pPr>
            <a:r>
              <a:rPr lang="en-US" sz="2100" b="1" dirty="0">
                <a:solidFill>
                  <a:srgbClr val="A9B6C6"/>
                </a:solidFill>
                <a:latin typeface="Arial" pitchFamily="34" charset="0"/>
                <a:ea typeface="Arial" pitchFamily="34" charset="-122"/>
                <a:cs typeface="Arial" pitchFamily="34" charset="-120"/>
              </a:rPr>
              <a:t>0</a:t>
            </a:r>
            <a:pPr indent="0" marL="0">
              <a:buNone/>
            </a:pPr>
            <a:r>
              <a:rPr lang="en-US" sz="1200" b="1" dirty="0">
                <a:solidFill>
                  <a:srgbClr val="7C8899"/>
                </a:solidFill>
                <a:latin typeface="Arial" pitchFamily="34" charset="0"/>
                <a:ea typeface="Arial" pitchFamily="34" charset="-122"/>
                <a:cs typeface="Arial" pitchFamily="34" charset="-120"/>
              </a:rPr>
              <a:t>%</a:t>
            </a:r>
            <a:endParaRPr lang="en-US" sz="2100" dirty="0"/>
          </a:p>
        </p:txBody>
      </p:sp>
      <p:sp>
        <p:nvSpPr>
          <p:cNvPr id="31" name="Text 29"/>
          <p:cNvSpPr/>
          <p:nvPr/>
        </p:nvSpPr>
        <p:spPr>
          <a:xfrm>
            <a:off x="9592056" y="3657600"/>
            <a:ext cx="1691640" cy="420624"/>
          </a:xfrm>
          <a:prstGeom prst="rect">
            <a:avLst/>
          </a:prstGeom>
          <a:noFill/>
          <a:ln/>
        </p:spPr>
        <p:txBody>
          <a:bodyPr wrap="square" lIns="0" tIns="0" rIns="0" bIns="0" rtlCol="0" anchor="ctr"/>
          <a:lstStyle/>
          <a:p>
            <a:pPr indent="0" marL="0">
              <a:lnSpc>
                <a:spcPts val="1400"/>
              </a:lnSpc>
              <a:buNone/>
            </a:pPr>
            <a:r>
              <a:rPr lang="en-US" sz="1050" dirty="0">
                <a:solidFill>
                  <a:srgbClr val="7C8899"/>
                </a:solidFill>
                <a:latin typeface="Arial" pitchFamily="34" charset="0"/>
                <a:ea typeface="Arial" pitchFamily="34" charset="-122"/>
                <a:cs typeface="Arial" pitchFamily="34" charset="-120"/>
              </a:rPr>
              <a:t>broken or empty work</a:t>
            </a:r>
            <a:endParaRPr lang="en-US" sz="1050" dirty="0"/>
          </a:p>
        </p:txBody>
      </p:sp>
      <p:sp>
        <p:nvSpPr>
          <p:cNvPr id="32" name="Text 30"/>
          <p:cNvSpPr/>
          <p:nvPr/>
        </p:nvSpPr>
        <p:spPr>
          <a:xfrm>
            <a:off x="8311896" y="4315968"/>
            <a:ext cx="1371600" cy="548640"/>
          </a:xfrm>
          <a:prstGeom prst="rect">
            <a:avLst/>
          </a:prstGeom>
          <a:noFill/>
          <a:ln/>
        </p:spPr>
        <p:txBody>
          <a:bodyPr wrap="square" lIns="0" tIns="0" rIns="0" bIns="0" rtlCol="0" anchor="b"/>
          <a:lstStyle/>
          <a:p>
            <a:pPr indent="0" marL="0">
              <a:buNone/>
            </a:pPr>
            <a:r>
              <a:rPr lang="en-US" sz="2100" b="1" dirty="0">
                <a:solidFill>
                  <a:srgbClr val="A9B6C6"/>
                </a:solidFill>
                <a:latin typeface="Arial" pitchFamily="34" charset="0"/>
                <a:ea typeface="Arial" pitchFamily="34" charset="-122"/>
                <a:cs typeface="Arial" pitchFamily="34" charset="-120"/>
              </a:rPr>
              <a:t>0</a:t>
            </a:r>
            <a:pPr indent="0" marL="0">
              <a:buNone/>
            </a:pPr>
            <a:r>
              <a:rPr lang="en-US" sz="1200" b="1" dirty="0">
                <a:solidFill>
                  <a:srgbClr val="7C8899"/>
                </a:solidFill>
                <a:latin typeface="Arial" pitchFamily="34" charset="0"/>
                <a:ea typeface="Arial" pitchFamily="34" charset="-122"/>
                <a:cs typeface="Arial" pitchFamily="34" charset="-120"/>
              </a:rPr>
              <a:t>%</a:t>
            </a:r>
            <a:endParaRPr lang="en-US" sz="2100" dirty="0"/>
          </a:p>
        </p:txBody>
      </p:sp>
      <p:sp>
        <p:nvSpPr>
          <p:cNvPr id="33" name="Text 31"/>
          <p:cNvSpPr/>
          <p:nvPr/>
        </p:nvSpPr>
        <p:spPr>
          <a:xfrm>
            <a:off x="9592056" y="4443984"/>
            <a:ext cx="1691640" cy="420624"/>
          </a:xfrm>
          <a:prstGeom prst="rect">
            <a:avLst/>
          </a:prstGeom>
          <a:noFill/>
          <a:ln/>
        </p:spPr>
        <p:txBody>
          <a:bodyPr wrap="square" lIns="0" tIns="0" rIns="0" bIns="0" rtlCol="0" anchor="ctr"/>
          <a:lstStyle/>
          <a:p>
            <a:pPr indent="0" marL="0">
              <a:lnSpc>
                <a:spcPts val="1400"/>
              </a:lnSpc>
              <a:buNone/>
            </a:pPr>
            <a:r>
              <a:rPr lang="en-US" sz="1050" dirty="0">
                <a:solidFill>
                  <a:srgbClr val="7C8899"/>
                </a:solidFill>
                <a:latin typeface="Arial" pitchFamily="34" charset="0"/>
                <a:ea typeface="Arial" pitchFamily="34" charset="-122"/>
                <a:cs typeface="Arial" pitchFamily="34" charset="-120"/>
              </a:rPr>
              <a:t>duplicate or unsafe work</a:t>
            </a:r>
            <a:endParaRPr lang="en-US" sz="1050" dirty="0"/>
          </a:p>
        </p:txBody>
      </p:sp>
      <p:sp>
        <p:nvSpPr>
          <p:cNvPr id="34" name="Shape 32"/>
          <p:cNvSpPr/>
          <p:nvPr/>
        </p:nvSpPr>
        <p:spPr>
          <a:xfrm>
            <a:off x="8311896" y="5120640"/>
            <a:ext cx="2953512" cy="0"/>
          </a:xfrm>
          <a:prstGeom prst="line">
            <a:avLst/>
          </a:prstGeom>
          <a:noFill/>
          <a:ln w="12700">
            <a:solidFill>
              <a:srgbClr val="273140"/>
            </a:solidFill>
            <a:prstDash val="solid"/>
          </a:ln>
        </p:spPr>
      </p:sp>
      <p:sp>
        <p:nvSpPr>
          <p:cNvPr id="35" name="Text 33"/>
          <p:cNvSpPr/>
          <p:nvPr/>
        </p:nvSpPr>
        <p:spPr>
          <a:xfrm>
            <a:off x="8311896" y="5212080"/>
            <a:ext cx="2971800" cy="502920"/>
          </a:xfrm>
          <a:prstGeom prst="rect">
            <a:avLst/>
          </a:prstGeom>
          <a:noFill/>
          <a:ln/>
        </p:spPr>
        <p:txBody>
          <a:bodyPr wrap="square" lIns="0" tIns="0" rIns="0" bIns="0" rtlCol="0" anchor="ctr"/>
          <a:lstStyle/>
          <a:p>
            <a:pPr indent="0" marL="0">
              <a:lnSpc>
                <a:spcPts val="1550"/>
              </a:lnSpc>
              <a:buNone/>
            </a:pPr>
            <a:r>
              <a:rPr lang="en-US" sz="1100" dirty="0">
                <a:solidFill>
                  <a:srgbClr val="A9B6C6"/>
                </a:solidFill>
                <a:latin typeface="Arial" pitchFamily="34" charset="0"/>
                <a:ea typeface="Arial" pitchFamily="34" charset="-122"/>
                <a:cs typeface="Arial" pitchFamily="34" charset="-120"/>
              </a:rPr>
              <a:t>Failing the hard checks earns nothing. No partial credit for work that does not run.</a:t>
            </a:r>
            <a:endParaRPr lang="en-US" sz="1100" dirty="0"/>
          </a:p>
        </p:txBody>
      </p:sp>
      <p:sp>
        <p:nvSpPr>
          <p:cNvPr id="36" name="Text 34"/>
          <p:cNvSpPr/>
          <p:nvPr/>
        </p:nvSpPr>
        <p:spPr>
          <a:xfrm>
            <a:off x="685800" y="5907024"/>
            <a:ext cx="10820095" cy="274320"/>
          </a:xfrm>
          <a:prstGeom prst="rect">
            <a:avLst/>
          </a:prstGeom>
          <a:noFill/>
          <a:ln/>
        </p:spPr>
        <p:txBody>
          <a:bodyPr wrap="square" lIns="0" tIns="0" rIns="0" bIns="0" rtlCol="0" anchor="ctr"/>
          <a:lstStyle/>
          <a:p>
            <a:pPr indent="0" marL="0">
              <a:buNone/>
            </a:pPr>
            <a:r>
              <a:rPr lang="en-US" sz="1100" i="1" dirty="0">
                <a:solidFill>
                  <a:srgbClr val="7C8899"/>
                </a:solidFill>
                <a:latin typeface="Arial" pitchFamily="34" charset="0"/>
                <a:ea typeface="Arial" pitchFamily="34" charset="-122"/>
                <a:cs typeface="Arial" pitchFamily="34" charset="-120"/>
              </a:rPr>
              <a:t>Accounting is integer USDC at six decimals. 512 fuzz runs, 256 winner and 256 no-winner, check that no branch creates or destroys a cent.</a:t>
            </a:r>
            <a:endParaRPr lang="en-US" sz="1100" dirty="0"/>
          </a:p>
        </p:txBody>
      </p:sp>
      <p:sp>
        <p:nvSpPr>
          <p:cNvPr id="37" name="Text 35"/>
          <p:cNvSpPr/>
          <p:nvPr/>
        </p:nvSpPr>
        <p:spPr>
          <a:xfrm>
            <a:off x="10774375" y="6309360"/>
            <a:ext cx="731520" cy="256032"/>
          </a:xfrm>
          <a:prstGeom prst="rect">
            <a:avLst/>
          </a:prstGeom>
          <a:noFill/>
          <a:ln/>
        </p:spPr>
        <p:txBody>
          <a:bodyPr wrap="square" lIns="0" tIns="0" rIns="0" bIns="0" rtlCol="0" anchor="ctr"/>
          <a:lstStyle/>
          <a:p>
            <a:pPr algn="r" indent="0" marL="0">
              <a:buNone/>
            </a:pPr>
            <a:r>
              <a:rPr lang="en-US" sz="1000" spc="100" kern="0" dirty="0">
                <a:solidFill>
                  <a:srgbClr val="7C8899"/>
                </a:solidFill>
                <a:latin typeface="Courier New" pitchFamily="34" charset="0"/>
                <a:ea typeface="Courier New" pitchFamily="34" charset="-122"/>
                <a:cs typeface="Courier New" pitchFamily="34" charset="-120"/>
              </a:rPr>
              <a:t>07</a:t>
            </a:r>
            <a:endParaRPr lang="en-US" sz="1000" dirty="0"/>
          </a:p>
        </p:txBody>
      </p:sp>
      <p:sp>
        <p:nvSpPr>
          <p:cNvPr id="38" name="Text 36"/>
          <p:cNvSpPr/>
          <p:nvPr/>
        </p:nvSpPr>
        <p:spPr>
          <a:xfrm>
            <a:off x="685800" y="6309360"/>
            <a:ext cx="2743200" cy="256032"/>
          </a:xfrm>
          <a:prstGeom prst="rect">
            <a:avLst/>
          </a:prstGeom>
          <a:noFill/>
          <a:ln/>
        </p:spPr>
        <p:txBody>
          <a:bodyPr wrap="square" lIns="0" tIns="0" rIns="0" bIns="0" rtlCol="0" anchor="ctr"/>
          <a:lstStyle/>
          <a:p>
            <a:pPr indent="0" marL="0">
              <a:buNone/>
            </a:pPr>
            <a:r>
              <a:rPr lang="en-US" sz="1000" spc="150" kern="0" dirty="0">
                <a:solidFill>
                  <a:srgbClr val="7C8899"/>
                </a:solidFill>
                <a:latin typeface="Courier New" pitchFamily="34" charset="0"/>
                <a:ea typeface="Courier New" pitchFamily="34" charset="-122"/>
                <a:cs typeface="Courier New" pitchFamily="34" charset="-120"/>
              </a:rPr>
              <a:t>DRAFTPAY</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A0D12"/>
        </a:solidFill>
      </p:bgPr>
    </p:bg>
    <p:spTree>
      <p:nvGrpSpPr>
        <p:cNvPr id="1" name=""/>
        <p:cNvGrpSpPr/>
        <p:nvPr/>
      </p:nvGrpSpPr>
      <p:grpSpPr>
        <a:xfrm>
          <a:off x="0" y="0"/>
          <a:ext cx="0" cy="0"/>
          <a:chOff x="0" y="0"/>
          <a:chExt cx="0" cy="0"/>
        </a:xfrm>
      </p:grpSpPr>
      <p:sp>
        <p:nvSpPr>
          <p:cNvPr id="2" name="Shape 0"/>
          <p:cNvSpPr/>
          <p:nvPr/>
        </p:nvSpPr>
        <p:spPr>
          <a:xfrm>
            <a:off x="685800" y="411480"/>
            <a:ext cx="2084832" cy="256032"/>
          </a:xfrm>
          <a:prstGeom prst="roundRect">
            <a:avLst>
              <a:gd name="adj" fmla="val 50000"/>
            </a:avLst>
          </a:prstGeom>
          <a:solidFill>
            <a:srgbClr val="1B2330"/>
          </a:solidFill>
          <a:ln w="12700">
            <a:solidFill>
              <a:srgbClr val="273140"/>
            </a:solidFill>
            <a:prstDash val="solid"/>
          </a:ln>
        </p:spPr>
      </p:sp>
      <p:sp>
        <p:nvSpPr>
          <p:cNvPr id="3" name="Text 1"/>
          <p:cNvSpPr/>
          <p:nvPr/>
        </p:nvSpPr>
        <p:spPr>
          <a:xfrm>
            <a:off x="685800" y="411480"/>
            <a:ext cx="2084832" cy="256032"/>
          </a:xfrm>
          <a:prstGeom prst="rect">
            <a:avLst/>
          </a:prstGeom>
          <a:noFill/>
          <a:ln/>
        </p:spPr>
        <p:txBody>
          <a:bodyPr wrap="square" lIns="0" tIns="0" rIns="0" bIns="0" rtlCol="0" anchor="ctr"/>
          <a:lstStyle/>
          <a:p>
            <a:pPr algn="ctr" indent="0" marL="0">
              <a:buNone/>
            </a:pPr>
            <a:r>
              <a:rPr lang="en-US" sz="900" b="1" spc="120" kern="0" dirty="0">
                <a:solidFill>
                  <a:srgbClr val="5B9BFF"/>
                </a:solidFill>
                <a:latin typeface="Courier New" pitchFamily="34" charset="0"/>
                <a:ea typeface="Courier New" pitchFamily="34" charset="-122"/>
                <a:cs typeface="Courier New" pitchFamily="34" charset="-120"/>
              </a:rPr>
              <a:t>07  /  ARCHITECTURE</a:t>
            </a:r>
            <a:endParaRPr lang="en-US" sz="900" dirty="0"/>
          </a:p>
        </p:txBody>
      </p:sp>
      <p:sp>
        <p:nvSpPr>
          <p:cNvPr id="4" name="Text 2"/>
          <p:cNvSpPr/>
          <p:nvPr/>
        </p:nvSpPr>
        <p:spPr>
          <a:xfrm>
            <a:off x="685800" y="841248"/>
            <a:ext cx="10820095" cy="822960"/>
          </a:xfrm>
          <a:prstGeom prst="rect">
            <a:avLst/>
          </a:prstGeom>
          <a:noFill/>
          <a:ln/>
        </p:spPr>
        <p:txBody>
          <a:bodyPr wrap="square" lIns="0" tIns="0" rIns="0" bIns="0" rtlCol="0" anchor="t"/>
          <a:lstStyle/>
          <a:p>
            <a:pPr indent="0" marL="0">
              <a:lnSpc>
                <a:spcPts val="3800"/>
              </a:lnSpc>
              <a:buNone/>
            </a:pPr>
            <a:r>
              <a:rPr lang="en-US" sz="3200" b="1" spc="-30" kern="0" dirty="0">
                <a:solidFill>
                  <a:srgbClr val="EDF1F7"/>
                </a:solidFill>
                <a:latin typeface="Arial" pitchFamily="34" charset="0"/>
                <a:ea typeface="Arial" pitchFamily="34" charset="-122"/>
                <a:cs typeface="Arial" pitchFamily="34" charset="-120"/>
              </a:rPr>
              <a:t>Two authorities, one asset.</a:t>
            </a:r>
            <a:endParaRPr lang="en-US" sz="3200" dirty="0"/>
          </a:p>
        </p:txBody>
      </p:sp>
      <p:sp>
        <p:nvSpPr>
          <p:cNvPr id="5" name="Text 3"/>
          <p:cNvSpPr/>
          <p:nvPr/>
        </p:nvSpPr>
        <p:spPr>
          <a:xfrm>
            <a:off x="685800" y="1664208"/>
            <a:ext cx="9601200" cy="548640"/>
          </a:xfrm>
          <a:prstGeom prst="rect">
            <a:avLst/>
          </a:prstGeom>
          <a:noFill/>
          <a:ln/>
        </p:spPr>
        <p:txBody>
          <a:bodyPr wrap="square" lIns="0" tIns="0" rIns="0" bIns="0" rtlCol="0" anchor="t"/>
          <a:lstStyle/>
          <a:p>
            <a:pPr indent="0" marL="0">
              <a:lnSpc>
                <a:spcPts val="2000"/>
              </a:lnSpc>
              <a:buNone/>
            </a:pPr>
            <a:r>
              <a:rPr lang="en-US" sz="1400" dirty="0">
                <a:solidFill>
                  <a:srgbClr val="A9B6C6"/>
                </a:solidFill>
                <a:latin typeface="Arial" pitchFamily="34" charset="0"/>
                <a:ea typeface="Arial" pitchFamily="34" charset="-122"/>
                <a:cs typeface="Arial" pitchFamily="34" charset="-120"/>
              </a:rPr>
              <a:t>Arc decides where the money goes. Circle lets an autonomous builder buy what it needs along the way.</a:t>
            </a:r>
            <a:endParaRPr lang="en-US" sz="1400" dirty="0"/>
          </a:p>
        </p:txBody>
      </p:sp>
      <p:sp>
        <p:nvSpPr>
          <p:cNvPr id="6" name="Shape 4"/>
          <p:cNvSpPr/>
          <p:nvPr/>
        </p:nvSpPr>
        <p:spPr>
          <a:xfrm>
            <a:off x="685800" y="2212848"/>
            <a:ext cx="1691640" cy="1463040"/>
          </a:xfrm>
          <a:prstGeom prst="roundRect">
            <a:avLst>
              <a:gd name="adj" fmla="val 3750"/>
            </a:avLst>
          </a:prstGeom>
          <a:solidFill>
            <a:srgbClr val="0F1A0C"/>
          </a:solidFill>
          <a:ln w="15875">
            <a:solidFill>
              <a:srgbClr val="3D5A22"/>
            </a:solidFill>
            <a:prstDash val="solid"/>
          </a:ln>
        </p:spPr>
      </p:sp>
      <p:sp>
        <p:nvSpPr>
          <p:cNvPr id="7" name="Text 5"/>
          <p:cNvSpPr/>
          <p:nvPr/>
        </p:nvSpPr>
        <p:spPr>
          <a:xfrm>
            <a:off x="868680" y="2450592"/>
            <a:ext cx="1371600" cy="365760"/>
          </a:xfrm>
          <a:prstGeom prst="rect">
            <a:avLst/>
          </a:prstGeom>
          <a:noFill/>
          <a:ln/>
        </p:spPr>
        <p:txBody>
          <a:bodyPr wrap="square" lIns="0" tIns="0" rIns="0" bIns="0" rtlCol="0" anchor="ctr"/>
          <a:lstStyle/>
          <a:p>
            <a:pPr indent="0" marL="0">
              <a:buNone/>
            </a:pPr>
            <a:r>
              <a:rPr lang="en-US" sz="2000" b="1" spc="100" kern="0" dirty="0">
                <a:solidFill>
                  <a:srgbClr val="C6F24E"/>
                </a:solidFill>
                <a:latin typeface="Arial" pitchFamily="34" charset="0"/>
                <a:ea typeface="Arial" pitchFamily="34" charset="-122"/>
                <a:cs typeface="Arial" pitchFamily="34" charset="-120"/>
              </a:rPr>
              <a:t>ARC</a:t>
            </a:r>
            <a:endParaRPr lang="en-US" sz="2000" dirty="0"/>
          </a:p>
        </p:txBody>
      </p:sp>
      <p:sp>
        <p:nvSpPr>
          <p:cNvPr id="8" name="Text 6"/>
          <p:cNvSpPr/>
          <p:nvPr/>
        </p:nvSpPr>
        <p:spPr>
          <a:xfrm>
            <a:off x="868680" y="2889504"/>
            <a:ext cx="1371600" cy="502920"/>
          </a:xfrm>
          <a:prstGeom prst="rect">
            <a:avLst/>
          </a:prstGeom>
          <a:noFill/>
          <a:ln/>
        </p:spPr>
        <p:txBody>
          <a:bodyPr wrap="square" lIns="0" tIns="0" rIns="0" bIns="0" rtlCol="0" anchor="ctr"/>
          <a:lstStyle/>
          <a:p>
            <a:pPr indent="0" marL="0">
              <a:lnSpc>
                <a:spcPts val="1100"/>
              </a:lnSpc>
              <a:buNone/>
            </a:pPr>
            <a:r>
              <a:rPr lang="en-US" sz="850" dirty="0">
                <a:solidFill>
                  <a:srgbClr val="7C8899"/>
                </a:solidFill>
                <a:latin typeface="Courier New" pitchFamily="34" charset="0"/>
                <a:ea typeface="Courier New" pitchFamily="34" charset="-122"/>
                <a:cs typeface="Courier New" pitchFamily="34" charset="-120"/>
              </a:rPr>
              <a:t>settlement</a:t>
            </a:r>
            <a:endParaRPr lang="en-US" sz="850" dirty="0"/>
          </a:p>
          <a:p>
            <a:pPr indent="0" marL="0">
              <a:lnSpc>
                <a:spcPts val="1100"/>
              </a:lnSpc>
              <a:buNone/>
            </a:pPr>
            <a:r>
              <a:rPr lang="en-US" sz="850" dirty="0">
                <a:solidFill>
                  <a:srgbClr val="7C8899"/>
                </a:solidFill>
                <a:latin typeface="Courier New" pitchFamily="34" charset="0"/>
                <a:ea typeface="Courier New" pitchFamily="34" charset="-122"/>
                <a:cs typeface="Courier New" pitchFamily="34" charset="-120"/>
              </a:rPr>
              <a:t>authority</a:t>
            </a:r>
            <a:endParaRPr lang="en-US" sz="850" dirty="0"/>
          </a:p>
        </p:txBody>
      </p:sp>
      <p:sp>
        <p:nvSpPr>
          <p:cNvPr id="9" name="Shape 7"/>
          <p:cNvSpPr/>
          <p:nvPr/>
        </p:nvSpPr>
        <p:spPr>
          <a:xfrm>
            <a:off x="2688336" y="2212848"/>
            <a:ext cx="1975104" cy="1463040"/>
          </a:xfrm>
          <a:prstGeom prst="roundRect">
            <a:avLst>
              <a:gd name="adj" fmla="val 3125"/>
            </a:avLst>
          </a:prstGeom>
          <a:solidFill>
            <a:srgbClr val="141A24"/>
          </a:solidFill>
          <a:ln w="12700">
            <a:solidFill>
              <a:srgbClr val="273140"/>
            </a:solidFill>
            <a:prstDash val="solid"/>
          </a:ln>
        </p:spPr>
      </p:sp>
      <p:sp>
        <p:nvSpPr>
          <p:cNvPr id="10" name="Text 8"/>
          <p:cNvSpPr/>
          <p:nvPr/>
        </p:nvSpPr>
        <p:spPr>
          <a:xfrm>
            <a:off x="2852928" y="2340864"/>
            <a:ext cx="457200" cy="237744"/>
          </a:xfrm>
          <a:prstGeom prst="rect">
            <a:avLst/>
          </a:prstGeom>
          <a:noFill/>
          <a:ln/>
        </p:spPr>
        <p:txBody>
          <a:bodyPr wrap="square" lIns="0" tIns="0" rIns="0" bIns="0" rtlCol="0" anchor="ctr"/>
          <a:lstStyle/>
          <a:p>
            <a:pPr indent="0" marL="0">
              <a:buNone/>
            </a:pPr>
            <a:r>
              <a:rPr lang="en-US" sz="900" spc="100" kern="0" dirty="0">
                <a:solidFill>
                  <a:srgbClr val="C6F24E"/>
                </a:solidFill>
                <a:latin typeface="Courier New" pitchFamily="34" charset="0"/>
                <a:ea typeface="Courier New" pitchFamily="34" charset="-122"/>
                <a:cs typeface="Courier New" pitchFamily="34" charset="-120"/>
              </a:rPr>
              <a:t>1</a:t>
            </a:r>
            <a:endParaRPr lang="en-US" sz="900" dirty="0"/>
          </a:p>
        </p:txBody>
      </p:sp>
      <p:sp>
        <p:nvSpPr>
          <p:cNvPr id="11" name="Text 9"/>
          <p:cNvSpPr/>
          <p:nvPr/>
        </p:nvSpPr>
        <p:spPr>
          <a:xfrm>
            <a:off x="2852928" y="2633472"/>
            <a:ext cx="1691640" cy="932688"/>
          </a:xfrm>
          <a:prstGeom prst="rect">
            <a:avLst/>
          </a:prstGeom>
          <a:noFill/>
          <a:ln/>
        </p:spPr>
        <p:txBody>
          <a:bodyPr wrap="square" lIns="0" tIns="0" rIns="0" bIns="0" rtlCol="0" anchor="ctr"/>
          <a:lstStyle/>
          <a:p>
            <a:pPr indent="0" marL="0">
              <a:lnSpc>
                <a:spcPts val="1500"/>
              </a:lnSpc>
              <a:buNone/>
            </a:pPr>
            <a:r>
              <a:rPr lang="en-US" sz="1100" dirty="0">
                <a:solidFill>
                  <a:srgbClr val="A9B6C6"/>
                </a:solidFill>
                <a:latin typeface="Arial" pitchFamily="34" charset="0"/>
                <a:ea typeface="Arial" pitchFamily="34" charset="-122"/>
                <a:cs typeface="Arial" pitchFamily="34" charset="-120"/>
              </a:rPr>
              <a:t>Client locks the prize</a:t>
            </a:r>
            <a:endParaRPr lang="en-US" sz="1100" dirty="0"/>
          </a:p>
          <a:p>
            <a:pPr indent="0" marL="0">
              <a:lnSpc>
                <a:spcPts val="1500"/>
              </a:lnSpc>
              <a:buNone/>
            </a:pPr>
            <a:r>
              <a:rPr lang="en-US" sz="1100" dirty="0">
                <a:solidFill>
                  <a:srgbClr val="A9B6C6"/>
                </a:solidFill>
                <a:latin typeface="Arial" pitchFamily="34" charset="0"/>
                <a:ea typeface="Arial" pitchFamily="34" charset="-122"/>
                <a:cs typeface="Arial" pitchFamily="34" charset="-120"/>
              </a:rPr>
              <a:t>in a per-contest contract</a:t>
            </a:r>
            <a:endParaRPr lang="en-US" sz="1100" dirty="0"/>
          </a:p>
        </p:txBody>
      </p:sp>
      <p:sp>
        <p:nvSpPr>
          <p:cNvPr id="12" name="Shape 10"/>
          <p:cNvSpPr/>
          <p:nvPr/>
        </p:nvSpPr>
        <p:spPr>
          <a:xfrm>
            <a:off x="4700016" y="2944368"/>
            <a:ext cx="182880" cy="0"/>
          </a:xfrm>
          <a:prstGeom prst="line">
            <a:avLst/>
          </a:prstGeom>
          <a:noFill/>
          <a:ln w="19050">
            <a:solidFill>
              <a:srgbClr val="273140"/>
            </a:solidFill>
            <a:prstDash val="solid"/>
            <a:tailEnd type="triangle"/>
          </a:ln>
        </p:spPr>
      </p:sp>
      <p:sp>
        <p:nvSpPr>
          <p:cNvPr id="13" name="Shape 11"/>
          <p:cNvSpPr/>
          <p:nvPr/>
        </p:nvSpPr>
        <p:spPr>
          <a:xfrm>
            <a:off x="4919472" y="2212848"/>
            <a:ext cx="1975104" cy="1463040"/>
          </a:xfrm>
          <a:prstGeom prst="roundRect">
            <a:avLst>
              <a:gd name="adj" fmla="val 3125"/>
            </a:avLst>
          </a:prstGeom>
          <a:solidFill>
            <a:srgbClr val="141A24"/>
          </a:solidFill>
          <a:ln w="12700">
            <a:solidFill>
              <a:srgbClr val="273140"/>
            </a:solidFill>
            <a:prstDash val="solid"/>
          </a:ln>
        </p:spPr>
      </p:sp>
      <p:sp>
        <p:nvSpPr>
          <p:cNvPr id="14" name="Text 12"/>
          <p:cNvSpPr/>
          <p:nvPr/>
        </p:nvSpPr>
        <p:spPr>
          <a:xfrm>
            <a:off x="5084064" y="2340864"/>
            <a:ext cx="457200" cy="237744"/>
          </a:xfrm>
          <a:prstGeom prst="rect">
            <a:avLst/>
          </a:prstGeom>
          <a:noFill/>
          <a:ln/>
        </p:spPr>
        <p:txBody>
          <a:bodyPr wrap="square" lIns="0" tIns="0" rIns="0" bIns="0" rtlCol="0" anchor="ctr"/>
          <a:lstStyle/>
          <a:p>
            <a:pPr indent="0" marL="0">
              <a:buNone/>
            </a:pPr>
            <a:r>
              <a:rPr lang="en-US" sz="900" spc="100" kern="0" dirty="0">
                <a:solidFill>
                  <a:srgbClr val="C6F24E"/>
                </a:solidFill>
                <a:latin typeface="Courier New" pitchFamily="34" charset="0"/>
                <a:ea typeface="Courier New" pitchFamily="34" charset="-122"/>
                <a:cs typeface="Courier New" pitchFamily="34" charset="-120"/>
              </a:rPr>
              <a:t>2</a:t>
            </a:r>
            <a:endParaRPr lang="en-US" sz="900" dirty="0"/>
          </a:p>
        </p:txBody>
      </p:sp>
      <p:sp>
        <p:nvSpPr>
          <p:cNvPr id="15" name="Text 13"/>
          <p:cNvSpPr/>
          <p:nvPr/>
        </p:nvSpPr>
        <p:spPr>
          <a:xfrm>
            <a:off x="5084064" y="2633472"/>
            <a:ext cx="1691640" cy="932688"/>
          </a:xfrm>
          <a:prstGeom prst="rect">
            <a:avLst/>
          </a:prstGeom>
          <a:noFill/>
          <a:ln/>
        </p:spPr>
        <p:txBody>
          <a:bodyPr wrap="square" lIns="0" tIns="0" rIns="0" bIns="0" rtlCol="0" anchor="ctr"/>
          <a:lstStyle/>
          <a:p>
            <a:pPr indent="0" marL="0">
              <a:lnSpc>
                <a:spcPts val="1500"/>
              </a:lnSpc>
              <a:buNone/>
            </a:pPr>
            <a:r>
              <a:rPr lang="en-US" sz="1100" dirty="0">
                <a:solidFill>
                  <a:srgbClr val="A9B6C6"/>
                </a:solidFill>
                <a:latin typeface="Arial" pitchFamily="34" charset="0"/>
                <a:ea typeface="Arial" pitchFamily="34" charset="-122"/>
                <a:cs typeface="Arial" pitchFamily="34" charset="-120"/>
              </a:rPr>
              <a:t>Deadline state machine</a:t>
            </a:r>
            <a:endParaRPr lang="en-US" sz="1100" dirty="0"/>
          </a:p>
          <a:p>
            <a:pPr indent="0" marL="0">
              <a:lnSpc>
                <a:spcPts val="1500"/>
              </a:lnSpc>
              <a:buNone/>
            </a:pPr>
            <a:r>
              <a:rPr lang="en-US" sz="1100" dirty="0">
                <a:solidFill>
                  <a:srgbClr val="A9B6C6"/>
                </a:solidFill>
                <a:latin typeface="Arial" pitchFamily="34" charset="0"/>
                <a:ea typeface="Arial" pitchFamily="34" charset="-122"/>
                <a:cs typeface="Arial" pitchFamily="34" charset="-120"/>
              </a:rPr>
              <a:t>runs without a caller</a:t>
            </a:r>
            <a:endParaRPr lang="en-US" sz="1100" dirty="0"/>
          </a:p>
        </p:txBody>
      </p:sp>
      <p:sp>
        <p:nvSpPr>
          <p:cNvPr id="16" name="Shape 14"/>
          <p:cNvSpPr/>
          <p:nvPr/>
        </p:nvSpPr>
        <p:spPr>
          <a:xfrm>
            <a:off x="6931152" y="2944368"/>
            <a:ext cx="182880" cy="0"/>
          </a:xfrm>
          <a:prstGeom prst="line">
            <a:avLst/>
          </a:prstGeom>
          <a:noFill/>
          <a:ln w="19050">
            <a:solidFill>
              <a:srgbClr val="273140"/>
            </a:solidFill>
            <a:prstDash val="solid"/>
            <a:tailEnd type="triangle"/>
          </a:ln>
        </p:spPr>
      </p:sp>
      <p:sp>
        <p:nvSpPr>
          <p:cNvPr id="17" name="Shape 15"/>
          <p:cNvSpPr/>
          <p:nvPr/>
        </p:nvSpPr>
        <p:spPr>
          <a:xfrm>
            <a:off x="7150608" y="2212848"/>
            <a:ext cx="1975104" cy="1463040"/>
          </a:xfrm>
          <a:prstGeom prst="roundRect">
            <a:avLst>
              <a:gd name="adj" fmla="val 3125"/>
            </a:avLst>
          </a:prstGeom>
          <a:solidFill>
            <a:srgbClr val="141A24"/>
          </a:solidFill>
          <a:ln w="12700">
            <a:solidFill>
              <a:srgbClr val="273140"/>
            </a:solidFill>
            <a:prstDash val="solid"/>
          </a:ln>
        </p:spPr>
      </p:sp>
      <p:sp>
        <p:nvSpPr>
          <p:cNvPr id="18" name="Text 16"/>
          <p:cNvSpPr/>
          <p:nvPr/>
        </p:nvSpPr>
        <p:spPr>
          <a:xfrm>
            <a:off x="7315200" y="2340864"/>
            <a:ext cx="457200" cy="237744"/>
          </a:xfrm>
          <a:prstGeom prst="rect">
            <a:avLst/>
          </a:prstGeom>
          <a:noFill/>
          <a:ln/>
        </p:spPr>
        <p:txBody>
          <a:bodyPr wrap="square" lIns="0" tIns="0" rIns="0" bIns="0" rtlCol="0" anchor="ctr"/>
          <a:lstStyle/>
          <a:p>
            <a:pPr indent="0" marL="0">
              <a:buNone/>
            </a:pPr>
            <a:r>
              <a:rPr lang="en-US" sz="900" spc="100" kern="0" dirty="0">
                <a:solidFill>
                  <a:srgbClr val="C6F24E"/>
                </a:solidFill>
                <a:latin typeface="Courier New" pitchFamily="34" charset="0"/>
                <a:ea typeface="Courier New" pitchFamily="34" charset="-122"/>
                <a:cs typeface="Courier New" pitchFamily="34" charset="-120"/>
              </a:rPr>
              <a:t>3</a:t>
            </a:r>
            <a:endParaRPr lang="en-US" sz="900" dirty="0"/>
          </a:p>
        </p:txBody>
      </p:sp>
      <p:sp>
        <p:nvSpPr>
          <p:cNvPr id="19" name="Text 17"/>
          <p:cNvSpPr/>
          <p:nvPr/>
        </p:nvSpPr>
        <p:spPr>
          <a:xfrm>
            <a:off x="7315200" y="2633472"/>
            <a:ext cx="1691640" cy="932688"/>
          </a:xfrm>
          <a:prstGeom prst="rect">
            <a:avLst/>
          </a:prstGeom>
          <a:noFill/>
          <a:ln/>
        </p:spPr>
        <p:txBody>
          <a:bodyPr wrap="square" lIns="0" tIns="0" rIns="0" bIns="0" rtlCol="0" anchor="ctr"/>
          <a:lstStyle/>
          <a:p>
            <a:pPr indent="0" marL="0">
              <a:lnSpc>
                <a:spcPts val="1500"/>
              </a:lnSpc>
              <a:buNone/>
            </a:pPr>
            <a:r>
              <a:rPr lang="en-US" sz="1100" dirty="0">
                <a:solidFill>
                  <a:srgbClr val="A9B6C6"/>
                </a:solidFill>
                <a:latin typeface="Arial" pitchFamily="34" charset="0"/>
                <a:ea typeface="Arial" pitchFamily="34" charset="-122"/>
                <a:cs typeface="Arial" pitchFamily="34" charset="-120"/>
              </a:rPr>
              <a:t>Qualified recipients</a:t>
            </a:r>
            <a:endParaRPr lang="en-US" sz="1100" dirty="0"/>
          </a:p>
          <a:p>
            <a:pPr indent="0" marL="0">
              <a:lnSpc>
                <a:spcPts val="1500"/>
              </a:lnSpc>
              <a:buNone/>
            </a:pPr>
            <a:r>
              <a:rPr lang="en-US" sz="1100" dirty="0">
                <a:solidFill>
                  <a:srgbClr val="A9B6C6"/>
                </a:solidFill>
                <a:latin typeface="Arial" pitchFamily="34" charset="0"/>
                <a:ea typeface="Arial" pitchFamily="34" charset="-122"/>
                <a:cs typeface="Arial" pitchFamily="34" charset="-120"/>
              </a:rPr>
              <a:t>committed onchain</a:t>
            </a:r>
            <a:endParaRPr lang="en-US" sz="1100" dirty="0"/>
          </a:p>
        </p:txBody>
      </p:sp>
      <p:sp>
        <p:nvSpPr>
          <p:cNvPr id="20" name="Shape 18"/>
          <p:cNvSpPr/>
          <p:nvPr/>
        </p:nvSpPr>
        <p:spPr>
          <a:xfrm>
            <a:off x="9162288" y="2944368"/>
            <a:ext cx="182880" cy="0"/>
          </a:xfrm>
          <a:prstGeom prst="line">
            <a:avLst/>
          </a:prstGeom>
          <a:noFill/>
          <a:ln w="19050">
            <a:solidFill>
              <a:srgbClr val="273140"/>
            </a:solidFill>
            <a:prstDash val="solid"/>
            <a:tailEnd type="triangle"/>
          </a:ln>
        </p:spPr>
      </p:sp>
      <p:sp>
        <p:nvSpPr>
          <p:cNvPr id="21" name="Shape 19"/>
          <p:cNvSpPr/>
          <p:nvPr/>
        </p:nvSpPr>
        <p:spPr>
          <a:xfrm>
            <a:off x="9381744" y="2212848"/>
            <a:ext cx="1975104" cy="1463040"/>
          </a:xfrm>
          <a:prstGeom prst="roundRect">
            <a:avLst>
              <a:gd name="adj" fmla="val 3125"/>
            </a:avLst>
          </a:prstGeom>
          <a:solidFill>
            <a:srgbClr val="141A24"/>
          </a:solidFill>
          <a:ln w="12700">
            <a:solidFill>
              <a:srgbClr val="273140"/>
            </a:solidFill>
            <a:prstDash val="solid"/>
          </a:ln>
        </p:spPr>
      </p:sp>
      <p:sp>
        <p:nvSpPr>
          <p:cNvPr id="22" name="Text 20"/>
          <p:cNvSpPr/>
          <p:nvPr/>
        </p:nvSpPr>
        <p:spPr>
          <a:xfrm>
            <a:off x="9546336" y="2340864"/>
            <a:ext cx="457200" cy="237744"/>
          </a:xfrm>
          <a:prstGeom prst="rect">
            <a:avLst/>
          </a:prstGeom>
          <a:noFill/>
          <a:ln/>
        </p:spPr>
        <p:txBody>
          <a:bodyPr wrap="square" lIns="0" tIns="0" rIns="0" bIns="0" rtlCol="0" anchor="ctr"/>
          <a:lstStyle/>
          <a:p>
            <a:pPr indent="0" marL="0">
              <a:buNone/>
            </a:pPr>
            <a:r>
              <a:rPr lang="en-US" sz="900" spc="100" kern="0" dirty="0">
                <a:solidFill>
                  <a:srgbClr val="C6F24E"/>
                </a:solidFill>
                <a:latin typeface="Courier New" pitchFamily="34" charset="0"/>
                <a:ea typeface="Courier New" pitchFamily="34" charset="-122"/>
                <a:cs typeface="Courier New" pitchFamily="34" charset="-120"/>
              </a:rPr>
              <a:t>4</a:t>
            </a:r>
            <a:endParaRPr lang="en-US" sz="900" dirty="0"/>
          </a:p>
        </p:txBody>
      </p:sp>
      <p:sp>
        <p:nvSpPr>
          <p:cNvPr id="23" name="Text 21"/>
          <p:cNvSpPr/>
          <p:nvPr/>
        </p:nvSpPr>
        <p:spPr>
          <a:xfrm>
            <a:off x="9546336" y="2633472"/>
            <a:ext cx="1691640" cy="932688"/>
          </a:xfrm>
          <a:prstGeom prst="rect">
            <a:avLst/>
          </a:prstGeom>
          <a:noFill/>
          <a:ln/>
        </p:spPr>
        <p:txBody>
          <a:bodyPr wrap="square" lIns="0" tIns="0" rIns="0" bIns="0" rtlCol="0" anchor="ctr"/>
          <a:lstStyle/>
          <a:p>
            <a:pPr indent="0" marL="0">
              <a:lnSpc>
                <a:spcPts val="1500"/>
              </a:lnSpc>
              <a:buNone/>
            </a:pPr>
            <a:r>
              <a:rPr lang="en-US" sz="1100" dirty="0">
                <a:solidFill>
                  <a:srgbClr val="A9B6C6"/>
                </a:solidFill>
                <a:latin typeface="Arial" pitchFamily="34" charset="0"/>
                <a:ea typeface="Arial" pitchFamily="34" charset="-122"/>
                <a:cs typeface="Arial" pitchFamily="34" charset="-120"/>
              </a:rPr>
              <a:t>Bounded payout to</a:t>
            </a:r>
            <a:endParaRPr lang="en-US" sz="1100" dirty="0"/>
          </a:p>
          <a:p>
            <a:pPr indent="0" marL="0">
              <a:lnSpc>
                <a:spcPts val="1500"/>
              </a:lnSpc>
              <a:buNone/>
            </a:pPr>
            <a:r>
              <a:rPr lang="en-US" sz="1100" dirty="0">
                <a:solidFill>
                  <a:srgbClr val="A9B6C6"/>
                </a:solidFill>
                <a:latin typeface="Arial" pitchFamily="34" charset="0"/>
                <a:ea typeface="Arial" pitchFamily="34" charset="-122"/>
                <a:cs typeface="Arial" pitchFamily="34" charset="-120"/>
              </a:rPr>
              <a:t>one, two or three wallets</a:t>
            </a:r>
            <a:endParaRPr lang="en-US" sz="1100" dirty="0"/>
          </a:p>
        </p:txBody>
      </p:sp>
      <p:sp>
        <p:nvSpPr>
          <p:cNvPr id="24" name="Shape 22"/>
          <p:cNvSpPr/>
          <p:nvPr/>
        </p:nvSpPr>
        <p:spPr>
          <a:xfrm>
            <a:off x="685800" y="4041648"/>
            <a:ext cx="1691640" cy="1463040"/>
          </a:xfrm>
          <a:prstGeom prst="roundRect">
            <a:avLst>
              <a:gd name="adj" fmla="val 3750"/>
            </a:avLst>
          </a:prstGeom>
          <a:solidFill>
            <a:srgbClr val="101A2B"/>
          </a:solidFill>
          <a:ln w="15875">
            <a:solidFill>
              <a:srgbClr val="2A4570"/>
            </a:solidFill>
            <a:prstDash val="solid"/>
          </a:ln>
        </p:spPr>
      </p:sp>
      <p:sp>
        <p:nvSpPr>
          <p:cNvPr id="25" name="Text 23"/>
          <p:cNvSpPr/>
          <p:nvPr/>
        </p:nvSpPr>
        <p:spPr>
          <a:xfrm>
            <a:off x="868680" y="4279392"/>
            <a:ext cx="1371600" cy="365760"/>
          </a:xfrm>
          <a:prstGeom prst="rect">
            <a:avLst/>
          </a:prstGeom>
          <a:noFill/>
          <a:ln/>
        </p:spPr>
        <p:txBody>
          <a:bodyPr wrap="square" lIns="0" tIns="0" rIns="0" bIns="0" rtlCol="0" anchor="ctr"/>
          <a:lstStyle/>
          <a:p>
            <a:pPr indent="0" marL="0">
              <a:buNone/>
            </a:pPr>
            <a:r>
              <a:rPr lang="en-US" sz="2000" b="1" spc="100" kern="0" dirty="0">
                <a:solidFill>
                  <a:srgbClr val="5B9BFF"/>
                </a:solidFill>
                <a:latin typeface="Arial" pitchFamily="34" charset="0"/>
                <a:ea typeface="Arial" pitchFamily="34" charset="-122"/>
                <a:cs typeface="Arial" pitchFamily="34" charset="-120"/>
              </a:rPr>
              <a:t>CIRCLE</a:t>
            </a:r>
            <a:endParaRPr lang="en-US" sz="2000" dirty="0"/>
          </a:p>
        </p:txBody>
      </p:sp>
      <p:sp>
        <p:nvSpPr>
          <p:cNvPr id="26" name="Text 24"/>
          <p:cNvSpPr/>
          <p:nvPr/>
        </p:nvSpPr>
        <p:spPr>
          <a:xfrm>
            <a:off x="868680" y="4718304"/>
            <a:ext cx="1371600" cy="502920"/>
          </a:xfrm>
          <a:prstGeom prst="rect">
            <a:avLst/>
          </a:prstGeom>
          <a:noFill/>
          <a:ln/>
        </p:spPr>
        <p:txBody>
          <a:bodyPr wrap="square" lIns="0" tIns="0" rIns="0" bIns="0" rtlCol="0" anchor="ctr"/>
          <a:lstStyle/>
          <a:p>
            <a:pPr indent="0" marL="0">
              <a:lnSpc>
                <a:spcPts val="1100"/>
              </a:lnSpc>
              <a:buNone/>
            </a:pPr>
            <a:r>
              <a:rPr lang="en-US" sz="850" dirty="0">
                <a:solidFill>
                  <a:srgbClr val="7C8899"/>
                </a:solidFill>
                <a:latin typeface="Courier New" pitchFamily="34" charset="0"/>
                <a:ea typeface="Courier New" pitchFamily="34" charset="-122"/>
                <a:cs typeface="Courier New" pitchFamily="34" charset="-120"/>
              </a:rPr>
              <a:t>agent</a:t>
            </a:r>
            <a:endParaRPr lang="en-US" sz="850" dirty="0"/>
          </a:p>
          <a:p>
            <a:pPr indent="0" marL="0">
              <a:lnSpc>
                <a:spcPts val="1100"/>
              </a:lnSpc>
              <a:buNone/>
            </a:pPr>
            <a:r>
              <a:rPr lang="en-US" sz="850" dirty="0">
                <a:solidFill>
                  <a:srgbClr val="7C8899"/>
                </a:solidFill>
                <a:latin typeface="Courier New" pitchFamily="34" charset="0"/>
                <a:ea typeface="Courier New" pitchFamily="34" charset="-122"/>
                <a:cs typeface="Courier New" pitchFamily="34" charset="-120"/>
              </a:rPr>
              <a:t>commerce</a:t>
            </a:r>
            <a:endParaRPr lang="en-US" sz="850" dirty="0"/>
          </a:p>
        </p:txBody>
      </p:sp>
      <p:sp>
        <p:nvSpPr>
          <p:cNvPr id="27" name="Shape 25"/>
          <p:cNvSpPr/>
          <p:nvPr/>
        </p:nvSpPr>
        <p:spPr>
          <a:xfrm>
            <a:off x="2688336" y="4041648"/>
            <a:ext cx="1975104" cy="1463040"/>
          </a:xfrm>
          <a:prstGeom prst="roundRect">
            <a:avLst>
              <a:gd name="adj" fmla="val 3125"/>
            </a:avLst>
          </a:prstGeom>
          <a:solidFill>
            <a:srgbClr val="141A24"/>
          </a:solidFill>
          <a:ln w="12700">
            <a:solidFill>
              <a:srgbClr val="273140"/>
            </a:solidFill>
            <a:prstDash val="solid"/>
          </a:ln>
        </p:spPr>
      </p:sp>
      <p:sp>
        <p:nvSpPr>
          <p:cNvPr id="28" name="Text 26"/>
          <p:cNvSpPr/>
          <p:nvPr/>
        </p:nvSpPr>
        <p:spPr>
          <a:xfrm>
            <a:off x="2852928" y="4169664"/>
            <a:ext cx="457200" cy="237744"/>
          </a:xfrm>
          <a:prstGeom prst="rect">
            <a:avLst/>
          </a:prstGeom>
          <a:noFill/>
          <a:ln/>
        </p:spPr>
        <p:txBody>
          <a:bodyPr wrap="square" lIns="0" tIns="0" rIns="0" bIns="0" rtlCol="0" anchor="ctr"/>
          <a:lstStyle/>
          <a:p>
            <a:pPr indent="0" marL="0">
              <a:buNone/>
            </a:pPr>
            <a:r>
              <a:rPr lang="en-US" sz="900" spc="100" kern="0" dirty="0">
                <a:solidFill>
                  <a:srgbClr val="5B9BFF"/>
                </a:solidFill>
                <a:latin typeface="Courier New" pitchFamily="34" charset="0"/>
                <a:ea typeface="Courier New" pitchFamily="34" charset="-122"/>
                <a:cs typeface="Courier New" pitchFamily="34" charset="-120"/>
              </a:rPr>
              <a:t>1</a:t>
            </a:r>
            <a:endParaRPr lang="en-US" sz="900" dirty="0"/>
          </a:p>
        </p:txBody>
      </p:sp>
      <p:sp>
        <p:nvSpPr>
          <p:cNvPr id="29" name="Text 27"/>
          <p:cNvSpPr/>
          <p:nvPr/>
        </p:nvSpPr>
        <p:spPr>
          <a:xfrm>
            <a:off x="2852928" y="4462272"/>
            <a:ext cx="1691640" cy="932688"/>
          </a:xfrm>
          <a:prstGeom prst="rect">
            <a:avLst/>
          </a:prstGeom>
          <a:noFill/>
          <a:ln/>
        </p:spPr>
        <p:txBody>
          <a:bodyPr wrap="square" lIns="0" tIns="0" rIns="0" bIns="0" rtlCol="0" anchor="ctr"/>
          <a:lstStyle/>
          <a:p>
            <a:pPr indent="0" marL="0">
              <a:lnSpc>
                <a:spcPts val="1500"/>
              </a:lnSpc>
              <a:buNone/>
            </a:pPr>
            <a:r>
              <a:rPr lang="en-US" sz="1100" dirty="0">
                <a:solidFill>
                  <a:srgbClr val="A9B6C6"/>
                </a:solidFill>
                <a:latin typeface="Arial" pitchFamily="34" charset="0"/>
                <a:ea typeface="Arial" pitchFamily="34" charset="-122"/>
                <a:cs typeface="Arial" pitchFamily="34" charset="-120"/>
              </a:rPr>
              <a:t>Agent receives an x402</a:t>
            </a:r>
            <a:endParaRPr lang="en-US" sz="1100" dirty="0"/>
          </a:p>
          <a:p>
            <a:pPr indent="0" marL="0">
              <a:lnSpc>
                <a:spcPts val="1500"/>
              </a:lnSpc>
              <a:buNone/>
            </a:pPr>
            <a:r>
              <a:rPr lang="en-US" sz="1100" dirty="0">
                <a:solidFill>
                  <a:srgbClr val="A9B6C6"/>
                </a:solidFill>
                <a:latin typeface="Arial" pitchFamily="34" charset="0"/>
                <a:ea typeface="Arial" pitchFamily="34" charset="-122"/>
                <a:cs typeface="Arial" pitchFamily="34" charset="-120"/>
              </a:rPr>
              <a:t>quote for a service</a:t>
            </a:r>
            <a:endParaRPr lang="en-US" sz="1100" dirty="0"/>
          </a:p>
        </p:txBody>
      </p:sp>
      <p:sp>
        <p:nvSpPr>
          <p:cNvPr id="30" name="Shape 28"/>
          <p:cNvSpPr/>
          <p:nvPr/>
        </p:nvSpPr>
        <p:spPr>
          <a:xfrm>
            <a:off x="4700016" y="4773168"/>
            <a:ext cx="182880" cy="0"/>
          </a:xfrm>
          <a:prstGeom prst="line">
            <a:avLst/>
          </a:prstGeom>
          <a:noFill/>
          <a:ln w="19050">
            <a:solidFill>
              <a:srgbClr val="273140"/>
            </a:solidFill>
            <a:prstDash val="solid"/>
            <a:tailEnd type="triangle"/>
          </a:ln>
        </p:spPr>
      </p:sp>
      <p:sp>
        <p:nvSpPr>
          <p:cNvPr id="31" name="Shape 29"/>
          <p:cNvSpPr/>
          <p:nvPr/>
        </p:nvSpPr>
        <p:spPr>
          <a:xfrm>
            <a:off x="4919472" y="4041648"/>
            <a:ext cx="1975104" cy="1463040"/>
          </a:xfrm>
          <a:prstGeom prst="roundRect">
            <a:avLst>
              <a:gd name="adj" fmla="val 3125"/>
            </a:avLst>
          </a:prstGeom>
          <a:solidFill>
            <a:srgbClr val="141A24"/>
          </a:solidFill>
          <a:ln w="12700">
            <a:solidFill>
              <a:srgbClr val="273140"/>
            </a:solidFill>
            <a:prstDash val="solid"/>
          </a:ln>
        </p:spPr>
      </p:sp>
      <p:sp>
        <p:nvSpPr>
          <p:cNvPr id="32" name="Text 30"/>
          <p:cNvSpPr/>
          <p:nvPr/>
        </p:nvSpPr>
        <p:spPr>
          <a:xfrm>
            <a:off x="5084064" y="4169664"/>
            <a:ext cx="457200" cy="237744"/>
          </a:xfrm>
          <a:prstGeom prst="rect">
            <a:avLst/>
          </a:prstGeom>
          <a:noFill/>
          <a:ln/>
        </p:spPr>
        <p:txBody>
          <a:bodyPr wrap="square" lIns="0" tIns="0" rIns="0" bIns="0" rtlCol="0" anchor="ctr"/>
          <a:lstStyle/>
          <a:p>
            <a:pPr indent="0" marL="0">
              <a:buNone/>
            </a:pPr>
            <a:r>
              <a:rPr lang="en-US" sz="900" spc="100" kern="0" dirty="0">
                <a:solidFill>
                  <a:srgbClr val="5B9BFF"/>
                </a:solidFill>
                <a:latin typeface="Courier New" pitchFamily="34" charset="0"/>
                <a:ea typeface="Courier New" pitchFamily="34" charset="-122"/>
                <a:cs typeface="Courier New" pitchFamily="34" charset="-120"/>
              </a:rPr>
              <a:t>2</a:t>
            </a:r>
            <a:endParaRPr lang="en-US" sz="900" dirty="0"/>
          </a:p>
        </p:txBody>
      </p:sp>
      <p:sp>
        <p:nvSpPr>
          <p:cNvPr id="33" name="Text 31"/>
          <p:cNvSpPr/>
          <p:nvPr/>
        </p:nvSpPr>
        <p:spPr>
          <a:xfrm>
            <a:off x="5084064" y="4462272"/>
            <a:ext cx="1691640" cy="932688"/>
          </a:xfrm>
          <a:prstGeom prst="rect">
            <a:avLst/>
          </a:prstGeom>
          <a:noFill/>
          <a:ln/>
        </p:spPr>
        <p:txBody>
          <a:bodyPr wrap="square" lIns="0" tIns="0" rIns="0" bIns="0" rtlCol="0" anchor="ctr"/>
          <a:lstStyle/>
          <a:p>
            <a:pPr indent="0" marL="0">
              <a:lnSpc>
                <a:spcPts val="1500"/>
              </a:lnSpc>
              <a:buNone/>
            </a:pPr>
            <a:r>
              <a:rPr lang="en-US" sz="1100" dirty="0">
                <a:solidFill>
                  <a:srgbClr val="A9B6C6"/>
                </a:solidFill>
                <a:latin typeface="Arial" pitchFamily="34" charset="0"/>
                <a:ea typeface="Arial" pitchFamily="34" charset="-122"/>
                <a:cs typeface="Arial" pitchFamily="34" charset="-120"/>
              </a:rPr>
              <a:t>Price and origin checked</a:t>
            </a:r>
            <a:endParaRPr lang="en-US" sz="1100" dirty="0"/>
          </a:p>
          <a:p>
            <a:pPr indent="0" marL="0">
              <a:lnSpc>
                <a:spcPts val="1500"/>
              </a:lnSpc>
              <a:buNone/>
            </a:pPr>
            <a:r>
              <a:rPr lang="en-US" sz="1100" dirty="0">
                <a:solidFill>
                  <a:srgbClr val="A9B6C6"/>
                </a:solidFill>
                <a:latin typeface="Arial" pitchFamily="34" charset="0"/>
                <a:ea typeface="Arial" pitchFamily="34" charset="-122"/>
                <a:cs typeface="Arial" pitchFamily="34" charset="-120"/>
              </a:rPr>
              <a:t>against spend policy</a:t>
            </a:r>
            <a:endParaRPr lang="en-US" sz="1100" dirty="0"/>
          </a:p>
        </p:txBody>
      </p:sp>
      <p:sp>
        <p:nvSpPr>
          <p:cNvPr id="34" name="Shape 32"/>
          <p:cNvSpPr/>
          <p:nvPr/>
        </p:nvSpPr>
        <p:spPr>
          <a:xfrm>
            <a:off x="6931152" y="4773168"/>
            <a:ext cx="182880" cy="0"/>
          </a:xfrm>
          <a:prstGeom prst="line">
            <a:avLst/>
          </a:prstGeom>
          <a:noFill/>
          <a:ln w="19050">
            <a:solidFill>
              <a:srgbClr val="273140"/>
            </a:solidFill>
            <a:prstDash val="solid"/>
            <a:tailEnd type="triangle"/>
          </a:ln>
        </p:spPr>
      </p:sp>
      <p:sp>
        <p:nvSpPr>
          <p:cNvPr id="35" name="Shape 33"/>
          <p:cNvSpPr/>
          <p:nvPr/>
        </p:nvSpPr>
        <p:spPr>
          <a:xfrm>
            <a:off x="7150608" y="4041648"/>
            <a:ext cx="1975104" cy="1463040"/>
          </a:xfrm>
          <a:prstGeom prst="roundRect">
            <a:avLst>
              <a:gd name="adj" fmla="val 3125"/>
            </a:avLst>
          </a:prstGeom>
          <a:solidFill>
            <a:srgbClr val="141A24"/>
          </a:solidFill>
          <a:ln w="12700">
            <a:solidFill>
              <a:srgbClr val="273140"/>
            </a:solidFill>
            <a:prstDash val="solid"/>
          </a:ln>
        </p:spPr>
      </p:sp>
      <p:sp>
        <p:nvSpPr>
          <p:cNvPr id="36" name="Text 34"/>
          <p:cNvSpPr/>
          <p:nvPr/>
        </p:nvSpPr>
        <p:spPr>
          <a:xfrm>
            <a:off x="7315200" y="4169664"/>
            <a:ext cx="457200" cy="237744"/>
          </a:xfrm>
          <a:prstGeom prst="rect">
            <a:avLst/>
          </a:prstGeom>
          <a:noFill/>
          <a:ln/>
        </p:spPr>
        <p:txBody>
          <a:bodyPr wrap="square" lIns="0" tIns="0" rIns="0" bIns="0" rtlCol="0" anchor="ctr"/>
          <a:lstStyle/>
          <a:p>
            <a:pPr indent="0" marL="0">
              <a:buNone/>
            </a:pPr>
            <a:r>
              <a:rPr lang="en-US" sz="900" spc="100" kern="0" dirty="0">
                <a:solidFill>
                  <a:srgbClr val="5B9BFF"/>
                </a:solidFill>
                <a:latin typeface="Courier New" pitchFamily="34" charset="0"/>
                <a:ea typeface="Courier New" pitchFamily="34" charset="-122"/>
                <a:cs typeface="Courier New" pitchFamily="34" charset="-120"/>
              </a:rPr>
              <a:t>3</a:t>
            </a:r>
            <a:endParaRPr lang="en-US" sz="900" dirty="0"/>
          </a:p>
        </p:txBody>
      </p:sp>
      <p:sp>
        <p:nvSpPr>
          <p:cNvPr id="37" name="Text 35"/>
          <p:cNvSpPr/>
          <p:nvPr/>
        </p:nvSpPr>
        <p:spPr>
          <a:xfrm>
            <a:off x="7315200" y="4462272"/>
            <a:ext cx="1691640" cy="932688"/>
          </a:xfrm>
          <a:prstGeom prst="rect">
            <a:avLst/>
          </a:prstGeom>
          <a:noFill/>
          <a:ln/>
        </p:spPr>
        <p:txBody>
          <a:bodyPr wrap="square" lIns="0" tIns="0" rIns="0" bIns="0" rtlCol="0" anchor="ctr"/>
          <a:lstStyle/>
          <a:p>
            <a:pPr indent="0" marL="0">
              <a:lnSpc>
                <a:spcPts val="1500"/>
              </a:lnSpc>
              <a:buNone/>
            </a:pPr>
            <a:r>
              <a:rPr lang="en-US" sz="1100" dirty="0">
                <a:solidFill>
                  <a:srgbClr val="A9B6C6"/>
                </a:solidFill>
                <a:latin typeface="Arial" pitchFamily="34" charset="0"/>
                <a:ea typeface="Arial" pitchFamily="34" charset="-122"/>
                <a:cs typeface="Arial" pitchFamily="34" charset="-120"/>
              </a:rPr>
              <a:t>Bounded USDC payment</a:t>
            </a:r>
            <a:endParaRPr lang="en-US" sz="1100" dirty="0"/>
          </a:p>
          <a:p>
            <a:pPr indent="0" marL="0">
              <a:lnSpc>
                <a:spcPts val="1500"/>
              </a:lnSpc>
              <a:buNone/>
            </a:pPr>
            <a:r>
              <a:rPr lang="en-US" sz="1100" dirty="0">
                <a:solidFill>
                  <a:srgbClr val="A9B6C6"/>
                </a:solidFill>
                <a:latin typeface="Arial" pitchFamily="34" charset="0"/>
                <a:ea typeface="Arial" pitchFamily="34" charset="-122"/>
                <a:cs typeface="Arial" pitchFamily="34" charset="-120"/>
              </a:rPr>
              <a:t>authorised and sent</a:t>
            </a:r>
            <a:endParaRPr lang="en-US" sz="1100" dirty="0"/>
          </a:p>
        </p:txBody>
      </p:sp>
      <p:sp>
        <p:nvSpPr>
          <p:cNvPr id="38" name="Shape 36"/>
          <p:cNvSpPr/>
          <p:nvPr/>
        </p:nvSpPr>
        <p:spPr>
          <a:xfrm>
            <a:off x="9162288" y="4773168"/>
            <a:ext cx="182880" cy="0"/>
          </a:xfrm>
          <a:prstGeom prst="line">
            <a:avLst/>
          </a:prstGeom>
          <a:noFill/>
          <a:ln w="19050">
            <a:solidFill>
              <a:srgbClr val="273140"/>
            </a:solidFill>
            <a:prstDash val="solid"/>
            <a:tailEnd type="triangle"/>
          </a:ln>
        </p:spPr>
      </p:sp>
      <p:sp>
        <p:nvSpPr>
          <p:cNvPr id="39" name="Shape 37"/>
          <p:cNvSpPr/>
          <p:nvPr/>
        </p:nvSpPr>
        <p:spPr>
          <a:xfrm>
            <a:off x="9381744" y="4041648"/>
            <a:ext cx="1975104" cy="1463040"/>
          </a:xfrm>
          <a:prstGeom prst="roundRect">
            <a:avLst>
              <a:gd name="adj" fmla="val 3125"/>
            </a:avLst>
          </a:prstGeom>
          <a:solidFill>
            <a:srgbClr val="141A24"/>
          </a:solidFill>
          <a:ln w="12700">
            <a:solidFill>
              <a:srgbClr val="273140"/>
            </a:solidFill>
            <a:prstDash val="solid"/>
          </a:ln>
        </p:spPr>
      </p:sp>
      <p:sp>
        <p:nvSpPr>
          <p:cNvPr id="40" name="Text 38"/>
          <p:cNvSpPr/>
          <p:nvPr/>
        </p:nvSpPr>
        <p:spPr>
          <a:xfrm>
            <a:off x="9546336" y="4169664"/>
            <a:ext cx="457200" cy="237744"/>
          </a:xfrm>
          <a:prstGeom prst="rect">
            <a:avLst/>
          </a:prstGeom>
          <a:noFill/>
          <a:ln/>
        </p:spPr>
        <p:txBody>
          <a:bodyPr wrap="square" lIns="0" tIns="0" rIns="0" bIns="0" rtlCol="0" anchor="ctr"/>
          <a:lstStyle/>
          <a:p>
            <a:pPr indent="0" marL="0">
              <a:buNone/>
            </a:pPr>
            <a:r>
              <a:rPr lang="en-US" sz="900" spc="100" kern="0" dirty="0">
                <a:solidFill>
                  <a:srgbClr val="5B9BFF"/>
                </a:solidFill>
                <a:latin typeface="Courier New" pitchFamily="34" charset="0"/>
                <a:ea typeface="Courier New" pitchFamily="34" charset="-122"/>
                <a:cs typeface="Courier New" pitchFamily="34" charset="-120"/>
              </a:rPr>
              <a:t>4</a:t>
            </a:r>
            <a:endParaRPr lang="en-US" sz="900" dirty="0"/>
          </a:p>
        </p:txBody>
      </p:sp>
      <p:sp>
        <p:nvSpPr>
          <p:cNvPr id="41" name="Text 39"/>
          <p:cNvSpPr/>
          <p:nvPr/>
        </p:nvSpPr>
        <p:spPr>
          <a:xfrm>
            <a:off x="9546336" y="4462272"/>
            <a:ext cx="1691640" cy="932688"/>
          </a:xfrm>
          <a:prstGeom prst="rect">
            <a:avLst/>
          </a:prstGeom>
          <a:noFill/>
          <a:ln/>
        </p:spPr>
        <p:txBody>
          <a:bodyPr wrap="square" lIns="0" tIns="0" rIns="0" bIns="0" rtlCol="0" anchor="ctr"/>
          <a:lstStyle/>
          <a:p>
            <a:pPr indent="0" marL="0">
              <a:lnSpc>
                <a:spcPts val="1500"/>
              </a:lnSpc>
              <a:buNone/>
            </a:pPr>
            <a:r>
              <a:rPr lang="en-US" sz="1100" dirty="0">
                <a:solidFill>
                  <a:srgbClr val="A9B6C6"/>
                </a:solidFill>
                <a:latin typeface="Arial" pitchFamily="34" charset="0"/>
                <a:ea typeface="Arial" pitchFamily="34" charset="-122"/>
                <a:cs typeface="Arial" pitchFamily="34" charset="-120"/>
              </a:rPr>
              <a:t>Settled payment evidence</a:t>
            </a:r>
            <a:endParaRPr lang="en-US" sz="1100" dirty="0"/>
          </a:p>
          <a:p>
            <a:pPr indent="0" marL="0">
              <a:lnSpc>
                <a:spcPts val="1500"/>
              </a:lnSpc>
              <a:buNone/>
            </a:pPr>
            <a:r>
              <a:rPr lang="en-US" sz="1100" dirty="0">
                <a:solidFill>
                  <a:srgbClr val="A9B6C6"/>
                </a:solidFill>
                <a:latin typeface="Arial" pitchFamily="34" charset="0"/>
                <a:ea typeface="Arial" pitchFamily="34" charset="-122"/>
                <a:cs typeface="Arial" pitchFamily="34" charset="-120"/>
              </a:rPr>
              <a:t>returned in real mode</a:t>
            </a:r>
            <a:endParaRPr lang="en-US" sz="1100" dirty="0"/>
          </a:p>
        </p:txBody>
      </p:sp>
      <p:sp>
        <p:nvSpPr>
          <p:cNvPr id="42" name="Shape 40"/>
          <p:cNvSpPr/>
          <p:nvPr/>
        </p:nvSpPr>
        <p:spPr>
          <a:xfrm>
            <a:off x="685800" y="5687568"/>
            <a:ext cx="10820095" cy="475488"/>
          </a:xfrm>
          <a:prstGeom prst="roundRect">
            <a:avLst>
              <a:gd name="adj" fmla="val 11538"/>
            </a:avLst>
          </a:prstGeom>
          <a:solidFill>
            <a:srgbClr val="141A24"/>
          </a:solidFill>
          <a:ln w="12700">
            <a:solidFill>
              <a:srgbClr val="273140"/>
            </a:solidFill>
            <a:prstDash val="solid"/>
          </a:ln>
        </p:spPr>
      </p:sp>
      <p:sp>
        <p:nvSpPr>
          <p:cNvPr id="43" name="Text 41"/>
          <p:cNvSpPr/>
          <p:nvPr/>
        </p:nvSpPr>
        <p:spPr>
          <a:xfrm>
            <a:off x="960120" y="5687568"/>
            <a:ext cx="10271455" cy="475488"/>
          </a:xfrm>
          <a:prstGeom prst="rect">
            <a:avLst/>
          </a:prstGeom>
          <a:noFill/>
          <a:ln/>
        </p:spPr>
        <p:txBody>
          <a:bodyPr wrap="square" lIns="0" tIns="0" rIns="0" bIns="0" rtlCol="0" anchor="ctr"/>
          <a:lstStyle/>
          <a:p>
            <a:pPr indent="0" marL="0">
              <a:buNone/>
            </a:pPr>
            <a:r>
              <a:rPr lang="en-US" sz="1250" b="1" dirty="0">
                <a:solidFill>
                  <a:srgbClr val="EDF1F7"/>
                </a:solidFill>
                <a:latin typeface="Arial" pitchFamily="34" charset="0"/>
                <a:ea typeface="Arial" pitchFamily="34" charset="-122"/>
                <a:cs typeface="Arial" pitchFamily="34" charset="-120"/>
              </a:rPr>
              <a:t>The web server prepares evidence. It cannot redirect the escrow.</a:t>
            </a:r>
            <a:pPr indent="0" marL="0">
              <a:buNone/>
            </a:pPr>
            <a:r>
              <a:rPr lang="en-US" sz="950" spc="40" kern="0" dirty="0">
                <a:solidFill>
                  <a:srgbClr val="7C8899"/>
                </a:solidFill>
                <a:latin typeface="Courier New" pitchFamily="34" charset="0"/>
                <a:ea typeface="Courier New" pitchFamily="34" charset="-122"/>
                <a:cs typeface="Courier New" pitchFamily="34" charset="-120"/>
              </a:rPr>
              <a:t>     Arc · USDC · Circle Wallets · x402 · App Kits</a:t>
            </a:r>
            <a:endParaRPr lang="en-US" sz="1250" dirty="0"/>
          </a:p>
        </p:txBody>
      </p:sp>
      <p:sp>
        <p:nvSpPr>
          <p:cNvPr id="44" name="Text 42"/>
          <p:cNvSpPr/>
          <p:nvPr/>
        </p:nvSpPr>
        <p:spPr>
          <a:xfrm>
            <a:off x="10774375" y="6309360"/>
            <a:ext cx="731520" cy="256032"/>
          </a:xfrm>
          <a:prstGeom prst="rect">
            <a:avLst/>
          </a:prstGeom>
          <a:noFill/>
          <a:ln/>
        </p:spPr>
        <p:txBody>
          <a:bodyPr wrap="square" lIns="0" tIns="0" rIns="0" bIns="0" rtlCol="0" anchor="ctr"/>
          <a:lstStyle/>
          <a:p>
            <a:pPr algn="r" indent="0" marL="0">
              <a:buNone/>
            </a:pPr>
            <a:r>
              <a:rPr lang="en-US" sz="1000" spc="100" kern="0" dirty="0">
                <a:solidFill>
                  <a:srgbClr val="7C8899"/>
                </a:solidFill>
                <a:latin typeface="Courier New" pitchFamily="34" charset="0"/>
                <a:ea typeface="Courier New" pitchFamily="34" charset="-122"/>
                <a:cs typeface="Courier New" pitchFamily="34" charset="-120"/>
              </a:rPr>
              <a:t>08</a:t>
            </a:r>
            <a:endParaRPr lang="en-US" sz="1000" dirty="0"/>
          </a:p>
        </p:txBody>
      </p:sp>
      <p:sp>
        <p:nvSpPr>
          <p:cNvPr id="45" name="Text 43"/>
          <p:cNvSpPr/>
          <p:nvPr/>
        </p:nvSpPr>
        <p:spPr>
          <a:xfrm>
            <a:off x="685800" y="6309360"/>
            <a:ext cx="2743200" cy="256032"/>
          </a:xfrm>
          <a:prstGeom prst="rect">
            <a:avLst/>
          </a:prstGeom>
          <a:noFill/>
          <a:ln/>
        </p:spPr>
        <p:txBody>
          <a:bodyPr wrap="square" lIns="0" tIns="0" rIns="0" bIns="0" rtlCol="0" anchor="ctr"/>
          <a:lstStyle/>
          <a:p>
            <a:pPr indent="0" marL="0">
              <a:buNone/>
            </a:pPr>
            <a:r>
              <a:rPr lang="en-US" sz="1000" spc="150" kern="0" dirty="0">
                <a:solidFill>
                  <a:srgbClr val="7C8899"/>
                </a:solidFill>
                <a:latin typeface="Courier New" pitchFamily="34" charset="0"/>
                <a:ea typeface="Courier New" pitchFamily="34" charset="-122"/>
                <a:cs typeface="Courier New" pitchFamily="34" charset="-120"/>
              </a:rPr>
              <a:t>DRAFTPAY</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A0D12"/>
        </a:solidFill>
      </p:bgPr>
    </p:bg>
    <p:spTree>
      <p:nvGrpSpPr>
        <p:cNvPr id="1" name=""/>
        <p:cNvGrpSpPr/>
        <p:nvPr/>
      </p:nvGrpSpPr>
      <p:grpSpPr>
        <a:xfrm>
          <a:off x="0" y="0"/>
          <a:ext cx="0" cy="0"/>
          <a:chOff x="0" y="0"/>
          <a:chExt cx="0" cy="0"/>
        </a:xfrm>
      </p:grpSpPr>
      <p:sp>
        <p:nvSpPr>
          <p:cNvPr id="2" name="Shape 0"/>
          <p:cNvSpPr/>
          <p:nvPr/>
        </p:nvSpPr>
        <p:spPr>
          <a:xfrm>
            <a:off x="685800" y="411480"/>
            <a:ext cx="1627632" cy="256032"/>
          </a:xfrm>
          <a:prstGeom prst="roundRect">
            <a:avLst>
              <a:gd name="adj" fmla="val 50000"/>
            </a:avLst>
          </a:prstGeom>
          <a:solidFill>
            <a:srgbClr val="1B2330"/>
          </a:solidFill>
          <a:ln w="12700">
            <a:solidFill>
              <a:srgbClr val="273140"/>
            </a:solidFill>
            <a:prstDash val="solid"/>
          </a:ln>
        </p:spPr>
      </p:sp>
      <p:sp>
        <p:nvSpPr>
          <p:cNvPr id="3" name="Text 1"/>
          <p:cNvSpPr/>
          <p:nvPr/>
        </p:nvSpPr>
        <p:spPr>
          <a:xfrm>
            <a:off x="685800" y="411480"/>
            <a:ext cx="1627632" cy="256032"/>
          </a:xfrm>
          <a:prstGeom prst="rect">
            <a:avLst/>
          </a:prstGeom>
          <a:noFill/>
          <a:ln/>
        </p:spPr>
        <p:txBody>
          <a:bodyPr wrap="square" lIns="0" tIns="0" rIns="0" bIns="0" rtlCol="0" anchor="ctr"/>
          <a:lstStyle/>
          <a:p>
            <a:pPr algn="ctr" indent="0" marL="0">
              <a:buNone/>
            </a:pPr>
            <a:r>
              <a:rPr lang="en-US" sz="900" b="1" spc="120" kern="0" dirty="0">
                <a:solidFill>
                  <a:srgbClr val="5B9BFF"/>
                </a:solidFill>
                <a:latin typeface="Courier New" pitchFamily="34" charset="0"/>
                <a:ea typeface="Courier New" pitchFamily="34" charset="-122"/>
                <a:cs typeface="Courier New" pitchFamily="34" charset="-120"/>
              </a:rPr>
              <a:t>08  /  WHY ARC</a:t>
            </a:r>
            <a:endParaRPr lang="en-US" sz="900" dirty="0"/>
          </a:p>
        </p:txBody>
      </p:sp>
      <p:sp>
        <p:nvSpPr>
          <p:cNvPr id="4" name="Text 2"/>
          <p:cNvSpPr/>
          <p:nvPr/>
        </p:nvSpPr>
        <p:spPr>
          <a:xfrm>
            <a:off x="685800" y="841248"/>
            <a:ext cx="10820095" cy="822960"/>
          </a:xfrm>
          <a:prstGeom prst="rect">
            <a:avLst/>
          </a:prstGeom>
          <a:noFill/>
          <a:ln/>
        </p:spPr>
        <p:txBody>
          <a:bodyPr wrap="square" lIns="0" tIns="0" rIns="0" bIns="0" rtlCol="0" anchor="t"/>
          <a:lstStyle/>
          <a:p>
            <a:pPr indent="0" marL="0">
              <a:lnSpc>
                <a:spcPts val="3800"/>
              </a:lnSpc>
              <a:buNone/>
            </a:pPr>
            <a:r>
              <a:rPr lang="en-US" sz="3200" b="1" spc="-30" kern="0" dirty="0">
                <a:solidFill>
                  <a:srgbClr val="EDF1F7"/>
                </a:solidFill>
                <a:latin typeface="Arial" pitchFamily="34" charset="0"/>
                <a:ea typeface="Arial" pitchFamily="34" charset="-122"/>
                <a:cs typeface="Arial" pitchFamily="34" charset="-120"/>
              </a:rPr>
              <a:t>A general-purpose chain breaks this.</a:t>
            </a:r>
            <a:endParaRPr lang="en-US" sz="3200" dirty="0"/>
          </a:p>
        </p:txBody>
      </p:sp>
      <p:sp>
        <p:nvSpPr>
          <p:cNvPr id="5" name="Shape 3"/>
          <p:cNvSpPr/>
          <p:nvPr/>
        </p:nvSpPr>
        <p:spPr>
          <a:xfrm>
            <a:off x="685800" y="1810512"/>
            <a:ext cx="5312664" cy="1874520"/>
          </a:xfrm>
          <a:prstGeom prst="roundRect">
            <a:avLst>
              <a:gd name="adj" fmla="val 2927"/>
            </a:avLst>
          </a:prstGeom>
          <a:solidFill>
            <a:srgbClr val="141A24"/>
          </a:solidFill>
          <a:ln w="12700">
            <a:solidFill>
              <a:srgbClr val="273140"/>
            </a:solidFill>
            <a:prstDash val="solid"/>
          </a:ln>
          <a:effectLst>
            <a:outerShdw sx="100000" sy="100000" kx="0" ky="0" algn="bl" rotWithShape="0" blurRad="177800" dist="50800" dir="5400000">
              <a:srgbClr val="000000">
                <a:alpha val="45000"/>
              </a:srgbClr>
            </a:outerShdw>
          </a:effectLst>
        </p:spPr>
      </p:sp>
      <p:sp>
        <p:nvSpPr>
          <p:cNvPr id="6" name="Shape 4"/>
          <p:cNvSpPr/>
          <p:nvPr/>
        </p:nvSpPr>
        <p:spPr>
          <a:xfrm>
            <a:off x="1033272" y="2139696"/>
            <a:ext cx="438912" cy="438912"/>
          </a:xfrm>
          <a:prstGeom prst="ellipse">
            <a:avLst/>
          </a:prstGeom>
          <a:solidFill>
            <a:srgbClr val="16233A"/>
          </a:solidFill>
          <a:ln w="12700">
            <a:solidFill>
              <a:srgbClr val="2775CA"/>
            </a:solidFill>
            <a:prstDash val="solid"/>
          </a:ln>
        </p:spPr>
      </p:sp>
      <p:pic>
        <p:nvPicPr>
          <p:cNvPr id="7" name="Image 0" descr="/home/claude/work/icons/dollar-blue.png">    </p:cNvPr>
          <p:cNvPicPr>
            <a:picLocks noChangeAspect="1"/>
          </p:cNvPicPr>
          <p:nvPr/>
        </p:nvPicPr>
        <p:blipFill>
          <a:blip r:embed="rId1"/>
          <a:stretch>
            <a:fillRect/>
          </a:stretch>
        </p:blipFill>
        <p:spPr>
          <a:xfrm>
            <a:off x="1143000" y="2249424"/>
            <a:ext cx="219456" cy="219456"/>
          </a:xfrm>
          <a:prstGeom prst="rect">
            <a:avLst/>
          </a:prstGeom>
        </p:spPr>
      </p:pic>
      <p:sp>
        <p:nvSpPr>
          <p:cNvPr id="8" name="Text 5"/>
          <p:cNvSpPr/>
          <p:nvPr/>
        </p:nvSpPr>
        <p:spPr>
          <a:xfrm>
            <a:off x="1618488" y="2157984"/>
            <a:ext cx="4114800" cy="329184"/>
          </a:xfrm>
          <a:prstGeom prst="rect">
            <a:avLst/>
          </a:prstGeom>
          <a:noFill/>
          <a:ln/>
        </p:spPr>
        <p:txBody>
          <a:bodyPr wrap="square" lIns="0" tIns="0" rIns="0" bIns="0" rtlCol="0" anchor="ctr"/>
          <a:lstStyle/>
          <a:p>
            <a:pPr indent="0" marL="0">
              <a:buNone/>
            </a:pPr>
            <a:r>
              <a:rPr lang="en-US" sz="1550" b="1" dirty="0">
                <a:solidFill>
                  <a:srgbClr val="EDF1F7"/>
                </a:solidFill>
                <a:latin typeface="Arial" pitchFamily="34" charset="0"/>
                <a:ea typeface="Arial" pitchFamily="34" charset="-122"/>
                <a:cs typeface="Arial" pitchFamily="34" charset="-120"/>
              </a:rPr>
              <a:t>Gas is denominated in USDC</a:t>
            </a:r>
            <a:endParaRPr lang="en-US" sz="1550" dirty="0"/>
          </a:p>
        </p:txBody>
      </p:sp>
      <p:sp>
        <p:nvSpPr>
          <p:cNvPr id="9" name="Text 6"/>
          <p:cNvSpPr/>
          <p:nvPr/>
        </p:nvSpPr>
        <p:spPr>
          <a:xfrm>
            <a:off x="1618488" y="2560320"/>
            <a:ext cx="4160520" cy="960120"/>
          </a:xfrm>
          <a:prstGeom prst="rect">
            <a:avLst/>
          </a:prstGeom>
          <a:noFill/>
          <a:ln/>
        </p:spPr>
        <p:txBody>
          <a:bodyPr wrap="square" lIns="0" tIns="0" rIns="0" bIns="0" rtlCol="0" anchor="ctr"/>
          <a:lstStyle/>
          <a:p>
            <a:pPr indent="0" marL="0">
              <a:lnSpc>
                <a:spcPts val="1650"/>
              </a:lnSpc>
              <a:buNone/>
            </a:pPr>
            <a:r>
              <a:rPr lang="en-US" sz="1150" dirty="0">
                <a:solidFill>
                  <a:srgbClr val="A9B6C6"/>
                </a:solidFill>
                <a:latin typeface="Arial" pitchFamily="34" charset="0"/>
                <a:ea typeface="Arial" pitchFamily="34" charset="-122"/>
                <a:cs typeface="Arial" pitchFamily="34" charset="-120"/>
              </a:rPr>
              <a:t>An agent holding only USDC can pay for its own settlement. No second asset to acquire, no bridge, no treasury babysitting for a wallet that lives four hours.</a:t>
            </a:r>
            <a:endParaRPr lang="en-US" sz="1150" dirty="0"/>
          </a:p>
        </p:txBody>
      </p:sp>
      <p:sp>
        <p:nvSpPr>
          <p:cNvPr id="10" name="Shape 7"/>
          <p:cNvSpPr/>
          <p:nvPr/>
        </p:nvSpPr>
        <p:spPr>
          <a:xfrm>
            <a:off x="6190488" y="1810512"/>
            <a:ext cx="5312664" cy="1874520"/>
          </a:xfrm>
          <a:prstGeom prst="roundRect">
            <a:avLst>
              <a:gd name="adj" fmla="val 2927"/>
            </a:avLst>
          </a:prstGeom>
          <a:solidFill>
            <a:srgbClr val="141A24"/>
          </a:solidFill>
          <a:ln w="12700">
            <a:solidFill>
              <a:srgbClr val="273140"/>
            </a:solidFill>
            <a:prstDash val="solid"/>
          </a:ln>
          <a:effectLst>
            <a:outerShdw sx="100000" sy="100000" kx="0" ky="0" algn="bl" rotWithShape="0" blurRad="177800" dist="50800" dir="5400000">
              <a:srgbClr val="000000">
                <a:alpha val="45000"/>
              </a:srgbClr>
            </a:outerShdw>
          </a:effectLst>
        </p:spPr>
      </p:sp>
      <p:sp>
        <p:nvSpPr>
          <p:cNvPr id="11" name="Shape 8"/>
          <p:cNvSpPr/>
          <p:nvPr/>
        </p:nvSpPr>
        <p:spPr>
          <a:xfrm>
            <a:off x="6537960" y="2139696"/>
            <a:ext cx="438912" cy="438912"/>
          </a:xfrm>
          <a:prstGeom prst="ellipse">
            <a:avLst/>
          </a:prstGeom>
          <a:solidFill>
            <a:srgbClr val="16233A"/>
          </a:solidFill>
          <a:ln w="12700">
            <a:solidFill>
              <a:srgbClr val="2775CA"/>
            </a:solidFill>
            <a:prstDash val="solid"/>
          </a:ln>
        </p:spPr>
      </p:sp>
      <p:pic>
        <p:nvPicPr>
          <p:cNvPr id="12" name="Image 1" descr="/home/claude/work/icons/zap-blue.png">    </p:cNvPr>
          <p:cNvPicPr>
            <a:picLocks noChangeAspect="1"/>
          </p:cNvPicPr>
          <p:nvPr/>
        </p:nvPicPr>
        <p:blipFill>
          <a:blip r:embed="rId2"/>
          <a:stretch>
            <a:fillRect/>
          </a:stretch>
        </p:blipFill>
        <p:spPr>
          <a:xfrm>
            <a:off x="6647688" y="2249424"/>
            <a:ext cx="219456" cy="219456"/>
          </a:xfrm>
          <a:prstGeom prst="rect">
            <a:avLst/>
          </a:prstGeom>
        </p:spPr>
      </p:pic>
      <p:sp>
        <p:nvSpPr>
          <p:cNvPr id="13" name="Text 9"/>
          <p:cNvSpPr/>
          <p:nvPr/>
        </p:nvSpPr>
        <p:spPr>
          <a:xfrm>
            <a:off x="7123176" y="2157984"/>
            <a:ext cx="4114800" cy="329184"/>
          </a:xfrm>
          <a:prstGeom prst="rect">
            <a:avLst/>
          </a:prstGeom>
          <a:noFill/>
          <a:ln/>
        </p:spPr>
        <p:txBody>
          <a:bodyPr wrap="square" lIns="0" tIns="0" rIns="0" bIns="0" rtlCol="0" anchor="ctr"/>
          <a:lstStyle/>
          <a:p>
            <a:pPr indent="0" marL="0">
              <a:buNone/>
            </a:pPr>
            <a:r>
              <a:rPr lang="en-US" sz="1550" b="1" dirty="0">
                <a:solidFill>
                  <a:srgbClr val="EDF1F7"/>
                </a:solidFill>
                <a:latin typeface="Arial" pitchFamily="34" charset="0"/>
                <a:ea typeface="Arial" pitchFamily="34" charset="-122"/>
                <a:cs typeface="Arial" pitchFamily="34" charset="-120"/>
              </a:rPr>
              <a:t>Sub-second finality</a:t>
            </a:r>
            <a:endParaRPr lang="en-US" sz="1550" dirty="0"/>
          </a:p>
        </p:txBody>
      </p:sp>
      <p:sp>
        <p:nvSpPr>
          <p:cNvPr id="14" name="Text 10"/>
          <p:cNvSpPr/>
          <p:nvPr/>
        </p:nvSpPr>
        <p:spPr>
          <a:xfrm>
            <a:off x="7123176" y="2560320"/>
            <a:ext cx="4160520" cy="960120"/>
          </a:xfrm>
          <a:prstGeom prst="rect">
            <a:avLst/>
          </a:prstGeom>
          <a:noFill/>
          <a:ln/>
        </p:spPr>
        <p:txBody>
          <a:bodyPr wrap="square" lIns="0" tIns="0" rIns="0" bIns="0" rtlCol="0" anchor="ctr"/>
          <a:lstStyle/>
          <a:p>
            <a:pPr indent="0" marL="0">
              <a:lnSpc>
                <a:spcPts val="1650"/>
              </a:lnSpc>
              <a:buNone/>
            </a:pPr>
            <a:r>
              <a:rPr lang="en-US" sz="1150" dirty="0">
                <a:solidFill>
                  <a:srgbClr val="A9B6C6"/>
                </a:solidFill>
                <a:latin typeface="Arial" pitchFamily="34" charset="0"/>
                <a:ea typeface="Arial" pitchFamily="34" charset="-122"/>
                <a:cs typeface="Arial" pitchFamily="34" charset="-120"/>
              </a:rPr>
              <a:t>A contest can open, close and pay inside a three-minute demo. On a slower chain the deadline state machine becomes a promise about the next block.</a:t>
            </a:r>
            <a:endParaRPr lang="en-US" sz="1150" dirty="0"/>
          </a:p>
        </p:txBody>
      </p:sp>
      <p:sp>
        <p:nvSpPr>
          <p:cNvPr id="15" name="Shape 11"/>
          <p:cNvSpPr/>
          <p:nvPr/>
        </p:nvSpPr>
        <p:spPr>
          <a:xfrm>
            <a:off x="685800" y="3822192"/>
            <a:ext cx="5312664" cy="1874520"/>
          </a:xfrm>
          <a:prstGeom prst="roundRect">
            <a:avLst>
              <a:gd name="adj" fmla="val 2927"/>
            </a:avLst>
          </a:prstGeom>
          <a:solidFill>
            <a:srgbClr val="141A24"/>
          </a:solidFill>
          <a:ln w="12700">
            <a:solidFill>
              <a:srgbClr val="273140"/>
            </a:solidFill>
            <a:prstDash val="solid"/>
          </a:ln>
          <a:effectLst>
            <a:outerShdw sx="100000" sy="100000" kx="0" ky="0" algn="bl" rotWithShape="0" blurRad="177800" dist="50800" dir="5400000">
              <a:srgbClr val="000000">
                <a:alpha val="45000"/>
              </a:srgbClr>
            </a:outerShdw>
          </a:effectLst>
        </p:spPr>
      </p:sp>
      <p:sp>
        <p:nvSpPr>
          <p:cNvPr id="16" name="Shape 12"/>
          <p:cNvSpPr/>
          <p:nvPr/>
        </p:nvSpPr>
        <p:spPr>
          <a:xfrm>
            <a:off x="1033272" y="4151376"/>
            <a:ext cx="438912" cy="438912"/>
          </a:xfrm>
          <a:prstGeom prst="ellipse">
            <a:avLst/>
          </a:prstGeom>
          <a:solidFill>
            <a:srgbClr val="16233A"/>
          </a:solidFill>
          <a:ln w="12700">
            <a:solidFill>
              <a:srgbClr val="2775CA"/>
            </a:solidFill>
            <a:prstDash val="solid"/>
          </a:ln>
        </p:spPr>
      </p:sp>
      <p:pic>
        <p:nvPicPr>
          <p:cNvPr id="17" name="Image 2" descr="/home/claude/work/icons/hash-blue.png">    </p:cNvPr>
          <p:cNvPicPr>
            <a:picLocks noChangeAspect="1"/>
          </p:cNvPicPr>
          <p:nvPr/>
        </p:nvPicPr>
        <p:blipFill>
          <a:blip r:embed="rId3"/>
          <a:stretch>
            <a:fillRect/>
          </a:stretch>
        </p:blipFill>
        <p:spPr>
          <a:xfrm>
            <a:off x="1143000" y="4261104"/>
            <a:ext cx="219456" cy="219456"/>
          </a:xfrm>
          <a:prstGeom prst="rect">
            <a:avLst/>
          </a:prstGeom>
        </p:spPr>
      </p:pic>
      <p:sp>
        <p:nvSpPr>
          <p:cNvPr id="18" name="Text 13"/>
          <p:cNvSpPr/>
          <p:nvPr/>
        </p:nvSpPr>
        <p:spPr>
          <a:xfrm>
            <a:off x="1618488" y="4169664"/>
            <a:ext cx="4114800" cy="329184"/>
          </a:xfrm>
          <a:prstGeom prst="rect">
            <a:avLst/>
          </a:prstGeom>
          <a:noFill/>
          <a:ln/>
        </p:spPr>
        <p:txBody>
          <a:bodyPr wrap="square" lIns="0" tIns="0" rIns="0" bIns="0" rtlCol="0" anchor="ctr"/>
          <a:lstStyle/>
          <a:p>
            <a:pPr indent="0" marL="0">
              <a:buNone/>
            </a:pPr>
            <a:r>
              <a:rPr lang="en-US" sz="1550" b="1" dirty="0">
                <a:solidFill>
                  <a:srgbClr val="EDF1F7"/>
                </a:solidFill>
                <a:latin typeface="Arial" pitchFamily="34" charset="0"/>
                <a:ea typeface="Arial" pitchFamily="34" charset="-122"/>
                <a:cs typeface="Arial" pitchFamily="34" charset="-120"/>
              </a:rPr>
              <a:t>Stablecoin-native accounting</a:t>
            </a:r>
            <a:endParaRPr lang="en-US" sz="1550" dirty="0"/>
          </a:p>
        </p:txBody>
      </p:sp>
      <p:sp>
        <p:nvSpPr>
          <p:cNvPr id="19" name="Text 14"/>
          <p:cNvSpPr/>
          <p:nvPr/>
        </p:nvSpPr>
        <p:spPr>
          <a:xfrm>
            <a:off x="1618488" y="4572000"/>
            <a:ext cx="4160520" cy="960120"/>
          </a:xfrm>
          <a:prstGeom prst="rect">
            <a:avLst/>
          </a:prstGeom>
          <a:noFill/>
          <a:ln/>
        </p:spPr>
        <p:txBody>
          <a:bodyPr wrap="square" lIns="0" tIns="0" rIns="0" bIns="0" rtlCol="0" anchor="ctr"/>
          <a:lstStyle/>
          <a:p>
            <a:pPr indent="0" marL="0">
              <a:lnSpc>
                <a:spcPts val="1650"/>
              </a:lnSpc>
              <a:buNone/>
            </a:pPr>
            <a:r>
              <a:rPr lang="en-US" sz="1150" dirty="0">
                <a:solidFill>
                  <a:srgbClr val="A9B6C6"/>
                </a:solidFill>
                <a:latin typeface="Arial" pitchFamily="34" charset="0"/>
                <a:ea typeface="Arial" pitchFamily="34" charset="-122"/>
                <a:cs typeface="Arial" pitchFamily="34" charset="-120"/>
              </a:rPr>
              <a:t>Prize maths runs in six-decimal integers. There is no price drift between the moment the prize is escrowed and the moment it is split.</a:t>
            </a:r>
            <a:endParaRPr lang="en-US" sz="1150" dirty="0"/>
          </a:p>
        </p:txBody>
      </p:sp>
      <p:sp>
        <p:nvSpPr>
          <p:cNvPr id="20" name="Shape 15"/>
          <p:cNvSpPr/>
          <p:nvPr/>
        </p:nvSpPr>
        <p:spPr>
          <a:xfrm>
            <a:off x="6190488" y="3822192"/>
            <a:ext cx="5312664" cy="1874520"/>
          </a:xfrm>
          <a:prstGeom prst="roundRect">
            <a:avLst>
              <a:gd name="adj" fmla="val 2927"/>
            </a:avLst>
          </a:prstGeom>
          <a:solidFill>
            <a:srgbClr val="141A24"/>
          </a:solidFill>
          <a:ln w="12700">
            <a:solidFill>
              <a:srgbClr val="273140"/>
            </a:solidFill>
            <a:prstDash val="solid"/>
          </a:ln>
          <a:effectLst>
            <a:outerShdw sx="100000" sy="100000" kx="0" ky="0" algn="bl" rotWithShape="0" blurRad="177800" dist="50800" dir="5400000">
              <a:srgbClr val="000000">
                <a:alpha val="45000"/>
              </a:srgbClr>
            </a:outerShdw>
          </a:effectLst>
        </p:spPr>
      </p:sp>
      <p:sp>
        <p:nvSpPr>
          <p:cNvPr id="21" name="Shape 16"/>
          <p:cNvSpPr/>
          <p:nvPr/>
        </p:nvSpPr>
        <p:spPr>
          <a:xfrm>
            <a:off x="6537960" y="4151376"/>
            <a:ext cx="438912" cy="438912"/>
          </a:xfrm>
          <a:prstGeom prst="ellipse">
            <a:avLst/>
          </a:prstGeom>
          <a:solidFill>
            <a:srgbClr val="16233A"/>
          </a:solidFill>
          <a:ln w="12700">
            <a:solidFill>
              <a:srgbClr val="2775CA"/>
            </a:solidFill>
            <a:prstDash val="solid"/>
          </a:ln>
        </p:spPr>
      </p:sp>
      <p:pic>
        <p:nvPicPr>
          <p:cNvPr id="22" name="Image 3" descr="/home/claude/work/icons/repeat-blue.png">    </p:cNvPr>
          <p:cNvPicPr>
            <a:picLocks noChangeAspect="1"/>
          </p:cNvPicPr>
          <p:nvPr/>
        </p:nvPicPr>
        <p:blipFill>
          <a:blip r:embed="rId4"/>
          <a:stretch>
            <a:fillRect/>
          </a:stretch>
        </p:blipFill>
        <p:spPr>
          <a:xfrm>
            <a:off x="6647688" y="4261104"/>
            <a:ext cx="219456" cy="219456"/>
          </a:xfrm>
          <a:prstGeom prst="rect">
            <a:avLst/>
          </a:prstGeom>
        </p:spPr>
      </p:pic>
      <p:sp>
        <p:nvSpPr>
          <p:cNvPr id="23" name="Text 17"/>
          <p:cNvSpPr/>
          <p:nvPr/>
        </p:nvSpPr>
        <p:spPr>
          <a:xfrm>
            <a:off x="7123176" y="4169664"/>
            <a:ext cx="4114800" cy="329184"/>
          </a:xfrm>
          <a:prstGeom prst="rect">
            <a:avLst/>
          </a:prstGeom>
          <a:noFill/>
          <a:ln/>
        </p:spPr>
        <p:txBody>
          <a:bodyPr wrap="square" lIns="0" tIns="0" rIns="0" bIns="0" rtlCol="0" anchor="ctr"/>
          <a:lstStyle/>
          <a:p>
            <a:pPr indent="0" marL="0">
              <a:buNone/>
            </a:pPr>
            <a:r>
              <a:rPr lang="en-US" sz="1550" b="1" dirty="0">
                <a:solidFill>
                  <a:srgbClr val="EDF1F7"/>
                </a:solidFill>
                <a:latin typeface="Arial" pitchFamily="34" charset="0"/>
                <a:ea typeface="Arial" pitchFamily="34" charset="-122"/>
                <a:cs typeface="Arial" pitchFamily="34" charset="-120"/>
              </a:rPr>
              <a:t>One unit, end to end</a:t>
            </a:r>
            <a:endParaRPr lang="en-US" sz="1550" dirty="0"/>
          </a:p>
        </p:txBody>
      </p:sp>
      <p:sp>
        <p:nvSpPr>
          <p:cNvPr id="24" name="Text 18"/>
          <p:cNvSpPr/>
          <p:nvPr/>
        </p:nvSpPr>
        <p:spPr>
          <a:xfrm>
            <a:off x="7123176" y="4572000"/>
            <a:ext cx="4160520" cy="960120"/>
          </a:xfrm>
          <a:prstGeom prst="rect">
            <a:avLst/>
          </a:prstGeom>
          <a:noFill/>
          <a:ln/>
        </p:spPr>
        <p:txBody>
          <a:bodyPr wrap="square" lIns="0" tIns="0" rIns="0" bIns="0" rtlCol="0" anchor="ctr"/>
          <a:lstStyle/>
          <a:p>
            <a:pPr indent="0" marL="0">
              <a:lnSpc>
                <a:spcPts val="1650"/>
              </a:lnSpc>
              <a:buNone/>
            </a:pPr>
            <a:r>
              <a:rPr lang="en-US" sz="1150" dirty="0">
                <a:solidFill>
                  <a:srgbClr val="A9B6C6"/>
                </a:solidFill>
                <a:latin typeface="Arial" pitchFamily="34" charset="0"/>
                <a:ea typeface="Arial" pitchFamily="34" charset="-122"/>
                <a:cs typeface="Arial" pitchFamily="34" charset="-120"/>
              </a:rPr>
              <a:t>The agent's x402 purchase, the escrowed prize and the payout are the same asset. Conservation becomes checkable arithmetic instead of a reconciliation job.</a:t>
            </a:r>
            <a:endParaRPr lang="en-US" sz="1150" dirty="0"/>
          </a:p>
        </p:txBody>
      </p:sp>
      <p:sp>
        <p:nvSpPr>
          <p:cNvPr id="25" name="Text 19"/>
          <p:cNvSpPr/>
          <p:nvPr/>
        </p:nvSpPr>
        <p:spPr>
          <a:xfrm>
            <a:off x="685800" y="5852160"/>
            <a:ext cx="10820095" cy="274320"/>
          </a:xfrm>
          <a:prstGeom prst="rect">
            <a:avLst/>
          </a:prstGeom>
          <a:noFill/>
          <a:ln/>
        </p:spPr>
        <p:txBody>
          <a:bodyPr wrap="square" lIns="0" tIns="0" rIns="0" bIns="0" rtlCol="0" anchor="ctr"/>
          <a:lstStyle/>
          <a:p>
            <a:pPr indent="0" marL="0">
              <a:buNone/>
            </a:pPr>
            <a:r>
              <a:rPr lang="en-US" sz="1150" i="1" dirty="0">
                <a:solidFill>
                  <a:srgbClr val="7C8899"/>
                </a:solidFill>
                <a:latin typeface="Arial" pitchFamily="34" charset="0"/>
                <a:ea typeface="Arial" pitchFamily="34" charset="-122"/>
                <a:cs typeface="Arial" pitchFamily="34" charset="-120"/>
              </a:rPr>
              <a:t>Both tracks, one build: programmable settlement for DeFi, an agent that holds a wallet and spends for Agentic Economy.</a:t>
            </a:r>
            <a:endParaRPr lang="en-US" sz="1150" dirty="0"/>
          </a:p>
        </p:txBody>
      </p:sp>
      <p:sp>
        <p:nvSpPr>
          <p:cNvPr id="26" name="Text 20"/>
          <p:cNvSpPr/>
          <p:nvPr/>
        </p:nvSpPr>
        <p:spPr>
          <a:xfrm>
            <a:off x="10774375" y="6309360"/>
            <a:ext cx="731520" cy="256032"/>
          </a:xfrm>
          <a:prstGeom prst="rect">
            <a:avLst/>
          </a:prstGeom>
          <a:noFill/>
          <a:ln/>
        </p:spPr>
        <p:txBody>
          <a:bodyPr wrap="square" lIns="0" tIns="0" rIns="0" bIns="0" rtlCol="0" anchor="ctr"/>
          <a:lstStyle/>
          <a:p>
            <a:pPr algn="r" indent="0" marL="0">
              <a:buNone/>
            </a:pPr>
            <a:r>
              <a:rPr lang="en-US" sz="1000" spc="100" kern="0" dirty="0">
                <a:solidFill>
                  <a:srgbClr val="7C8899"/>
                </a:solidFill>
                <a:latin typeface="Courier New" pitchFamily="34" charset="0"/>
                <a:ea typeface="Courier New" pitchFamily="34" charset="-122"/>
                <a:cs typeface="Courier New" pitchFamily="34" charset="-120"/>
              </a:rPr>
              <a:t>09</a:t>
            </a:r>
            <a:endParaRPr lang="en-US" sz="1000" dirty="0"/>
          </a:p>
        </p:txBody>
      </p:sp>
      <p:sp>
        <p:nvSpPr>
          <p:cNvPr id="27" name="Text 21"/>
          <p:cNvSpPr/>
          <p:nvPr/>
        </p:nvSpPr>
        <p:spPr>
          <a:xfrm>
            <a:off x="685800" y="6309360"/>
            <a:ext cx="2743200" cy="256032"/>
          </a:xfrm>
          <a:prstGeom prst="rect">
            <a:avLst/>
          </a:prstGeom>
          <a:noFill/>
          <a:ln/>
        </p:spPr>
        <p:txBody>
          <a:bodyPr wrap="square" lIns="0" tIns="0" rIns="0" bIns="0" rtlCol="0" anchor="ctr"/>
          <a:lstStyle/>
          <a:p>
            <a:pPr indent="0" marL="0">
              <a:buNone/>
            </a:pPr>
            <a:r>
              <a:rPr lang="en-US" sz="1000" spc="150" kern="0" dirty="0">
                <a:solidFill>
                  <a:srgbClr val="7C8899"/>
                </a:solidFill>
                <a:latin typeface="Courier New" pitchFamily="34" charset="0"/>
                <a:ea typeface="Courier New" pitchFamily="34" charset="-122"/>
                <a:cs typeface="Courier New" pitchFamily="34" charset="-120"/>
              </a:rPr>
              <a:t>DRAFTPAY</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A0D12"/>
        </a:solidFill>
      </p:bgPr>
    </p:bg>
    <p:spTree>
      <p:nvGrpSpPr>
        <p:cNvPr id="1" name=""/>
        <p:cNvGrpSpPr/>
        <p:nvPr/>
      </p:nvGrpSpPr>
      <p:grpSpPr>
        <a:xfrm>
          <a:off x="0" y="0"/>
          <a:ext cx="0" cy="0"/>
          <a:chOff x="0" y="0"/>
          <a:chExt cx="0" cy="0"/>
        </a:xfrm>
      </p:grpSpPr>
      <p:sp>
        <p:nvSpPr>
          <p:cNvPr id="2" name="Shape 0"/>
          <p:cNvSpPr/>
          <p:nvPr/>
        </p:nvSpPr>
        <p:spPr>
          <a:xfrm>
            <a:off x="685800" y="411480"/>
            <a:ext cx="1719072" cy="256032"/>
          </a:xfrm>
          <a:prstGeom prst="roundRect">
            <a:avLst>
              <a:gd name="adj" fmla="val 50000"/>
            </a:avLst>
          </a:prstGeom>
          <a:solidFill>
            <a:srgbClr val="1B2330"/>
          </a:solidFill>
          <a:ln w="12700">
            <a:solidFill>
              <a:srgbClr val="273140"/>
            </a:solidFill>
            <a:prstDash val="solid"/>
          </a:ln>
        </p:spPr>
      </p:sp>
      <p:sp>
        <p:nvSpPr>
          <p:cNvPr id="3" name="Text 1"/>
          <p:cNvSpPr/>
          <p:nvPr/>
        </p:nvSpPr>
        <p:spPr>
          <a:xfrm>
            <a:off x="685800" y="411480"/>
            <a:ext cx="1719072" cy="256032"/>
          </a:xfrm>
          <a:prstGeom prst="rect">
            <a:avLst/>
          </a:prstGeom>
          <a:noFill/>
          <a:ln/>
        </p:spPr>
        <p:txBody>
          <a:bodyPr wrap="square" lIns="0" tIns="0" rIns="0" bIns="0" rtlCol="0" anchor="ctr"/>
          <a:lstStyle/>
          <a:p>
            <a:pPr algn="ctr" indent="0" marL="0">
              <a:buNone/>
            </a:pPr>
            <a:r>
              <a:rPr lang="en-US" sz="900" b="1" spc="120" kern="0" dirty="0">
                <a:solidFill>
                  <a:srgbClr val="5B9BFF"/>
                </a:solidFill>
                <a:latin typeface="Courier New" pitchFamily="34" charset="0"/>
                <a:ea typeface="Courier New" pitchFamily="34" charset="-122"/>
                <a:cs typeface="Courier New" pitchFamily="34" charset="-120"/>
              </a:rPr>
              <a:t>09  /  EVIDENCE</a:t>
            </a:r>
            <a:endParaRPr lang="en-US" sz="900" dirty="0"/>
          </a:p>
        </p:txBody>
      </p:sp>
      <p:sp>
        <p:nvSpPr>
          <p:cNvPr id="4" name="Text 2"/>
          <p:cNvSpPr/>
          <p:nvPr/>
        </p:nvSpPr>
        <p:spPr>
          <a:xfrm>
            <a:off x="685800" y="841248"/>
            <a:ext cx="10820095" cy="822960"/>
          </a:xfrm>
          <a:prstGeom prst="rect">
            <a:avLst/>
          </a:prstGeom>
          <a:noFill/>
          <a:ln/>
        </p:spPr>
        <p:txBody>
          <a:bodyPr wrap="square" lIns="0" tIns="0" rIns="0" bIns="0" rtlCol="0" anchor="t"/>
          <a:lstStyle/>
          <a:p>
            <a:pPr indent="0" marL="0">
              <a:lnSpc>
                <a:spcPts val="3800"/>
              </a:lnSpc>
              <a:buNone/>
            </a:pPr>
            <a:r>
              <a:rPr lang="en-US" sz="3200" b="1" spc="-30" kern="0" dirty="0">
                <a:solidFill>
                  <a:srgbClr val="EDF1F7"/>
                </a:solidFill>
                <a:latin typeface="Arial" pitchFamily="34" charset="0"/>
                <a:ea typeface="Arial" pitchFamily="34" charset="-122"/>
                <a:cs typeface="Arial" pitchFamily="34" charset="-120"/>
              </a:rPr>
              <a:t>Built to be checked, not believed.</a:t>
            </a:r>
            <a:endParaRPr lang="en-US" sz="3200" dirty="0"/>
          </a:p>
        </p:txBody>
      </p:sp>
      <p:sp>
        <p:nvSpPr>
          <p:cNvPr id="5" name="Text 3"/>
          <p:cNvSpPr/>
          <p:nvPr/>
        </p:nvSpPr>
        <p:spPr>
          <a:xfrm>
            <a:off x="685800" y="1664208"/>
            <a:ext cx="7772400" cy="548640"/>
          </a:xfrm>
          <a:prstGeom prst="rect">
            <a:avLst/>
          </a:prstGeom>
          <a:noFill/>
          <a:ln/>
        </p:spPr>
        <p:txBody>
          <a:bodyPr wrap="square" lIns="0" tIns="0" rIns="0" bIns="0" rtlCol="0" anchor="t"/>
          <a:lstStyle/>
          <a:p>
            <a:pPr indent="0" marL="0">
              <a:lnSpc>
                <a:spcPts val="2000"/>
              </a:lnSpc>
              <a:buNone/>
            </a:pPr>
            <a:r>
              <a:rPr lang="en-US" sz="1400" dirty="0">
                <a:solidFill>
                  <a:srgbClr val="A9B6C6"/>
                </a:solidFill>
                <a:latin typeface="Arial" pitchFamily="34" charset="0"/>
                <a:ea typeface="Arial" pitchFamily="34" charset="-122"/>
                <a:cs typeface="Arial" pitchFamily="34" charset="-120"/>
              </a:rPr>
              <a:t>Everything below is reproducible from the public repository.</a:t>
            </a:r>
            <a:endParaRPr lang="en-US" sz="1400" dirty="0"/>
          </a:p>
        </p:txBody>
      </p:sp>
      <p:sp>
        <p:nvSpPr>
          <p:cNvPr id="6" name="Shape 4"/>
          <p:cNvSpPr/>
          <p:nvPr/>
        </p:nvSpPr>
        <p:spPr>
          <a:xfrm>
            <a:off x="685800" y="2212848"/>
            <a:ext cx="2505456" cy="1828800"/>
          </a:xfrm>
          <a:prstGeom prst="roundRect">
            <a:avLst>
              <a:gd name="adj" fmla="val 3000"/>
            </a:avLst>
          </a:prstGeom>
          <a:solidFill>
            <a:srgbClr val="141A24"/>
          </a:solidFill>
          <a:ln w="12700">
            <a:solidFill>
              <a:srgbClr val="273140"/>
            </a:solidFill>
            <a:prstDash val="solid"/>
          </a:ln>
          <a:effectLst>
            <a:outerShdw sx="100000" sy="100000" kx="0" ky="0" algn="bl" rotWithShape="0" blurRad="177800" dist="50800" dir="5400000">
              <a:srgbClr val="000000">
                <a:alpha val="45000"/>
              </a:srgbClr>
            </a:outerShdw>
          </a:effectLst>
        </p:spPr>
      </p:sp>
      <p:sp>
        <p:nvSpPr>
          <p:cNvPr id="7" name="Text 5"/>
          <p:cNvSpPr/>
          <p:nvPr/>
        </p:nvSpPr>
        <p:spPr>
          <a:xfrm>
            <a:off x="923544" y="2359152"/>
            <a:ext cx="2048256" cy="658368"/>
          </a:xfrm>
          <a:prstGeom prst="rect">
            <a:avLst/>
          </a:prstGeom>
          <a:noFill/>
          <a:ln/>
        </p:spPr>
        <p:txBody>
          <a:bodyPr wrap="square" lIns="0" tIns="0" rIns="0" bIns="0" rtlCol="0" anchor="ctr"/>
          <a:lstStyle/>
          <a:p>
            <a:pPr indent="0" marL="0">
              <a:buNone/>
            </a:pPr>
            <a:r>
              <a:rPr lang="en-US" sz="4000" b="1" spc="-100" kern="0" dirty="0">
                <a:solidFill>
                  <a:srgbClr val="C6F24E"/>
                </a:solidFill>
                <a:latin typeface="Arial" pitchFamily="34" charset="0"/>
                <a:ea typeface="Arial" pitchFamily="34" charset="-122"/>
                <a:cs typeface="Arial" pitchFamily="34" charset="-120"/>
              </a:rPr>
              <a:t>50</a:t>
            </a:r>
            <a:endParaRPr lang="en-US" sz="4000" dirty="0"/>
          </a:p>
        </p:txBody>
      </p:sp>
      <p:sp>
        <p:nvSpPr>
          <p:cNvPr id="8" name="Text 6"/>
          <p:cNvSpPr/>
          <p:nvPr/>
        </p:nvSpPr>
        <p:spPr>
          <a:xfrm>
            <a:off x="923544" y="3072384"/>
            <a:ext cx="2048256" cy="274320"/>
          </a:xfrm>
          <a:prstGeom prst="rect">
            <a:avLst/>
          </a:prstGeom>
          <a:noFill/>
          <a:ln/>
        </p:spPr>
        <p:txBody>
          <a:bodyPr wrap="square" lIns="0" tIns="0" rIns="0" bIns="0" rtlCol="0" anchor="ctr"/>
          <a:lstStyle/>
          <a:p>
            <a:pPr indent="0" marL="0">
              <a:buNone/>
            </a:pPr>
            <a:r>
              <a:rPr lang="en-US" sz="1200" b="1" dirty="0">
                <a:solidFill>
                  <a:srgbClr val="EDF1F7"/>
                </a:solidFill>
                <a:latin typeface="Arial" pitchFamily="34" charset="0"/>
                <a:ea typeface="Arial" pitchFamily="34" charset="-122"/>
                <a:cs typeface="Arial" pitchFamily="34" charset="-120"/>
              </a:rPr>
              <a:t>unit + integration tests</a:t>
            </a:r>
            <a:endParaRPr lang="en-US" sz="1200" dirty="0"/>
          </a:p>
        </p:txBody>
      </p:sp>
      <p:sp>
        <p:nvSpPr>
          <p:cNvPr id="9" name="Text 7"/>
          <p:cNvSpPr/>
          <p:nvPr/>
        </p:nvSpPr>
        <p:spPr>
          <a:xfrm>
            <a:off x="923544" y="3383280"/>
            <a:ext cx="2048256" cy="457200"/>
          </a:xfrm>
          <a:prstGeom prst="rect">
            <a:avLst/>
          </a:prstGeom>
          <a:noFill/>
          <a:ln/>
        </p:spPr>
        <p:txBody>
          <a:bodyPr wrap="square" lIns="0" tIns="0" rIns="0" bIns="0" rtlCol="0" anchor="ctr"/>
          <a:lstStyle/>
          <a:p>
            <a:pPr indent="0" marL="0">
              <a:lnSpc>
                <a:spcPts val="1100"/>
              </a:lnSpc>
              <a:buNone/>
            </a:pPr>
            <a:r>
              <a:rPr lang="en-US" sz="850" dirty="0">
                <a:solidFill>
                  <a:srgbClr val="7C8899"/>
                </a:solidFill>
                <a:latin typeface="Courier New" pitchFamily="34" charset="0"/>
                <a:ea typeface="Courier New" pitchFamily="34" charset="-122"/>
                <a:cs typeface="Courier New" pitchFamily="34" charset="-120"/>
              </a:rPr>
              <a:t>11 shared · 31 agent</a:t>
            </a:r>
            <a:endParaRPr lang="en-US" sz="850" dirty="0"/>
          </a:p>
          <a:p>
            <a:pPr indent="0" marL="0">
              <a:lnSpc>
                <a:spcPts val="1100"/>
              </a:lnSpc>
              <a:buNone/>
            </a:pPr>
            <a:r>
              <a:rPr lang="en-US" sz="850" dirty="0">
                <a:solidFill>
                  <a:srgbClr val="7C8899"/>
                </a:solidFill>
                <a:latin typeface="Courier New" pitchFamily="34" charset="0"/>
                <a:ea typeface="Courier New" pitchFamily="34" charset="-122"/>
                <a:cs typeface="Courier New" pitchFamily="34" charset="-120"/>
              </a:rPr>
              <a:t>3 web · 5 x402</a:t>
            </a:r>
            <a:endParaRPr lang="en-US" sz="850" dirty="0"/>
          </a:p>
        </p:txBody>
      </p:sp>
      <p:sp>
        <p:nvSpPr>
          <p:cNvPr id="10" name="Shape 8"/>
          <p:cNvSpPr/>
          <p:nvPr/>
        </p:nvSpPr>
        <p:spPr>
          <a:xfrm>
            <a:off x="3456432" y="2212848"/>
            <a:ext cx="2505456" cy="1828800"/>
          </a:xfrm>
          <a:prstGeom prst="roundRect">
            <a:avLst>
              <a:gd name="adj" fmla="val 3000"/>
            </a:avLst>
          </a:prstGeom>
          <a:solidFill>
            <a:srgbClr val="141A24"/>
          </a:solidFill>
          <a:ln w="12700">
            <a:solidFill>
              <a:srgbClr val="273140"/>
            </a:solidFill>
            <a:prstDash val="solid"/>
          </a:ln>
          <a:effectLst>
            <a:outerShdw sx="100000" sy="100000" kx="0" ky="0" algn="bl" rotWithShape="0" blurRad="177800" dist="50800" dir="5400000">
              <a:srgbClr val="000000">
                <a:alpha val="45000"/>
              </a:srgbClr>
            </a:outerShdw>
          </a:effectLst>
        </p:spPr>
      </p:sp>
      <p:sp>
        <p:nvSpPr>
          <p:cNvPr id="11" name="Text 9"/>
          <p:cNvSpPr/>
          <p:nvPr/>
        </p:nvSpPr>
        <p:spPr>
          <a:xfrm>
            <a:off x="3694176" y="2359152"/>
            <a:ext cx="2048256" cy="658368"/>
          </a:xfrm>
          <a:prstGeom prst="rect">
            <a:avLst/>
          </a:prstGeom>
          <a:noFill/>
          <a:ln/>
        </p:spPr>
        <p:txBody>
          <a:bodyPr wrap="square" lIns="0" tIns="0" rIns="0" bIns="0" rtlCol="0" anchor="ctr"/>
          <a:lstStyle/>
          <a:p>
            <a:pPr indent="0" marL="0">
              <a:buNone/>
            </a:pPr>
            <a:r>
              <a:rPr lang="en-US" sz="4000" b="1" spc="-100" kern="0" dirty="0">
                <a:solidFill>
                  <a:srgbClr val="C6F24E"/>
                </a:solidFill>
                <a:latin typeface="Arial" pitchFamily="34" charset="0"/>
                <a:ea typeface="Arial" pitchFamily="34" charset="-122"/>
                <a:cs typeface="Arial" pitchFamily="34" charset="-120"/>
              </a:rPr>
              <a:t>8/8</a:t>
            </a:r>
            <a:endParaRPr lang="en-US" sz="4000" dirty="0"/>
          </a:p>
        </p:txBody>
      </p:sp>
      <p:sp>
        <p:nvSpPr>
          <p:cNvPr id="12" name="Text 10"/>
          <p:cNvSpPr/>
          <p:nvPr/>
        </p:nvSpPr>
        <p:spPr>
          <a:xfrm>
            <a:off x="3694176" y="3072384"/>
            <a:ext cx="2048256" cy="274320"/>
          </a:xfrm>
          <a:prstGeom prst="rect">
            <a:avLst/>
          </a:prstGeom>
          <a:noFill/>
          <a:ln/>
        </p:spPr>
        <p:txBody>
          <a:bodyPr wrap="square" lIns="0" tIns="0" rIns="0" bIns="0" rtlCol="0" anchor="ctr"/>
          <a:lstStyle/>
          <a:p>
            <a:pPr indent="0" marL="0">
              <a:buNone/>
            </a:pPr>
            <a:r>
              <a:rPr lang="en-US" sz="1200" b="1" dirty="0">
                <a:solidFill>
                  <a:srgbClr val="EDF1F7"/>
                </a:solidFill>
                <a:latin typeface="Arial" pitchFamily="34" charset="0"/>
                <a:ea typeface="Arial" pitchFamily="34" charset="-122"/>
                <a:cs typeface="Arial" pitchFamily="34" charset="-120"/>
              </a:rPr>
              <a:t>Playwright end to end</a:t>
            </a:r>
            <a:endParaRPr lang="en-US" sz="1200" dirty="0"/>
          </a:p>
        </p:txBody>
      </p:sp>
      <p:sp>
        <p:nvSpPr>
          <p:cNvPr id="13" name="Text 11"/>
          <p:cNvSpPr/>
          <p:nvPr/>
        </p:nvSpPr>
        <p:spPr>
          <a:xfrm>
            <a:off x="3694176" y="3383280"/>
            <a:ext cx="2048256" cy="457200"/>
          </a:xfrm>
          <a:prstGeom prst="rect">
            <a:avLst/>
          </a:prstGeom>
          <a:noFill/>
          <a:ln/>
        </p:spPr>
        <p:txBody>
          <a:bodyPr wrap="square" lIns="0" tIns="0" rIns="0" bIns="0" rtlCol="0" anchor="ctr"/>
          <a:lstStyle/>
          <a:p>
            <a:pPr indent="0" marL="0">
              <a:lnSpc>
                <a:spcPts val="1100"/>
              </a:lnSpc>
              <a:buNone/>
            </a:pPr>
            <a:r>
              <a:rPr lang="en-US" sz="850" dirty="0">
                <a:solidFill>
                  <a:srgbClr val="7C8899"/>
                </a:solidFill>
                <a:latin typeface="Courier New" pitchFamily="34" charset="0"/>
                <a:ea typeface="Courier New" pitchFamily="34" charset="-122"/>
                <a:cs typeface="Courier New" pitchFamily="34" charset="-120"/>
              </a:rPr>
              <a:t>desktop and mobile</a:t>
            </a:r>
            <a:endParaRPr lang="en-US" sz="850" dirty="0"/>
          </a:p>
          <a:p>
            <a:pPr indent="0" marL="0">
              <a:lnSpc>
                <a:spcPts val="1100"/>
              </a:lnSpc>
              <a:buNone/>
            </a:pPr>
            <a:r>
              <a:rPr lang="en-US" sz="850" dirty="0">
                <a:solidFill>
                  <a:srgbClr val="7C8899"/>
                </a:solidFill>
                <a:latin typeface="Courier New" pitchFamily="34" charset="0"/>
                <a:ea typeface="Courier New" pitchFamily="34" charset="-122"/>
                <a:cs typeface="Courier New" pitchFamily="34" charset="-120"/>
              </a:rPr>
              <a:t>viewports</a:t>
            </a:r>
            <a:endParaRPr lang="en-US" sz="850" dirty="0"/>
          </a:p>
        </p:txBody>
      </p:sp>
      <p:sp>
        <p:nvSpPr>
          <p:cNvPr id="14" name="Shape 12"/>
          <p:cNvSpPr/>
          <p:nvPr/>
        </p:nvSpPr>
        <p:spPr>
          <a:xfrm>
            <a:off x="6227064" y="2212848"/>
            <a:ext cx="2505456" cy="1828800"/>
          </a:xfrm>
          <a:prstGeom prst="roundRect">
            <a:avLst>
              <a:gd name="adj" fmla="val 3000"/>
            </a:avLst>
          </a:prstGeom>
          <a:solidFill>
            <a:srgbClr val="141A24"/>
          </a:solidFill>
          <a:ln w="12700">
            <a:solidFill>
              <a:srgbClr val="273140"/>
            </a:solidFill>
            <a:prstDash val="solid"/>
          </a:ln>
          <a:effectLst>
            <a:outerShdw sx="100000" sy="100000" kx="0" ky="0" algn="bl" rotWithShape="0" blurRad="177800" dist="50800" dir="5400000">
              <a:srgbClr val="000000">
                <a:alpha val="45000"/>
              </a:srgbClr>
            </a:outerShdw>
          </a:effectLst>
        </p:spPr>
      </p:sp>
      <p:sp>
        <p:nvSpPr>
          <p:cNvPr id="15" name="Text 13"/>
          <p:cNvSpPr/>
          <p:nvPr/>
        </p:nvSpPr>
        <p:spPr>
          <a:xfrm>
            <a:off x="6464808" y="2359152"/>
            <a:ext cx="2048256" cy="658368"/>
          </a:xfrm>
          <a:prstGeom prst="rect">
            <a:avLst/>
          </a:prstGeom>
          <a:noFill/>
          <a:ln/>
        </p:spPr>
        <p:txBody>
          <a:bodyPr wrap="square" lIns="0" tIns="0" rIns="0" bIns="0" rtlCol="0" anchor="ctr"/>
          <a:lstStyle/>
          <a:p>
            <a:pPr indent="0" marL="0">
              <a:buNone/>
            </a:pPr>
            <a:r>
              <a:rPr lang="en-US" sz="4000" b="1" spc="-100" kern="0" dirty="0">
                <a:solidFill>
                  <a:srgbClr val="C6F24E"/>
                </a:solidFill>
                <a:latin typeface="Arial" pitchFamily="34" charset="0"/>
                <a:ea typeface="Arial" pitchFamily="34" charset="-122"/>
                <a:cs typeface="Arial" pitchFamily="34" charset="-120"/>
              </a:rPr>
              <a:t>28</a:t>
            </a:r>
            <a:endParaRPr lang="en-US" sz="4000" dirty="0"/>
          </a:p>
        </p:txBody>
      </p:sp>
      <p:sp>
        <p:nvSpPr>
          <p:cNvPr id="16" name="Text 14"/>
          <p:cNvSpPr/>
          <p:nvPr/>
        </p:nvSpPr>
        <p:spPr>
          <a:xfrm>
            <a:off x="6464808" y="3072384"/>
            <a:ext cx="2048256" cy="274320"/>
          </a:xfrm>
          <a:prstGeom prst="rect">
            <a:avLst/>
          </a:prstGeom>
          <a:noFill/>
          <a:ln/>
        </p:spPr>
        <p:txBody>
          <a:bodyPr wrap="square" lIns="0" tIns="0" rIns="0" bIns="0" rtlCol="0" anchor="ctr"/>
          <a:lstStyle/>
          <a:p>
            <a:pPr indent="0" marL="0">
              <a:buNone/>
            </a:pPr>
            <a:r>
              <a:rPr lang="en-US" sz="1200" b="1" dirty="0">
                <a:solidFill>
                  <a:srgbClr val="EDF1F7"/>
                </a:solidFill>
                <a:latin typeface="Arial" pitchFamily="34" charset="0"/>
                <a:ea typeface="Arial" pitchFamily="34" charset="-122"/>
                <a:cs typeface="Arial" pitchFamily="34" charset="-120"/>
              </a:rPr>
              <a:t>Foundry contract tests</a:t>
            </a:r>
            <a:endParaRPr lang="en-US" sz="1200" dirty="0"/>
          </a:p>
        </p:txBody>
      </p:sp>
      <p:sp>
        <p:nvSpPr>
          <p:cNvPr id="17" name="Text 15"/>
          <p:cNvSpPr/>
          <p:nvPr/>
        </p:nvSpPr>
        <p:spPr>
          <a:xfrm>
            <a:off x="6464808" y="3383280"/>
            <a:ext cx="2048256" cy="457200"/>
          </a:xfrm>
          <a:prstGeom prst="rect">
            <a:avLst/>
          </a:prstGeom>
          <a:noFill/>
          <a:ln/>
        </p:spPr>
        <p:txBody>
          <a:bodyPr wrap="square" lIns="0" tIns="0" rIns="0" bIns="0" rtlCol="0" anchor="ctr"/>
          <a:lstStyle/>
          <a:p>
            <a:pPr indent="0" marL="0">
              <a:lnSpc>
                <a:spcPts val="1100"/>
              </a:lnSpc>
              <a:buNone/>
            </a:pPr>
            <a:r>
              <a:rPr lang="en-US" sz="850" dirty="0">
                <a:solidFill>
                  <a:srgbClr val="7C8899"/>
                </a:solidFill>
                <a:latin typeface="Courier New" pitchFamily="34" charset="0"/>
                <a:ea typeface="Courier New" pitchFamily="34" charset="-122"/>
                <a:cs typeface="Courier New" pitchFamily="34" charset="-120"/>
              </a:rPr>
              <a:t>including the finalist</a:t>
            </a:r>
            <a:endParaRPr lang="en-US" sz="850" dirty="0"/>
          </a:p>
          <a:p>
            <a:pPr indent="0" marL="0">
              <a:lnSpc>
                <a:spcPts val="1100"/>
              </a:lnSpc>
              <a:buNone/>
            </a:pPr>
            <a:r>
              <a:rPr lang="en-US" sz="850" dirty="0">
                <a:solidFill>
                  <a:srgbClr val="7C8899"/>
                </a:solidFill>
                <a:latin typeface="Courier New" pitchFamily="34" charset="0"/>
                <a:ea typeface="Courier New" pitchFamily="34" charset="-122"/>
                <a:cs typeface="Courier New" pitchFamily="34" charset="-120"/>
              </a:rPr>
              <a:t>cap boundary</a:t>
            </a:r>
            <a:endParaRPr lang="en-US" sz="850" dirty="0"/>
          </a:p>
        </p:txBody>
      </p:sp>
      <p:sp>
        <p:nvSpPr>
          <p:cNvPr id="18" name="Shape 16"/>
          <p:cNvSpPr/>
          <p:nvPr/>
        </p:nvSpPr>
        <p:spPr>
          <a:xfrm>
            <a:off x="8997696" y="2212848"/>
            <a:ext cx="2505456" cy="1828800"/>
          </a:xfrm>
          <a:prstGeom prst="roundRect">
            <a:avLst>
              <a:gd name="adj" fmla="val 3000"/>
            </a:avLst>
          </a:prstGeom>
          <a:solidFill>
            <a:srgbClr val="141A24"/>
          </a:solidFill>
          <a:ln w="12700">
            <a:solidFill>
              <a:srgbClr val="273140"/>
            </a:solidFill>
            <a:prstDash val="solid"/>
          </a:ln>
          <a:effectLst>
            <a:outerShdw sx="100000" sy="100000" kx="0" ky="0" algn="bl" rotWithShape="0" blurRad="177800" dist="50800" dir="5400000">
              <a:srgbClr val="000000">
                <a:alpha val="45000"/>
              </a:srgbClr>
            </a:outerShdw>
          </a:effectLst>
        </p:spPr>
      </p:sp>
      <p:sp>
        <p:nvSpPr>
          <p:cNvPr id="19" name="Text 17"/>
          <p:cNvSpPr/>
          <p:nvPr/>
        </p:nvSpPr>
        <p:spPr>
          <a:xfrm>
            <a:off x="9235440" y="2359152"/>
            <a:ext cx="2048256" cy="658368"/>
          </a:xfrm>
          <a:prstGeom prst="rect">
            <a:avLst/>
          </a:prstGeom>
          <a:noFill/>
          <a:ln/>
        </p:spPr>
        <p:txBody>
          <a:bodyPr wrap="square" lIns="0" tIns="0" rIns="0" bIns="0" rtlCol="0" anchor="ctr"/>
          <a:lstStyle/>
          <a:p>
            <a:pPr indent="0" marL="0">
              <a:buNone/>
            </a:pPr>
            <a:r>
              <a:rPr lang="en-US" sz="4000" b="1" spc="-100" kern="0" dirty="0">
                <a:solidFill>
                  <a:srgbClr val="C6F24E"/>
                </a:solidFill>
                <a:latin typeface="Arial" pitchFamily="34" charset="0"/>
                <a:ea typeface="Arial" pitchFamily="34" charset="-122"/>
                <a:cs typeface="Arial" pitchFamily="34" charset="-120"/>
              </a:rPr>
              <a:t>512</a:t>
            </a:r>
            <a:endParaRPr lang="en-US" sz="4000" dirty="0"/>
          </a:p>
        </p:txBody>
      </p:sp>
      <p:sp>
        <p:nvSpPr>
          <p:cNvPr id="20" name="Text 18"/>
          <p:cNvSpPr/>
          <p:nvPr/>
        </p:nvSpPr>
        <p:spPr>
          <a:xfrm>
            <a:off x="9235440" y="3072384"/>
            <a:ext cx="2048256" cy="274320"/>
          </a:xfrm>
          <a:prstGeom prst="rect">
            <a:avLst/>
          </a:prstGeom>
          <a:noFill/>
          <a:ln/>
        </p:spPr>
        <p:txBody>
          <a:bodyPr wrap="square" lIns="0" tIns="0" rIns="0" bIns="0" rtlCol="0" anchor="ctr"/>
          <a:lstStyle/>
          <a:p>
            <a:pPr indent="0" marL="0">
              <a:buNone/>
            </a:pPr>
            <a:r>
              <a:rPr lang="en-US" sz="1200" b="1" dirty="0">
                <a:solidFill>
                  <a:srgbClr val="EDF1F7"/>
                </a:solidFill>
                <a:latin typeface="Arial" pitchFamily="34" charset="0"/>
                <a:ea typeface="Arial" pitchFamily="34" charset="-122"/>
                <a:cs typeface="Arial" pitchFamily="34" charset="-120"/>
              </a:rPr>
              <a:t>conservation fuzz runs</a:t>
            </a:r>
            <a:endParaRPr lang="en-US" sz="1200" dirty="0"/>
          </a:p>
        </p:txBody>
      </p:sp>
      <p:sp>
        <p:nvSpPr>
          <p:cNvPr id="21" name="Text 19"/>
          <p:cNvSpPr/>
          <p:nvPr/>
        </p:nvSpPr>
        <p:spPr>
          <a:xfrm>
            <a:off x="9235440" y="3383280"/>
            <a:ext cx="2048256" cy="457200"/>
          </a:xfrm>
          <a:prstGeom prst="rect">
            <a:avLst/>
          </a:prstGeom>
          <a:noFill/>
          <a:ln/>
        </p:spPr>
        <p:txBody>
          <a:bodyPr wrap="square" lIns="0" tIns="0" rIns="0" bIns="0" rtlCol="0" anchor="ctr"/>
          <a:lstStyle/>
          <a:p>
            <a:pPr indent="0" marL="0">
              <a:lnSpc>
                <a:spcPts val="1100"/>
              </a:lnSpc>
              <a:buNone/>
            </a:pPr>
            <a:r>
              <a:rPr lang="en-US" sz="850" dirty="0">
                <a:solidFill>
                  <a:srgbClr val="7C8899"/>
                </a:solidFill>
                <a:latin typeface="Courier New" pitchFamily="34" charset="0"/>
                <a:ea typeface="Courier New" pitchFamily="34" charset="-122"/>
                <a:cs typeface="Courier New" pitchFamily="34" charset="-120"/>
              </a:rPr>
              <a:t>256 winner</a:t>
            </a:r>
            <a:endParaRPr lang="en-US" sz="850" dirty="0"/>
          </a:p>
          <a:p>
            <a:pPr indent="0" marL="0">
              <a:lnSpc>
                <a:spcPts val="1100"/>
              </a:lnSpc>
              <a:buNone/>
            </a:pPr>
            <a:r>
              <a:rPr lang="en-US" sz="850" dirty="0">
                <a:solidFill>
                  <a:srgbClr val="7C8899"/>
                </a:solidFill>
                <a:latin typeface="Courier New" pitchFamily="34" charset="0"/>
                <a:ea typeface="Courier New" pitchFamily="34" charset="-122"/>
                <a:cs typeface="Courier New" pitchFamily="34" charset="-120"/>
              </a:rPr>
              <a:t>256 no-winner</a:t>
            </a:r>
            <a:endParaRPr lang="en-US" sz="850" dirty="0"/>
          </a:p>
        </p:txBody>
      </p:sp>
      <p:pic>
        <p:nvPicPr>
          <p:cNvPr id="22" name="Image 0" descr="/home/claude/work/icons/shield-lime.png">    </p:cNvPr>
          <p:cNvPicPr>
            <a:picLocks noChangeAspect="1"/>
          </p:cNvPicPr>
          <p:nvPr/>
        </p:nvPicPr>
        <p:blipFill>
          <a:blip r:embed="rId1"/>
          <a:stretch>
            <a:fillRect/>
          </a:stretch>
        </p:blipFill>
        <p:spPr>
          <a:xfrm>
            <a:off x="704088" y="4407408"/>
            <a:ext cx="201168" cy="201168"/>
          </a:xfrm>
          <a:prstGeom prst="rect">
            <a:avLst/>
          </a:prstGeom>
        </p:spPr>
      </p:pic>
      <p:sp>
        <p:nvSpPr>
          <p:cNvPr id="23" name="Text 20"/>
          <p:cNvSpPr/>
          <p:nvPr/>
        </p:nvSpPr>
        <p:spPr>
          <a:xfrm>
            <a:off x="1069848" y="4370832"/>
            <a:ext cx="10241280" cy="292608"/>
          </a:xfrm>
          <a:prstGeom prst="rect">
            <a:avLst/>
          </a:prstGeom>
          <a:noFill/>
          <a:ln/>
        </p:spPr>
        <p:txBody>
          <a:bodyPr wrap="square" lIns="0" tIns="0" rIns="0" bIns="0" rtlCol="0" anchor="ctr"/>
          <a:lstStyle/>
          <a:p>
            <a:pPr indent="0" marL="0">
              <a:buNone/>
            </a:pPr>
            <a:r>
              <a:rPr lang="en-US" sz="1250" dirty="0">
                <a:solidFill>
                  <a:srgbClr val="A9B6C6"/>
                </a:solidFill>
                <a:latin typeface="Arial" pitchFamily="34" charset="0"/>
                <a:ea typeface="Arial" pitchFamily="34" charset="-122"/>
                <a:cs typeface="Arial" pitchFamily="34" charset="-120"/>
              </a:rPr>
              <a:t>Strict TypeScript with schema boundaries at every input and output edge</a:t>
            </a:r>
            <a:endParaRPr lang="en-US" sz="1250" dirty="0"/>
          </a:p>
        </p:txBody>
      </p:sp>
      <p:pic>
        <p:nvPicPr>
          <p:cNvPr id="24" name="Image 1" descr="/home/claude/work/icons/terminal-lime.png">    </p:cNvPr>
          <p:cNvPicPr>
            <a:picLocks noChangeAspect="1"/>
          </p:cNvPicPr>
          <p:nvPr/>
        </p:nvPicPr>
        <p:blipFill>
          <a:blip r:embed="rId2"/>
          <a:stretch>
            <a:fillRect/>
          </a:stretch>
        </p:blipFill>
        <p:spPr>
          <a:xfrm>
            <a:off x="704088" y="4974336"/>
            <a:ext cx="201168" cy="201168"/>
          </a:xfrm>
          <a:prstGeom prst="rect">
            <a:avLst/>
          </a:prstGeom>
        </p:spPr>
      </p:pic>
      <p:sp>
        <p:nvSpPr>
          <p:cNvPr id="25" name="Text 21"/>
          <p:cNvSpPr/>
          <p:nvPr/>
        </p:nvSpPr>
        <p:spPr>
          <a:xfrm>
            <a:off x="1069848" y="4937760"/>
            <a:ext cx="10241280" cy="292608"/>
          </a:xfrm>
          <a:prstGeom prst="rect">
            <a:avLst/>
          </a:prstGeom>
          <a:noFill/>
          <a:ln/>
        </p:spPr>
        <p:txBody>
          <a:bodyPr wrap="square" lIns="0" tIns="0" rIns="0" bIns="0" rtlCol="0" anchor="ctr"/>
          <a:lstStyle/>
          <a:p>
            <a:pPr indent="0" marL="0">
              <a:buNone/>
            </a:pPr>
            <a:r>
              <a:rPr lang="en-US" sz="1250" dirty="0">
                <a:solidFill>
                  <a:srgbClr val="A9B6C6"/>
                </a:solidFill>
                <a:latin typeface="Arial" pitchFamily="34" charset="0"/>
                <a:ea typeface="Arial" pitchFamily="34" charset="-122"/>
                <a:cs typeface="Arial" pitchFamily="34" charset="-120"/>
              </a:rPr>
              <a:t>Deterministic fixtures, so the same run produces the same numbers for anyone</a:t>
            </a:r>
            <a:endParaRPr lang="en-US" sz="1250" dirty="0"/>
          </a:p>
        </p:txBody>
      </p:sp>
      <p:pic>
        <p:nvPicPr>
          <p:cNvPr id="26" name="Image 2" descr="/home/claude/work/icons/layers-lime.png">    </p:cNvPr>
          <p:cNvPicPr>
            <a:picLocks noChangeAspect="1"/>
          </p:cNvPicPr>
          <p:nvPr/>
        </p:nvPicPr>
        <p:blipFill>
          <a:blip r:embed="rId3"/>
          <a:stretch>
            <a:fillRect/>
          </a:stretch>
        </p:blipFill>
        <p:spPr>
          <a:xfrm>
            <a:off x="704088" y="5541264"/>
            <a:ext cx="201168" cy="201168"/>
          </a:xfrm>
          <a:prstGeom prst="rect">
            <a:avLst/>
          </a:prstGeom>
        </p:spPr>
      </p:pic>
      <p:sp>
        <p:nvSpPr>
          <p:cNvPr id="27" name="Text 22"/>
          <p:cNvSpPr/>
          <p:nvPr/>
        </p:nvSpPr>
        <p:spPr>
          <a:xfrm>
            <a:off x="1069848" y="5504688"/>
            <a:ext cx="10241280" cy="292608"/>
          </a:xfrm>
          <a:prstGeom prst="rect">
            <a:avLst/>
          </a:prstGeom>
          <a:noFill/>
          <a:ln/>
        </p:spPr>
        <p:txBody>
          <a:bodyPr wrap="square" lIns="0" tIns="0" rIns="0" bIns="0" rtlCol="0" anchor="ctr"/>
          <a:lstStyle/>
          <a:p>
            <a:pPr indent="0" marL="0">
              <a:buNone/>
            </a:pPr>
            <a:r>
              <a:rPr lang="en-US" sz="1250" dirty="0">
                <a:solidFill>
                  <a:srgbClr val="A9B6C6"/>
                </a:solidFill>
                <a:latin typeface="Arial" pitchFamily="34" charset="0"/>
                <a:ea typeface="Arial" pitchFamily="34" charset="-122"/>
                <a:cs typeface="Arial" pitchFamily="34" charset="-120"/>
              </a:rPr>
              <a:t>Bounded Solidity accounting: a fixed finalist set, no unbounded settlement loop</a:t>
            </a:r>
            <a:endParaRPr lang="en-US" sz="1250" dirty="0"/>
          </a:p>
        </p:txBody>
      </p:sp>
      <p:sp>
        <p:nvSpPr>
          <p:cNvPr id="28" name="Text 23"/>
          <p:cNvSpPr/>
          <p:nvPr/>
        </p:nvSpPr>
        <p:spPr>
          <a:xfrm>
            <a:off x="10774375" y="6309360"/>
            <a:ext cx="731520" cy="256032"/>
          </a:xfrm>
          <a:prstGeom prst="rect">
            <a:avLst/>
          </a:prstGeom>
          <a:noFill/>
          <a:ln/>
        </p:spPr>
        <p:txBody>
          <a:bodyPr wrap="square" lIns="0" tIns="0" rIns="0" bIns="0" rtlCol="0" anchor="ctr"/>
          <a:lstStyle/>
          <a:p>
            <a:pPr algn="r" indent="0" marL="0">
              <a:buNone/>
            </a:pPr>
            <a:r>
              <a:rPr lang="en-US" sz="1000" spc="100" kern="0" dirty="0">
                <a:solidFill>
                  <a:srgbClr val="7C8899"/>
                </a:solidFill>
                <a:latin typeface="Courier New" pitchFamily="34" charset="0"/>
                <a:ea typeface="Courier New" pitchFamily="34" charset="-122"/>
                <a:cs typeface="Courier New" pitchFamily="34" charset="-120"/>
              </a:rPr>
              <a:t>10</a:t>
            </a:r>
            <a:endParaRPr lang="en-US" sz="1000" dirty="0"/>
          </a:p>
        </p:txBody>
      </p:sp>
      <p:sp>
        <p:nvSpPr>
          <p:cNvPr id="29" name="Text 24"/>
          <p:cNvSpPr/>
          <p:nvPr/>
        </p:nvSpPr>
        <p:spPr>
          <a:xfrm>
            <a:off x="685800" y="6309360"/>
            <a:ext cx="2743200" cy="256032"/>
          </a:xfrm>
          <a:prstGeom prst="rect">
            <a:avLst/>
          </a:prstGeom>
          <a:noFill/>
          <a:ln/>
        </p:spPr>
        <p:txBody>
          <a:bodyPr wrap="square" lIns="0" tIns="0" rIns="0" bIns="0" rtlCol="0" anchor="ctr"/>
          <a:lstStyle/>
          <a:p>
            <a:pPr indent="0" marL="0">
              <a:buNone/>
            </a:pPr>
            <a:r>
              <a:rPr lang="en-US" sz="1000" spc="150" kern="0" dirty="0">
                <a:solidFill>
                  <a:srgbClr val="7C8899"/>
                </a:solidFill>
                <a:latin typeface="Courier New" pitchFamily="34" charset="0"/>
                <a:ea typeface="Courier New" pitchFamily="34" charset="-122"/>
                <a:cs typeface="Courier New" pitchFamily="34" charset="-120"/>
              </a:rPr>
              <a:t>DRAFTPAY</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A0D12"/>
        </a:solidFill>
      </p:bgPr>
    </p:bg>
    <p:spTree>
      <p:nvGrpSpPr>
        <p:cNvPr id="1" name=""/>
        <p:cNvGrpSpPr/>
        <p:nvPr/>
      </p:nvGrpSpPr>
      <p:grpSpPr>
        <a:xfrm>
          <a:off x="0" y="0"/>
          <a:ext cx="0" cy="0"/>
          <a:chOff x="0" y="0"/>
          <a:chExt cx="0" cy="0"/>
        </a:xfrm>
      </p:grpSpPr>
      <p:sp>
        <p:nvSpPr>
          <p:cNvPr id="2" name="Shape 0"/>
          <p:cNvSpPr/>
          <p:nvPr/>
        </p:nvSpPr>
        <p:spPr>
          <a:xfrm>
            <a:off x="685800" y="411480"/>
            <a:ext cx="2084832" cy="256032"/>
          </a:xfrm>
          <a:prstGeom prst="roundRect">
            <a:avLst>
              <a:gd name="adj" fmla="val 50000"/>
            </a:avLst>
          </a:prstGeom>
          <a:solidFill>
            <a:srgbClr val="1B2330"/>
          </a:solidFill>
          <a:ln w="12700">
            <a:solidFill>
              <a:srgbClr val="273140"/>
            </a:solidFill>
            <a:prstDash val="solid"/>
          </a:ln>
        </p:spPr>
      </p:sp>
      <p:sp>
        <p:nvSpPr>
          <p:cNvPr id="3" name="Text 1"/>
          <p:cNvSpPr/>
          <p:nvPr/>
        </p:nvSpPr>
        <p:spPr>
          <a:xfrm>
            <a:off x="685800" y="411480"/>
            <a:ext cx="2084832" cy="256032"/>
          </a:xfrm>
          <a:prstGeom prst="rect">
            <a:avLst/>
          </a:prstGeom>
          <a:noFill/>
          <a:ln/>
        </p:spPr>
        <p:txBody>
          <a:bodyPr wrap="square" lIns="0" tIns="0" rIns="0" bIns="0" rtlCol="0" anchor="ctr"/>
          <a:lstStyle/>
          <a:p>
            <a:pPr algn="ctr" indent="0" marL="0">
              <a:buNone/>
            </a:pPr>
            <a:r>
              <a:rPr lang="en-US" sz="900" b="1" spc="120" kern="0" dirty="0">
                <a:solidFill>
                  <a:srgbClr val="C6F24E"/>
                </a:solidFill>
                <a:latin typeface="Courier New" pitchFamily="34" charset="0"/>
                <a:ea typeface="Courier New" pitchFamily="34" charset="-122"/>
                <a:cs typeface="Courier New" pitchFamily="34" charset="-120"/>
              </a:rPr>
              <a:t>10  /  WHAT IS REAL</a:t>
            </a:r>
            <a:endParaRPr lang="en-US" sz="900" dirty="0"/>
          </a:p>
        </p:txBody>
      </p:sp>
      <p:sp>
        <p:nvSpPr>
          <p:cNvPr id="4" name="Text 2"/>
          <p:cNvSpPr/>
          <p:nvPr/>
        </p:nvSpPr>
        <p:spPr>
          <a:xfrm>
            <a:off x="685800" y="841248"/>
            <a:ext cx="10820095" cy="822960"/>
          </a:xfrm>
          <a:prstGeom prst="rect">
            <a:avLst/>
          </a:prstGeom>
          <a:noFill/>
          <a:ln/>
        </p:spPr>
        <p:txBody>
          <a:bodyPr wrap="square" lIns="0" tIns="0" rIns="0" bIns="0" rtlCol="0" anchor="t"/>
          <a:lstStyle/>
          <a:p>
            <a:pPr indent="0" marL="0">
              <a:lnSpc>
                <a:spcPts val="3800"/>
              </a:lnSpc>
              <a:buNone/>
            </a:pPr>
            <a:r>
              <a:rPr lang="en-US" sz="3200" b="1" spc="-30" kern="0" dirty="0">
                <a:solidFill>
                  <a:srgbClr val="EDF1F7"/>
                </a:solidFill>
                <a:latin typeface="Arial" pitchFamily="34" charset="0"/>
                <a:ea typeface="Arial" pitchFamily="34" charset="-122"/>
                <a:cs typeface="Arial" pitchFamily="34" charset="-120"/>
              </a:rPr>
              <a:t>The demo never lies about what is real.</a:t>
            </a:r>
            <a:endParaRPr lang="en-US" sz="3200" dirty="0"/>
          </a:p>
        </p:txBody>
      </p:sp>
      <p:sp>
        <p:nvSpPr>
          <p:cNvPr id="5" name="Text 3"/>
          <p:cNvSpPr/>
          <p:nvPr/>
        </p:nvSpPr>
        <p:spPr>
          <a:xfrm>
            <a:off x="685800" y="1664208"/>
            <a:ext cx="10058400" cy="548640"/>
          </a:xfrm>
          <a:prstGeom prst="rect">
            <a:avLst/>
          </a:prstGeom>
          <a:noFill/>
          <a:ln/>
        </p:spPr>
        <p:txBody>
          <a:bodyPr wrap="square" lIns="0" tIns="0" rIns="0" bIns="0" rtlCol="0" anchor="t"/>
          <a:lstStyle/>
          <a:p>
            <a:pPr indent="0" marL="0">
              <a:lnSpc>
                <a:spcPts val="2000"/>
              </a:lnSpc>
              <a:buNone/>
            </a:pPr>
            <a:r>
              <a:rPr lang="en-US" sz="1400" dirty="0">
                <a:solidFill>
                  <a:srgbClr val="A9B6C6"/>
                </a:solidFill>
                <a:latin typeface="Arial" pitchFamily="34" charset="0"/>
                <a:ea typeface="Arial" pitchFamily="34" charset="-122"/>
                <a:cs typeface="Arial" pitchFamily="34" charset="-120"/>
              </a:rPr>
              <a:t>A Real badge appears only after a live Arc receipt or a settled Circle payment is verified at runtime. Everything else is labelled seeded, fixture, preview or pending.</a:t>
            </a:r>
            <a:endParaRPr lang="en-US" sz="1400" dirty="0"/>
          </a:p>
        </p:txBody>
      </p:sp>
      <p:sp>
        <p:nvSpPr>
          <p:cNvPr id="6" name="Shape 4"/>
          <p:cNvSpPr/>
          <p:nvPr/>
        </p:nvSpPr>
        <p:spPr>
          <a:xfrm>
            <a:off x="685800" y="2395728"/>
            <a:ext cx="5312664" cy="2880360"/>
          </a:xfrm>
          <a:prstGeom prst="roundRect">
            <a:avLst>
              <a:gd name="adj" fmla="val 1905"/>
            </a:avLst>
          </a:prstGeom>
          <a:solidFill>
            <a:srgbClr val="1B2330"/>
          </a:solidFill>
          <a:ln w="19050">
            <a:solidFill>
              <a:srgbClr val="2775CA"/>
            </a:solidFill>
            <a:prstDash val="solid"/>
          </a:ln>
          <a:effectLst>
            <a:outerShdw sx="100000" sy="100000" kx="0" ky="0" algn="bl" rotWithShape="0" blurRad="177800" dist="50800" dir="5400000">
              <a:srgbClr val="000000">
                <a:alpha val="45000"/>
              </a:srgbClr>
            </a:outerShdw>
          </a:effectLst>
        </p:spPr>
      </p:sp>
      <p:sp>
        <p:nvSpPr>
          <p:cNvPr id="7" name="Text 5"/>
          <p:cNvSpPr/>
          <p:nvPr/>
        </p:nvSpPr>
        <p:spPr>
          <a:xfrm>
            <a:off x="1005840" y="2606040"/>
            <a:ext cx="4663440" cy="274320"/>
          </a:xfrm>
          <a:prstGeom prst="rect">
            <a:avLst/>
          </a:prstGeom>
          <a:noFill/>
          <a:ln/>
        </p:spPr>
        <p:txBody>
          <a:bodyPr wrap="square" lIns="0" tIns="0" rIns="0" bIns="0" rtlCol="0" anchor="ctr"/>
          <a:lstStyle/>
          <a:p>
            <a:pPr indent="0" marL="0">
              <a:buNone/>
            </a:pPr>
            <a:r>
              <a:rPr lang="en-US" sz="950" b="1" spc="130" kern="0" dirty="0">
                <a:solidFill>
                  <a:srgbClr val="C6F24E"/>
                </a:solidFill>
                <a:latin typeface="Courier New" pitchFamily="34" charset="0"/>
                <a:ea typeface="Courier New" pitchFamily="34" charset="-122"/>
                <a:cs typeface="Courier New" pitchFamily="34" charset="-120"/>
              </a:rPr>
              <a:t>ENFORCED BY CODE TODAY</a:t>
            </a:r>
            <a:endParaRPr lang="en-US" sz="950" dirty="0"/>
          </a:p>
        </p:txBody>
      </p:sp>
      <p:pic>
        <p:nvPicPr>
          <p:cNvPr id="8" name="Image 0" descr="/home/claude/work/icons/check-lime.png">    </p:cNvPr>
          <p:cNvPicPr>
            <a:picLocks noChangeAspect="1"/>
          </p:cNvPicPr>
          <p:nvPr/>
        </p:nvPicPr>
        <p:blipFill>
          <a:blip r:embed="rId1"/>
          <a:stretch>
            <a:fillRect/>
          </a:stretch>
        </p:blipFill>
        <p:spPr>
          <a:xfrm>
            <a:off x="1024128" y="3081528"/>
            <a:ext cx="182880" cy="182880"/>
          </a:xfrm>
          <a:prstGeom prst="rect">
            <a:avLst/>
          </a:prstGeom>
        </p:spPr>
      </p:pic>
      <p:sp>
        <p:nvSpPr>
          <p:cNvPr id="9" name="Text 6"/>
          <p:cNvSpPr/>
          <p:nvPr/>
        </p:nvSpPr>
        <p:spPr>
          <a:xfrm>
            <a:off x="1344168" y="3035808"/>
            <a:ext cx="4434840" cy="384048"/>
          </a:xfrm>
          <a:prstGeom prst="rect">
            <a:avLst/>
          </a:prstGeom>
          <a:noFill/>
          <a:ln/>
        </p:spPr>
        <p:txBody>
          <a:bodyPr wrap="square" lIns="0" tIns="0" rIns="0" bIns="0" rtlCol="0" anchor="ctr"/>
          <a:lstStyle/>
          <a:p>
            <a:pPr indent="0" marL="0">
              <a:lnSpc>
                <a:spcPts val="1500"/>
              </a:lnSpc>
              <a:buNone/>
            </a:pPr>
            <a:r>
              <a:rPr lang="en-US" sz="1200" dirty="0">
                <a:solidFill>
                  <a:srgbClr val="A9B6C6"/>
                </a:solidFill>
                <a:latin typeface="Arial" pitchFamily="34" charset="0"/>
                <a:ea typeface="Arial" pitchFamily="34" charset="-122"/>
                <a:cs typeface="Arial" pitchFamily="34" charset="-120"/>
              </a:rPr>
              <a:t>Exact prize amount and deadline, fixed at creation</a:t>
            </a:r>
            <a:endParaRPr lang="en-US" sz="1200" dirty="0"/>
          </a:p>
        </p:txBody>
      </p:sp>
      <p:pic>
        <p:nvPicPr>
          <p:cNvPr id="10" name="Image 1" descr="/home/claude/work/icons/check-lime.png">    </p:cNvPr>
          <p:cNvPicPr>
            <a:picLocks noChangeAspect="1"/>
          </p:cNvPicPr>
          <p:nvPr/>
        </p:nvPicPr>
        <p:blipFill>
          <a:blip r:embed="rId2"/>
          <a:stretch>
            <a:fillRect/>
          </a:stretch>
        </p:blipFill>
        <p:spPr>
          <a:xfrm>
            <a:off x="1024128" y="3630168"/>
            <a:ext cx="182880" cy="182880"/>
          </a:xfrm>
          <a:prstGeom prst="rect">
            <a:avLst/>
          </a:prstGeom>
        </p:spPr>
      </p:pic>
      <p:sp>
        <p:nvSpPr>
          <p:cNvPr id="11" name="Text 7"/>
          <p:cNvSpPr/>
          <p:nvPr/>
        </p:nvSpPr>
        <p:spPr>
          <a:xfrm>
            <a:off x="1344168" y="3584448"/>
            <a:ext cx="4434840" cy="384048"/>
          </a:xfrm>
          <a:prstGeom prst="rect">
            <a:avLst/>
          </a:prstGeom>
          <a:noFill/>
          <a:ln/>
        </p:spPr>
        <p:txBody>
          <a:bodyPr wrap="square" lIns="0" tIns="0" rIns="0" bIns="0" rtlCol="0" anchor="ctr"/>
          <a:lstStyle/>
          <a:p>
            <a:pPr indent="0" marL="0">
              <a:lnSpc>
                <a:spcPts val="1500"/>
              </a:lnSpc>
              <a:buNone/>
            </a:pPr>
            <a:r>
              <a:rPr lang="en-US" sz="1200" dirty="0">
                <a:solidFill>
                  <a:srgbClr val="A9B6C6"/>
                </a:solidFill>
                <a:latin typeface="Arial" pitchFamily="34" charset="0"/>
                <a:ea typeface="Arial" pitchFamily="34" charset="-122"/>
                <a:cs typeface="Arial" pitchFamily="34" charset="-120"/>
              </a:rPr>
              <a:t>Payment restricted to qualified recipients</a:t>
            </a:r>
            <a:endParaRPr lang="en-US" sz="1200" dirty="0"/>
          </a:p>
        </p:txBody>
      </p:sp>
      <p:pic>
        <p:nvPicPr>
          <p:cNvPr id="12" name="Image 2" descr="/home/claude/work/icons/check-lime.png">    </p:cNvPr>
          <p:cNvPicPr>
            <a:picLocks noChangeAspect="1"/>
          </p:cNvPicPr>
          <p:nvPr/>
        </p:nvPicPr>
        <p:blipFill>
          <a:blip r:embed="rId3"/>
          <a:stretch>
            <a:fillRect/>
          </a:stretch>
        </p:blipFill>
        <p:spPr>
          <a:xfrm>
            <a:off x="1024128" y="4178808"/>
            <a:ext cx="182880" cy="182880"/>
          </a:xfrm>
          <a:prstGeom prst="rect">
            <a:avLst/>
          </a:prstGeom>
        </p:spPr>
      </p:pic>
      <p:sp>
        <p:nvSpPr>
          <p:cNvPr id="13" name="Text 8"/>
          <p:cNvSpPr/>
          <p:nvPr/>
        </p:nvSpPr>
        <p:spPr>
          <a:xfrm>
            <a:off x="1344168" y="4133088"/>
            <a:ext cx="4434840" cy="384048"/>
          </a:xfrm>
          <a:prstGeom prst="rect">
            <a:avLst/>
          </a:prstGeom>
          <a:noFill/>
          <a:ln/>
        </p:spPr>
        <p:txBody>
          <a:bodyPr wrap="square" lIns="0" tIns="0" rIns="0" bIns="0" rtlCol="0" anchor="ctr"/>
          <a:lstStyle/>
          <a:p>
            <a:pPr indent="0" marL="0">
              <a:lnSpc>
                <a:spcPts val="1500"/>
              </a:lnSpc>
              <a:buNone/>
            </a:pPr>
            <a:r>
              <a:rPr lang="en-US" sz="1200" dirty="0">
                <a:solidFill>
                  <a:srgbClr val="A9B6C6"/>
                </a:solidFill>
                <a:latin typeface="Arial" pitchFamily="34" charset="0"/>
                <a:ea typeface="Arial" pitchFamily="34" charset="-122"/>
                <a:cs typeface="Arial" pitchFamily="34" charset="-120"/>
              </a:rPr>
              <a:t>Terminal conservation and the full refund path</a:t>
            </a:r>
            <a:endParaRPr lang="en-US" sz="1200" dirty="0"/>
          </a:p>
        </p:txBody>
      </p:sp>
      <p:pic>
        <p:nvPicPr>
          <p:cNvPr id="14" name="Image 3" descr="/home/claude/work/icons/check-lime.png">    </p:cNvPr>
          <p:cNvPicPr>
            <a:picLocks noChangeAspect="1"/>
          </p:cNvPicPr>
          <p:nvPr/>
        </p:nvPicPr>
        <p:blipFill>
          <a:blip r:embed="rId4"/>
          <a:stretch>
            <a:fillRect/>
          </a:stretch>
        </p:blipFill>
        <p:spPr>
          <a:xfrm>
            <a:off x="1024128" y="4727448"/>
            <a:ext cx="182880" cy="182880"/>
          </a:xfrm>
          <a:prstGeom prst="rect">
            <a:avLst/>
          </a:prstGeom>
        </p:spPr>
      </p:pic>
      <p:sp>
        <p:nvSpPr>
          <p:cNvPr id="15" name="Text 9"/>
          <p:cNvSpPr/>
          <p:nvPr/>
        </p:nvSpPr>
        <p:spPr>
          <a:xfrm>
            <a:off x="1344168" y="4681728"/>
            <a:ext cx="4434840" cy="384048"/>
          </a:xfrm>
          <a:prstGeom prst="rect">
            <a:avLst/>
          </a:prstGeom>
          <a:noFill/>
          <a:ln/>
        </p:spPr>
        <p:txBody>
          <a:bodyPr wrap="square" lIns="0" tIns="0" rIns="0" bIns="0" rtlCol="0" anchor="ctr"/>
          <a:lstStyle/>
          <a:p>
            <a:pPr indent="0" marL="0">
              <a:lnSpc>
                <a:spcPts val="1500"/>
              </a:lnSpc>
              <a:buNone/>
            </a:pPr>
            <a:r>
              <a:rPr lang="en-US" sz="1200" dirty="0">
                <a:solidFill>
                  <a:srgbClr val="A9B6C6"/>
                </a:solidFill>
                <a:latin typeface="Arial" pitchFamily="34" charset="0"/>
                <a:ea typeface="Arial" pitchFamily="34" charset="-122"/>
                <a:cs typeface="Arial" pitchFamily="34" charset="-120"/>
              </a:rPr>
              <a:t>Hard checks applied identically to every entry</a:t>
            </a:r>
            <a:endParaRPr lang="en-US" sz="1200" dirty="0"/>
          </a:p>
        </p:txBody>
      </p:sp>
      <p:sp>
        <p:nvSpPr>
          <p:cNvPr id="16" name="Shape 10"/>
          <p:cNvSpPr/>
          <p:nvPr/>
        </p:nvSpPr>
        <p:spPr>
          <a:xfrm>
            <a:off x="6190488" y="2395728"/>
            <a:ext cx="5312664" cy="2880360"/>
          </a:xfrm>
          <a:prstGeom prst="roundRect">
            <a:avLst>
              <a:gd name="adj" fmla="val 1905"/>
            </a:avLst>
          </a:prstGeom>
          <a:solidFill>
            <a:srgbClr val="141A24"/>
          </a:solidFill>
          <a:ln w="12700">
            <a:solidFill>
              <a:srgbClr val="273140"/>
            </a:solidFill>
            <a:prstDash val="solid"/>
          </a:ln>
          <a:effectLst>
            <a:outerShdw sx="100000" sy="100000" kx="0" ky="0" algn="bl" rotWithShape="0" blurRad="177800" dist="50800" dir="5400000">
              <a:srgbClr val="000000">
                <a:alpha val="45000"/>
              </a:srgbClr>
            </a:outerShdw>
          </a:effectLst>
        </p:spPr>
      </p:sp>
      <p:sp>
        <p:nvSpPr>
          <p:cNvPr id="17" name="Text 11"/>
          <p:cNvSpPr/>
          <p:nvPr/>
        </p:nvSpPr>
        <p:spPr>
          <a:xfrm>
            <a:off x="6510528" y="2606040"/>
            <a:ext cx="4663440" cy="274320"/>
          </a:xfrm>
          <a:prstGeom prst="rect">
            <a:avLst/>
          </a:prstGeom>
          <a:noFill/>
          <a:ln/>
        </p:spPr>
        <p:txBody>
          <a:bodyPr wrap="square" lIns="0" tIns="0" rIns="0" bIns="0" rtlCol="0" anchor="ctr"/>
          <a:lstStyle/>
          <a:p>
            <a:pPr indent="0" marL="0">
              <a:buNone/>
            </a:pPr>
            <a:r>
              <a:rPr lang="en-US" sz="950" b="1" spc="130" kern="0" dirty="0">
                <a:solidFill>
                  <a:srgbClr val="5B9BFF"/>
                </a:solidFill>
                <a:latin typeface="Courier New" pitchFamily="34" charset="0"/>
                <a:ea typeface="Courier New" pitchFamily="34" charset="-122"/>
                <a:cs typeface="Courier New" pitchFamily="34" charset="-120"/>
              </a:rPr>
              <a:t>STILL NEEDS EXTERNAL CREDENTIALS</a:t>
            </a:r>
            <a:endParaRPr lang="en-US" sz="950" dirty="0"/>
          </a:p>
        </p:txBody>
      </p:sp>
      <p:pic>
        <p:nvPicPr>
          <p:cNvPr id="18" name="Image 4" descr="/home/claude/work/icons/flag-blue.png">    </p:cNvPr>
          <p:cNvPicPr>
            <a:picLocks noChangeAspect="1"/>
          </p:cNvPicPr>
          <p:nvPr/>
        </p:nvPicPr>
        <p:blipFill>
          <a:blip r:embed="rId5"/>
          <a:stretch>
            <a:fillRect/>
          </a:stretch>
        </p:blipFill>
        <p:spPr>
          <a:xfrm>
            <a:off x="6528816" y="3081528"/>
            <a:ext cx="182880" cy="182880"/>
          </a:xfrm>
          <a:prstGeom prst="rect">
            <a:avLst/>
          </a:prstGeom>
        </p:spPr>
      </p:pic>
      <p:sp>
        <p:nvSpPr>
          <p:cNvPr id="19" name="Text 12"/>
          <p:cNvSpPr/>
          <p:nvPr/>
        </p:nvSpPr>
        <p:spPr>
          <a:xfrm>
            <a:off x="6848856" y="3035808"/>
            <a:ext cx="4434840" cy="384048"/>
          </a:xfrm>
          <a:prstGeom prst="rect">
            <a:avLst/>
          </a:prstGeom>
          <a:noFill/>
          <a:ln/>
        </p:spPr>
        <p:txBody>
          <a:bodyPr wrap="square" lIns="0" tIns="0" rIns="0" bIns="0" rtlCol="0" anchor="ctr"/>
          <a:lstStyle/>
          <a:p>
            <a:pPr indent="0" marL="0">
              <a:lnSpc>
                <a:spcPts val="1500"/>
              </a:lnSpc>
              <a:buNone/>
            </a:pPr>
            <a:r>
              <a:rPr lang="en-US" sz="1200" dirty="0">
                <a:solidFill>
                  <a:srgbClr val="A9B6C6"/>
                </a:solidFill>
                <a:latin typeface="Arial" pitchFamily="34" charset="0"/>
                <a:ea typeface="Arial" pitchFamily="34" charset="-122"/>
                <a:cs typeface="Arial" pitchFamily="34" charset="-120"/>
              </a:rPr>
              <a:t>Arc factory deployment and live transactions</a:t>
            </a:r>
            <a:endParaRPr lang="en-US" sz="1200" dirty="0"/>
          </a:p>
        </p:txBody>
      </p:sp>
      <p:pic>
        <p:nvPicPr>
          <p:cNvPr id="20" name="Image 5" descr="/home/claude/work/icons/flag-blue.png">    </p:cNvPr>
          <p:cNvPicPr>
            <a:picLocks noChangeAspect="1"/>
          </p:cNvPicPr>
          <p:nvPr/>
        </p:nvPicPr>
        <p:blipFill>
          <a:blip r:embed="rId6"/>
          <a:stretch>
            <a:fillRect/>
          </a:stretch>
        </p:blipFill>
        <p:spPr>
          <a:xfrm>
            <a:off x="6528816" y="3630168"/>
            <a:ext cx="182880" cy="182880"/>
          </a:xfrm>
          <a:prstGeom prst="rect">
            <a:avLst/>
          </a:prstGeom>
        </p:spPr>
      </p:pic>
      <p:sp>
        <p:nvSpPr>
          <p:cNvPr id="21" name="Text 13"/>
          <p:cNvSpPr/>
          <p:nvPr/>
        </p:nvSpPr>
        <p:spPr>
          <a:xfrm>
            <a:off x="6848856" y="3584448"/>
            <a:ext cx="4434840" cy="384048"/>
          </a:xfrm>
          <a:prstGeom prst="rect">
            <a:avLst/>
          </a:prstGeom>
          <a:noFill/>
          <a:ln/>
        </p:spPr>
        <p:txBody>
          <a:bodyPr wrap="square" lIns="0" tIns="0" rIns="0" bIns="0" rtlCol="0" anchor="ctr"/>
          <a:lstStyle/>
          <a:p>
            <a:pPr indent="0" marL="0">
              <a:lnSpc>
                <a:spcPts val="1500"/>
              </a:lnSpc>
              <a:buNone/>
            </a:pPr>
            <a:r>
              <a:rPr lang="en-US" sz="1200" dirty="0">
                <a:solidFill>
                  <a:srgbClr val="A9B6C6"/>
                </a:solidFill>
                <a:latin typeface="Arial" pitchFamily="34" charset="0"/>
                <a:ea typeface="Arial" pitchFamily="34" charset="-122"/>
                <a:cs typeface="Arial" pitchFamily="34" charset="-120"/>
              </a:rPr>
              <a:t>A funded Circle x402 payment on a real balance</a:t>
            </a:r>
            <a:endParaRPr lang="en-US" sz="1200" dirty="0"/>
          </a:p>
        </p:txBody>
      </p:sp>
      <p:pic>
        <p:nvPicPr>
          <p:cNvPr id="22" name="Image 6" descr="/home/claude/work/icons/flag-blue.png">    </p:cNvPr>
          <p:cNvPicPr>
            <a:picLocks noChangeAspect="1"/>
          </p:cNvPicPr>
          <p:nvPr/>
        </p:nvPicPr>
        <p:blipFill>
          <a:blip r:embed="rId7"/>
          <a:stretch>
            <a:fillRect/>
          </a:stretch>
        </p:blipFill>
        <p:spPr>
          <a:xfrm>
            <a:off x="6528816" y="4178808"/>
            <a:ext cx="182880" cy="182880"/>
          </a:xfrm>
          <a:prstGeom prst="rect">
            <a:avLst/>
          </a:prstGeom>
        </p:spPr>
      </p:pic>
      <p:sp>
        <p:nvSpPr>
          <p:cNvPr id="23" name="Text 14"/>
          <p:cNvSpPr/>
          <p:nvPr/>
        </p:nvSpPr>
        <p:spPr>
          <a:xfrm>
            <a:off x="6848856" y="4133088"/>
            <a:ext cx="4434840" cy="384048"/>
          </a:xfrm>
          <a:prstGeom prst="rect">
            <a:avLst/>
          </a:prstGeom>
          <a:noFill/>
          <a:ln/>
        </p:spPr>
        <p:txBody>
          <a:bodyPr wrap="square" lIns="0" tIns="0" rIns="0" bIns="0" rtlCol="0" anchor="ctr"/>
          <a:lstStyle/>
          <a:p>
            <a:pPr indent="0" marL="0">
              <a:lnSpc>
                <a:spcPts val="1500"/>
              </a:lnSpc>
              <a:buNone/>
            </a:pPr>
            <a:r>
              <a:rPr lang="en-US" sz="1200" dirty="0">
                <a:solidFill>
                  <a:srgbClr val="A9B6C6"/>
                </a:solidFill>
                <a:latin typeface="Arial" pitchFamily="34" charset="0"/>
                <a:ea typeface="Arial" pitchFamily="34" charset="-122"/>
                <a:cs typeface="Arial" pitchFamily="34" charset="-120"/>
              </a:rPr>
              <a:t>Public hosting and independent review</a:t>
            </a:r>
            <a:endParaRPr lang="en-US" sz="1200" dirty="0"/>
          </a:p>
        </p:txBody>
      </p:sp>
      <p:pic>
        <p:nvPicPr>
          <p:cNvPr id="24" name="Image 7" descr="/home/claude/work/icons/flag-blue.png">    </p:cNvPr>
          <p:cNvPicPr>
            <a:picLocks noChangeAspect="1"/>
          </p:cNvPicPr>
          <p:nvPr/>
        </p:nvPicPr>
        <p:blipFill>
          <a:blip r:embed="rId8"/>
          <a:stretch>
            <a:fillRect/>
          </a:stretch>
        </p:blipFill>
        <p:spPr>
          <a:xfrm>
            <a:off x="6528816" y="4727448"/>
            <a:ext cx="182880" cy="182880"/>
          </a:xfrm>
          <a:prstGeom prst="rect">
            <a:avLst/>
          </a:prstGeom>
        </p:spPr>
      </p:pic>
      <p:sp>
        <p:nvSpPr>
          <p:cNvPr id="25" name="Text 15"/>
          <p:cNvSpPr/>
          <p:nvPr/>
        </p:nvSpPr>
        <p:spPr>
          <a:xfrm>
            <a:off x="6848856" y="4681728"/>
            <a:ext cx="4434840" cy="384048"/>
          </a:xfrm>
          <a:prstGeom prst="rect">
            <a:avLst/>
          </a:prstGeom>
          <a:noFill/>
          <a:ln/>
        </p:spPr>
        <p:txBody>
          <a:bodyPr wrap="square" lIns="0" tIns="0" rIns="0" bIns="0" rtlCol="0" anchor="ctr"/>
          <a:lstStyle/>
          <a:p>
            <a:pPr indent="0" marL="0">
              <a:lnSpc>
                <a:spcPts val="1500"/>
              </a:lnSpc>
              <a:buNone/>
            </a:pPr>
            <a:r>
              <a:rPr lang="en-US" sz="1200" dirty="0">
                <a:solidFill>
                  <a:srgbClr val="A9B6C6"/>
                </a:solidFill>
                <a:latin typeface="Arial" pitchFamily="34" charset="0"/>
                <a:ea typeface="Arial" pitchFamily="34" charset="-122"/>
                <a:cs typeface="Arial" pitchFamily="34" charset="-120"/>
              </a:rPr>
              <a:t>A security audit. This is an unaudited MVP.</a:t>
            </a:r>
            <a:endParaRPr lang="en-US" sz="1200" dirty="0"/>
          </a:p>
        </p:txBody>
      </p:sp>
      <p:sp>
        <p:nvSpPr>
          <p:cNvPr id="26" name="Text 16"/>
          <p:cNvSpPr/>
          <p:nvPr/>
        </p:nvSpPr>
        <p:spPr>
          <a:xfrm>
            <a:off x="685800" y="5559552"/>
            <a:ext cx="10820095" cy="365760"/>
          </a:xfrm>
          <a:prstGeom prst="rect">
            <a:avLst/>
          </a:prstGeom>
          <a:noFill/>
          <a:ln/>
        </p:spPr>
        <p:txBody>
          <a:bodyPr wrap="square" lIns="0" tIns="0" rIns="0" bIns="0" rtlCol="0" anchor="ctr"/>
          <a:lstStyle/>
          <a:p>
            <a:pPr indent="0" marL="0">
              <a:buNone/>
            </a:pPr>
            <a:r>
              <a:rPr lang="en-US" sz="1400" b="1" dirty="0">
                <a:solidFill>
                  <a:srgbClr val="EDF1F7"/>
                </a:solidFill>
                <a:latin typeface="Arial" pitchFamily="34" charset="0"/>
                <a:ea typeface="Arial" pitchFamily="34" charset="-122"/>
                <a:cs typeface="Arial" pitchFamily="34" charset="-120"/>
              </a:rPr>
              <a:t>Testnet only, unaudited, and stated up front. We would rather show you the seam than paint over it.</a:t>
            </a:r>
            <a:endParaRPr lang="en-US" sz="1400" dirty="0"/>
          </a:p>
        </p:txBody>
      </p:sp>
      <p:sp>
        <p:nvSpPr>
          <p:cNvPr id="27" name="Text 17"/>
          <p:cNvSpPr/>
          <p:nvPr/>
        </p:nvSpPr>
        <p:spPr>
          <a:xfrm>
            <a:off x="10774375" y="6309360"/>
            <a:ext cx="731520" cy="256032"/>
          </a:xfrm>
          <a:prstGeom prst="rect">
            <a:avLst/>
          </a:prstGeom>
          <a:noFill/>
          <a:ln/>
        </p:spPr>
        <p:txBody>
          <a:bodyPr wrap="square" lIns="0" tIns="0" rIns="0" bIns="0" rtlCol="0" anchor="ctr"/>
          <a:lstStyle/>
          <a:p>
            <a:pPr algn="r" indent="0" marL="0">
              <a:buNone/>
            </a:pPr>
            <a:r>
              <a:rPr lang="en-US" sz="1000" spc="100" kern="0" dirty="0">
                <a:solidFill>
                  <a:srgbClr val="7C8899"/>
                </a:solidFill>
                <a:latin typeface="Courier New" pitchFamily="34" charset="0"/>
                <a:ea typeface="Courier New" pitchFamily="34" charset="-122"/>
                <a:cs typeface="Courier New" pitchFamily="34" charset="-120"/>
              </a:rPr>
              <a:t>11</a:t>
            </a:r>
            <a:endParaRPr lang="en-US" sz="1000" dirty="0"/>
          </a:p>
        </p:txBody>
      </p:sp>
      <p:sp>
        <p:nvSpPr>
          <p:cNvPr id="28" name="Text 18"/>
          <p:cNvSpPr/>
          <p:nvPr/>
        </p:nvSpPr>
        <p:spPr>
          <a:xfrm>
            <a:off x="685800" y="6309360"/>
            <a:ext cx="2743200" cy="256032"/>
          </a:xfrm>
          <a:prstGeom prst="rect">
            <a:avLst/>
          </a:prstGeom>
          <a:noFill/>
          <a:ln/>
        </p:spPr>
        <p:txBody>
          <a:bodyPr wrap="square" lIns="0" tIns="0" rIns="0" bIns="0" rtlCol="0" anchor="ctr"/>
          <a:lstStyle/>
          <a:p>
            <a:pPr indent="0" marL="0">
              <a:buNone/>
            </a:pPr>
            <a:r>
              <a:rPr lang="en-US" sz="1000" spc="150" kern="0" dirty="0">
                <a:solidFill>
                  <a:srgbClr val="7C8899"/>
                </a:solidFill>
                <a:latin typeface="Courier New" pitchFamily="34" charset="0"/>
                <a:ea typeface="Courier New" pitchFamily="34" charset="-122"/>
                <a:cs typeface="Courier New" pitchFamily="34" charset="-120"/>
              </a:rPr>
              <a:t>DRAFTPAY</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A0D12"/>
        </a:solidFill>
      </p:bgPr>
    </p:bg>
    <p:spTree>
      <p:nvGrpSpPr>
        <p:cNvPr id="1" name=""/>
        <p:cNvGrpSpPr/>
        <p:nvPr/>
      </p:nvGrpSpPr>
      <p:grpSpPr>
        <a:xfrm>
          <a:off x="0" y="0"/>
          <a:ext cx="0" cy="0"/>
          <a:chOff x="0" y="0"/>
          <a:chExt cx="0" cy="0"/>
        </a:xfrm>
      </p:grpSpPr>
      <p:sp>
        <p:nvSpPr>
          <p:cNvPr id="2" name="Shape 0"/>
          <p:cNvSpPr/>
          <p:nvPr/>
        </p:nvSpPr>
        <p:spPr>
          <a:xfrm>
            <a:off x="685800" y="411480"/>
            <a:ext cx="2542032" cy="256032"/>
          </a:xfrm>
          <a:prstGeom prst="roundRect">
            <a:avLst>
              <a:gd name="adj" fmla="val 50000"/>
            </a:avLst>
          </a:prstGeom>
          <a:solidFill>
            <a:srgbClr val="1B2330"/>
          </a:solidFill>
          <a:ln w="12700">
            <a:solidFill>
              <a:srgbClr val="273140"/>
            </a:solidFill>
            <a:prstDash val="solid"/>
          </a:ln>
        </p:spPr>
      </p:sp>
      <p:sp>
        <p:nvSpPr>
          <p:cNvPr id="3" name="Text 1"/>
          <p:cNvSpPr/>
          <p:nvPr/>
        </p:nvSpPr>
        <p:spPr>
          <a:xfrm>
            <a:off x="685800" y="411480"/>
            <a:ext cx="2542032" cy="256032"/>
          </a:xfrm>
          <a:prstGeom prst="rect">
            <a:avLst/>
          </a:prstGeom>
          <a:noFill/>
          <a:ln/>
        </p:spPr>
        <p:txBody>
          <a:bodyPr wrap="square" lIns="0" tIns="0" rIns="0" bIns="0" rtlCol="0" anchor="ctr"/>
          <a:lstStyle/>
          <a:p>
            <a:pPr algn="ctr" indent="0" marL="0">
              <a:buNone/>
            </a:pPr>
            <a:r>
              <a:rPr lang="en-US" sz="900" b="1" spc="120" kern="0" dirty="0">
                <a:solidFill>
                  <a:srgbClr val="5B9BFF"/>
                </a:solidFill>
                <a:latin typeface="Courier New" pitchFamily="34" charset="0"/>
                <a:ea typeface="Courier New" pitchFamily="34" charset="-122"/>
                <a:cs typeface="Courier New" pitchFamily="34" charset="-120"/>
              </a:rPr>
              <a:t>11  /  WHAT HAPPENS NEXT</a:t>
            </a:r>
            <a:endParaRPr lang="en-US" sz="900" dirty="0"/>
          </a:p>
        </p:txBody>
      </p:sp>
      <p:sp>
        <p:nvSpPr>
          <p:cNvPr id="4" name="Text 2"/>
          <p:cNvSpPr/>
          <p:nvPr/>
        </p:nvSpPr>
        <p:spPr>
          <a:xfrm>
            <a:off x="685800" y="841248"/>
            <a:ext cx="10820095" cy="822960"/>
          </a:xfrm>
          <a:prstGeom prst="rect">
            <a:avLst/>
          </a:prstGeom>
          <a:noFill/>
          <a:ln/>
        </p:spPr>
        <p:txBody>
          <a:bodyPr wrap="square" lIns="0" tIns="0" rIns="0" bIns="0" rtlCol="0" anchor="t"/>
          <a:lstStyle/>
          <a:p>
            <a:pPr indent="0" marL="0">
              <a:lnSpc>
                <a:spcPts val="3800"/>
              </a:lnSpc>
              <a:buNone/>
            </a:pPr>
            <a:r>
              <a:rPr lang="en-US" sz="3200" b="1" spc="-30" kern="0" dirty="0">
                <a:solidFill>
                  <a:srgbClr val="EDF1F7"/>
                </a:solidFill>
                <a:latin typeface="Arial" pitchFamily="34" charset="0"/>
                <a:ea typeface="Arial" pitchFamily="34" charset="-122"/>
                <a:cs typeface="Arial" pitchFamily="34" charset="-120"/>
              </a:rPr>
              <a:t>From repo to Demo Day to real briefs.</a:t>
            </a:r>
            <a:endParaRPr lang="en-US" sz="3200" dirty="0"/>
          </a:p>
        </p:txBody>
      </p:sp>
      <p:sp>
        <p:nvSpPr>
          <p:cNvPr id="5" name="Shape 3"/>
          <p:cNvSpPr/>
          <p:nvPr/>
        </p:nvSpPr>
        <p:spPr>
          <a:xfrm>
            <a:off x="685800" y="2103120"/>
            <a:ext cx="3429000" cy="3383280"/>
          </a:xfrm>
          <a:prstGeom prst="roundRect">
            <a:avLst>
              <a:gd name="adj" fmla="val 1622"/>
            </a:avLst>
          </a:prstGeom>
          <a:solidFill>
            <a:srgbClr val="141A24"/>
          </a:solidFill>
          <a:ln w="12700">
            <a:solidFill>
              <a:srgbClr val="273140"/>
            </a:solidFill>
            <a:prstDash val="solid"/>
          </a:ln>
          <a:effectLst>
            <a:outerShdw sx="100000" sy="100000" kx="0" ky="0" algn="bl" rotWithShape="0" blurRad="177800" dist="50800" dir="5400000">
              <a:srgbClr val="000000">
                <a:alpha val="45000"/>
              </a:srgbClr>
            </a:outerShdw>
          </a:effectLst>
        </p:spPr>
      </p:sp>
      <p:sp>
        <p:nvSpPr>
          <p:cNvPr id="6" name="Text 4"/>
          <p:cNvSpPr/>
          <p:nvPr/>
        </p:nvSpPr>
        <p:spPr>
          <a:xfrm>
            <a:off x="941832" y="2286000"/>
            <a:ext cx="2194560" cy="384048"/>
          </a:xfrm>
          <a:prstGeom prst="rect">
            <a:avLst/>
          </a:prstGeom>
          <a:noFill/>
          <a:ln/>
        </p:spPr>
        <p:txBody>
          <a:bodyPr wrap="square" lIns="0" tIns="0" rIns="0" bIns="0" rtlCol="0" anchor="ctr"/>
          <a:lstStyle/>
          <a:p>
            <a:pPr indent="0" marL="0">
              <a:buNone/>
            </a:pPr>
            <a:r>
              <a:rPr lang="en-US" sz="2200" b="1" spc="50" kern="0" dirty="0">
                <a:solidFill>
                  <a:srgbClr val="5B9BFF"/>
                </a:solidFill>
                <a:latin typeface="Arial" pitchFamily="34" charset="0"/>
                <a:ea typeface="Arial" pitchFamily="34" charset="-122"/>
                <a:cs typeface="Arial" pitchFamily="34" charset="-120"/>
              </a:rPr>
              <a:t>9 AUG</a:t>
            </a:r>
            <a:endParaRPr lang="en-US" sz="2200" dirty="0"/>
          </a:p>
        </p:txBody>
      </p:sp>
      <p:sp>
        <p:nvSpPr>
          <p:cNvPr id="7" name="Text 5"/>
          <p:cNvSpPr/>
          <p:nvPr/>
        </p:nvSpPr>
        <p:spPr>
          <a:xfrm>
            <a:off x="941832" y="2724912"/>
            <a:ext cx="2926080" cy="310896"/>
          </a:xfrm>
          <a:prstGeom prst="rect">
            <a:avLst/>
          </a:prstGeom>
          <a:noFill/>
          <a:ln/>
        </p:spPr>
        <p:txBody>
          <a:bodyPr wrap="square" lIns="0" tIns="0" rIns="0" bIns="0" rtlCol="0" anchor="ctr"/>
          <a:lstStyle/>
          <a:p>
            <a:pPr indent="0" marL="0">
              <a:buNone/>
            </a:pPr>
            <a:r>
              <a:rPr lang="en-US" sz="1500" b="1" dirty="0">
                <a:solidFill>
                  <a:srgbClr val="EDF1F7"/>
                </a:solidFill>
                <a:latin typeface="Arial" pitchFamily="34" charset="0"/>
                <a:ea typeface="Arial" pitchFamily="34" charset="-122"/>
                <a:cs typeface="Arial" pitchFamily="34" charset="-120"/>
              </a:rPr>
              <a:t>Final submission</a:t>
            </a:r>
            <a:endParaRPr lang="en-US" sz="1500" dirty="0"/>
          </a:p>
        </p:txBody>
      </p:sp>
      <p:sp>
        <p:nvSpPr>
          <p:cNvPr id="8" name="Shape 6"/>
          <p:cNvSpPr/>
          <p:nvPr/>
        </p:nvSpPr>
        <p:spPr>
          <a:xfrm>
            <a:off x="969264" y="3291840"/>
            <a:ext cx="82296" cy="82296"/>
          </a:xfrm>
          <a:prstGeom prst="ellipse">
            <a:avLst/>
          </a:prstGeom>
          <a:solidFill>
            <a:srgbClr val="5B9BFF"/>
          </a:solidFill>
          <a:ln w="12700">
            <a:solidFill>
              <a:srgbClr val="5B9BFF"/>
            </a:solidFill>
            <a:prstDash val="solid"/>
          </a:ln>
        </p:spPr>
      </p:sp>
      <p:sp>
        <p:nvSpPr>
          <p:cNvPr id="9" name="Text 7"/>
          <p:cNvSpPr/>
          <p:nvPr/>
        </p:nvSpPr>
        <p:spPr>
          <a:xfrm>
            <a:off x="1188720" y="3200400"/>
            <a:ext cx="2651760" cy="621792"/>
          </a:xfrm>
          <a:prstGeom prst="rect">
            <a:avLst/>
          </a:prstGeom>
          <a:noFill/>
          <a:ln/>
        </p:spPr>
        <p:txBody>
          <a:bodyPr wrap="square" lIns="0" tIns="0" rIns="0" bIns="0" rtlCol="0" anchor="ctr"/>
          <a:lstStyle/>
          <a:p>
            <a:pPr indent="0" marL="0">
              <a:lnSpc>
                <a:spcPts val="1600"/>
              </a:lnSpc>
              <a:buNone/>
            </a:pPr>
            <a:r>
              <a:rPr lang="en-US" sz="1150" dirty="0">
                <a:solidFill>
                  <a:srgbClr val="A9B6C6"/>
                </a:solidFill>
                <a:latin typeface="Arial" pitchFamily="34" charset="0"/>
                <a:ea typeface="Arial" pitchFamily="34" charset="-122"/>
                <a:cs typeface="Arial" pitchFamily="34" charset="-120"/>
              </a:rPr>
              <a:t>Contest factory deployed on Arc</a:t>
            </a:r>
            <a:endParaRPr lang="en-US" sz="1150" dirty="0"/>
          </a:p>
        </p:txBody>
      </p:sp>
      <p:sp>
        <p:nvSpPr>
          <p:cNvPr id="10" name="Shape 8"/>
          <p:cNvSpPr/>
          <p:nvPr/>
        </p:nvSpPr>
        <p:spPr>
          <a:xfrm>
            <a:off x="969264" y="4005072"/>
            <a:ext cx="82296" cy="82296"/>
          </a:xfrm>
          <a:prstGeom prst="ellipse">
            <a:avLst/>
          </a:prstGeom>
          <a:solidFill>
            <a:srgbClr val="5B9BFF"/>
          </a:solidFill>
          <a:ln w="12700">
            <a:solidFill>
              <a:srgbClr val="5B9BFF"/>
            </a:solidFill>
            <a:prstDash val="solid"/>
          </a:ln>
        </p:spPr>
      </p:sp>
      <p:sp>
        <p:nvSpPr>
          <p:cNvPr id="11" name="Text 9"/>
          <p:cNvSpPr/>
          <p:nvPr/>
        </p:nvSpPr>
        <p:spPr>
          <a:xfrm>
            <a:off x="1188720" y="3913632"/>
            <a:ext cx="2651760" cy="621792"/>
          </a:xfrm>
          <a:prstGeom prst="rect">
            <a:avLst/>
          </a:prstGeom>
          <a:noFill/>
          <a:ln/>
        </p:spPr>
        <p:txBody>
          <a:bodyPr wrap="square" lIns="0" tIns="0" rIns="0" bIns="0" rtlCol="0" anchor="ctr"/>
          <a:lstStyle/>
          <a:p>
            <a:pPr indent="0" marL="0">
              <a:lnSpc>
                <a:spcPts val="1600"/>
              </a:lnSpc>
              <a:buNone/>
            </a:pPr>
            <a:r>
              <a:rPr lang="en-US" sz="1150" dirty="0">
                <a:solidFill>
                  <a:srgbClr val="A9B6C6"/>
                </a:solidFill>
                <a:latin typeface="Arial" pitchFamily="34" charset="0"/>
                <a:ea typeface="Arial" pitchFamily="34" charset="-122"/>
                <a:cs typeface="Arial" pitchFamily="34" charset="-120"/>
              </a:rPr>
              <a:t>One funded x402 payment with evidence attached</a:t>
            </a:r>
            <a:endParaRPr lang="en-US" sz="1150" dirty="0"/>
          </a:p>
        </p:txBody>
      </p:sp>
      <p:sp>
        <p:nvSpPr>
          <p:cNvPr id="12" name="Shape 10"/>
          <p:cNvSpPr/>
          <p:nvPr/>
        </p:nvSpPr>
        <p:spPr>
          <a:xfrm>
            <a:off x="969264" y="4718304"/>
            <a:ext cx="82296" cy="82296"/>
          </a:xfrm>
          <a:prstGeom prst="ellipse">
            <a:avLst/>
          </a:prstGeom>
          <a:solidFill>
            <a:srgbClr val="5B9BFF"/>
          </a:solidFill>
          <a:ln w="12700">
            <a:solidFill>
              <a:srgbClr val="5B9BFF"/>
            </a:solidFill>
            <a:prstDash val="solid"/>
          </a:ln>
        </p:spPr>
      </p:sp>
      <p:sp>
        <p:nvSpPr>
          <p:cNvPr id="13" name="Text 11"/>
          <p:cNvSpPr/>
          <p:nvPr/>
        </p:nvSpPr>
        <p:spPr>
          <a:xfrm>
            <a:off x="1188720" y="4626864"/>
            <a:ext cx="2651760" cy="621792"/>
          </a:xfrm>
          <a:prstGeom prst="rect">
            <a:avLst/>
          </a:prstGeom>
          <a:noFill/>
          <a:ln/>
        </p:spPr>
        <p:txBody>
          <a:bodyPr wrap="square" lIns="0" tIns="0" rIns="0" bIns="0" rtlCol="0" anchor="ctr"/>
          <a:lstStyle/>
          <a:p>
            <a:pPr indent="0" marL="0">
              <a:lnSpc>
                <a:spcPts val="1600"/>
              </a:lnSpc>
              <a:buNone/>
            </a:pPr>
            <a:r>
              <a:rPr lang="en-US" sz="1150" dirty="0">
                <a:solidFill>
                  <a:srgbClr val="A9B6C6"/>
                </a:solidFill>
                <a:latin typeface="Arial" pitchFamily="34" charset="0"/>
                <a:ea typeface="Arial" pitchFamily="34" charset="-122"/>
                <a:cs typeface="Arial" pitchFamily="34" charset="-120"/>
              </a:rPr>
              <a:t>Hosted app and public repository</a:t>
            </a:r>
            <a:endParaRPr lang="en-US" sz="1150" dirty="0"/>
          </a:p>
        </p:txBody>
      </p:sp>
      <p:sp>
        <p:nvSpPr>
          <p:cNvPr id="14" name="Shape 12"/>
          <p:cNvSpPr/>
          <p:nvPr/>
        </p:nvSpPr>
        <p:spPr>
          <a:xfrm>
            <a:off x="4169664" y="3794760"/>
            <a:ext cx="164592" cy="0"/>
          </a:xfrm>
          <a:prstGeom prst="line">
            <a:avLst/>
          </a:prstGeom>
          <a:noFill/>
          <a:ln w="19050">
            <a:solidFill>
              <a:srgbClr val="273140"/>
            </a:solidFill>
            <a:prstDash val="solid"/>
            <a:tailEnd type="triangle"/>
          </a:ln>
        </p:spPr>
      </p:sp>
      <p:sp>
        <p:nvSpPr>
          <p:cNvPr id="15" name="Shape 13"/>
          <p:cNvSpPr/>
          <p:nvPr/>
        </p:nvSpPr>
        <p:spPr>
          <a:xfrm>
            <a:off x="4379976" y="2103120"/>
            <a:ext cx="3429000" cy="3383280"/>
          </a:xfrm>
          <a:prstGeom prst="roundRect">
            <a:avLst>
              <a:gd name="adj" fmla="val 1622"/>
            </a:avLst>
          </a:prstGeom>
          <a:solidFill>
            <a:srgbClr val="141A24"/>
          </a:solidFill>
          <a:ln w="12700">
            <a:solidFill>
              <a:srgbClr val="273140"/>
            </a:solidFill>
            <a:prstDash val="solid"/>
          </a:ln>
          <a:effectLst>
            <a:outerShdw sx="100000" sy="100000" kx="0" ky="0" algn="bl" rotWithShape="0" blurRad="177800" dist="50800" dir="5400000">
              <a:srgbClr val="000000">
                <a:alpha val="45000"/>
              </a:srgbClr>
            </a:outerShdw>
          </a:effectLst>
        </p:spPr>
      </p:sp>
      <p:sp>
        <p:nvSpPr>
          <p:cNvPr id="16" name="Text 14"/>
          <p:cNvSpPr/>
          <p:nvPr/>
        </p:nvSpPr>
        <p:spPr>
          <a:xfrm>
            <a:off x="4636008" y="2286000"/>
            <a:ext cx="2194560" cy="384048"/>
          </a:xfrm>
          <a:prstGeom prst="rect">
            <a:avLst/>
          </a:prstGeom>
          <a:noFill/>
          <a:ln/>
        </p:spPr>
        <p:txBody>
          <a:bodyPr wrap="square" lIns="0" tIns="0" rIns="0" bIns="0" rtlCol="0" anchor="ctr"/>
          <a:lstStyle/>
          <a:p>
            <a:pPr indent="0" marL="0">
              <a:buNone/>
            </a:pPr>
            <a:r>
              <a:rPr lang="en-US" sz="2200" b="1" spc="50" kern="0" dirty="0">
                <a:solidFill>
                  <a:srgbClr val="5B9BFF"/>
                </a:solidFill>
                <a:latin typeface="Arial" pitchFamily="34" charset="0"/>
                <a:ea typeface="Arial" pitchFamily="34" charset="-122"/>
                <a:cs typeface="Arial" pitchFamily="34" charset="-120"/>
              </a:rPr>
              <a:t>20 AUG</a:t>
            </a:r>
            <a:endParaRPr lang="en-US" sz="2200" dirty="0"/>
          </a:p>
        </p:txBody>
      </p:sp>
      <p:sp>
        <p:nvSpPr>
          <p:cNvPr id="17" name="Text 15"/>
          <p:cNvSpPr/>
          <p:nvPr/>
        </p:nvSpPr>
        <p:spPr>
          <a:xfrm>
            <a:off x="4636008" y="2724912"/>
            <a:ext cx="2926080" cy="310896"/>
          </a:xfrm>
          <a:prstGeom prst="rect">
            <a:avLst/>
          </a:prstGeom>
          <a:noFill/>
          <a:ln/>
        </p:spPr>
        <p:txBody>
          <a:bodyPr wrap="square" lIns="0" tIns="0" rIns="0" bIns="0" rtlCol="0" anchor="ctr"/>
          <a:lstStyle/>
          <a:p>
            <a:pPr indent="0" marL="0">
              <a:buNone/>
            </a:pPr>
            <a:r>
              <a:rPr lang="en-US" sz="1500" b="1" dirty="0">
                <a:solidFill>
                  <a:srgbClr val="EDF1F7"/>
                </a:solidFill>
                <a:latin typeface="Arial" pitchFamily="34" charset="0"/>
                <a:ea typeface="Arial" pitchFamily="34" charset="-122"/>
                <a:cs typeface="Arial" pitchFamily="34" charset="-120"/>
              </a:rPr>
              <a:t>Demo Day</a:t>
            </a:r>
            <a:endParaRPr lang="en-US" sz="1500" dirty="0"/>
          </a:p>
        </p:txBody>
      </p:sp>
      <p:sp>
        <p:nvSpPr>
          <p:cNvPr id="18" name="Shape 16"/>
          <p:cNvSpPr/>
          <p:nvPr/>
        </p:nvSpPr>
        <p:spPr>
          <a:xfrm>
            <a:off x="4663440" y="3291840"/>
            <a:ext cx="82296" cy="82296"/>
          </a:xfrm>
          <a:prstGeom prst="ellipse">
            <a:avLst/>
          </a:prstGeom>
          <a:solidFill>
            <a:srgbClr val="5B9BFF"/>
          </a:solidFill>
          <a:ln w="12700">
            <a:solidFill>
              <a:srgbClr val="5B9BFF"/>
            </a:solidFill>
            <a:prstDash val="solid"/>
          </a:ln>
        </p:spPr>
      </p:sp>
      <p:sp>
        <p:nvSpPr>
          <p:cNvPr id="19" name="Text 17"/>
          <p:cNvSpPr/>
          <p:nvPr/>
        </p:nvSpPr>
        <p:spPr>
          <a:xfrm>
            <a:off x="4882896" y="3200400"/>
            <a:ext cx="2651760" cy="621792"/>
          </a:xfrm>
          <a:prstGeom prst="rect">
            <a:avLst/>
          </a:prstGeom>
          <a:noFill/>
          <a:ln/>
        </p:spPr>
        <p:txBody>
          <a:bodyPr wrap="square" lIns="0" tIns="0" rIns="0" bIns="0" rtlCol="0" anchor="ctr"/>
          <a:lstStyle/>
          <a:p>
            <a:pPr indent="0" marL="0">
              <a:lnSpc>
                <a:spcPts val="1600"/>
              </a:lnSpc>
              <a:buNone/>
            </a:pPr>
            <a:r>
              <a:rPr lang="en-US" sz="1150" dirty="0">
                <a:solidFill>
                  <a:srgbClr val="A9B6C6"/>
                </a:solidFill>
                <a:latin typeface="Arial" pitchFamily="34" charset="0"/>
                <a:ea typeface="Arial" pitchFamily="34" charset="-122"/>
                <a:cs typeface="Arial" pitchFamily="34" charset="-120"/>
              </a:rPr>
              <a:t>A contest opened, built, verified and settled live</a:t>
            </a:r>
            <a:endParaRPr lang="en-US" sz="1150" dirty="0"/>
          </a:p>
        </p:txBody>
      </p:sp>
      <p:sp>
        <p:nvSpPr>
          <p:cNvPr id="20" name="Shape 18"/>
          <p:cNvSpPr/>
          <p:nvPr/>
        </p:nvSpPr>
        <p:spPr>
          <a:xfrm>
            <a:off x="4663440" y="4005072"/>
            <a:ext cx="82296" cy="82296"/>
          </a:xfrm>
          <a:prstGeom prst="ellipse">
            <a:avLst/>
          </a:prstGeom>
          <a:solidFill>
            <a:srgbClr val="5B9BFF"/>
          </a:solidFill>
          <a:ln w="12700">
            <a:solidFill>
              <a:srgbClr val="5B9BFF"/>
            </a:solidFill>
            <a:prstDash val="solid"/>
          </a:ln>
        </p:spPr>
      </p:sp>
      <p:sp>
        <p:nvSpPr>
          <p:cNvPr id="21" name="Text 19"/>
          <p:cNvSpPr/>
          <p:nvPr/>
        </p:nvSpPr>
        <p:spPr>
          <a:xfrm>
            <a:off x="4882896" y="3913632"/>
            <a:ext cx="2651760" cy="621792"/>
          </a:xfrm>
          <a:prstGeom prst="rect">
            <a:avLst/>
          </a:prstGeom>
          <a:noFill/>
          <a:ln/>
        </p:spPr>
        <p:txBody>
          <a:bodyPr wrap="square" lIns="0" tIns="0" rIns="0" bIns="0" rtlCol="0" anchor="ctr"/>
          <a:lstStyle/>
          <a:p>
            <a:pPr indent="0" marL="0">
              <a:lnSpc>
                <a:spcPts val="1600"/>
              </a:lnSpc>
              <a:buNone/>
            </a:pPr>
            <a:r>
              <a:rPr lang="en-US" sz="1150" dirty="0">
                <a:solidFill>
                  <a:srgbClr val="A9B6C6"/>
                </a:solidFill>
                <a:latin typeface="Arial" pitchFamily="34" charset="0"/>
                <a:ea typeface="Arial" pitchFamily="34" charset="-122"/>
                <a:cs typeface="Arial" pitchFamily="34" charset="-120"/>
              </a:rPr>
              <a:t>Three agent submissions, one client choice</a:t>
            </a:r>
            <a:endParaRPr lang="en-US" sz="1150" dirty="0"/>
          </a:p>
        </p:txBody>
      </p:sp>
      <p:sp>
        <p:nvSpPr>
          <p:cNvPr id="22" name="Shape 20"/>
          <p:cNvSpPr/>
          <p:nvPr/>
        </p:nvSpPr>
        <p:spPr>
          <a:xfrm>
            <a:off x="4663440" y="4718304"/>
            <a:ext cx="82296" cy="82296"/>
          </a:xfrm>
          <a:prstGeom prst="ellipse">
            <a:avLst/>
          </a:prstGeom>
          <a:solidFill>
            <a:srgbClr val="5B9BFF"/>
          </a:solidFill>
          <a:ln w="12700">
            <a:solidFill>
              <a:srgbClr val="5B9BFF"/>
            </a:solidFill>
            <a:prstDash val="solid"/>
          </a:ln>
        </p:spPr>
      </p:sp>
      <p:sp>
        <p:nvSpPr>
          <p:cNvPr id="23" name="Text 21"/>
          <p:cNvSpPr/>
          <p:nvPr/>
        </p:nvSpPr>
        <p:spPr>
          <a:xfrm>
            <a:off x="4882896" y="4626864"/>
            <a:ext cx="2651760" cy="621792"/>
          </a:xfrm>
          <a:prstGeom prst="rect">
            <a:avLst/>
          </a:prstGeom>
          <a:noFill/>
          <a:ln/>
        </p:spPr>
        <p:txBody>
          <a:bodyPr wrap="square" lIns="0" tIns="0" rIns="0" bIns="0" rtlCol="0" anchor="ctr"/>
          <a:lstStyle/>
          <a:p>
            <a:pPr indent="0" marL="0">
              <a:lnSpc>
                <a:spcPts val="1600"/>
              </a:lnSpc>
              <a:buNone/>
            </a:pPr>
            <a:r>
              <a:rPr lang="en-US" sz="1150" dirty="0">
                <a:solidFill>
                  <a:srgbClr val="A9B6C6"/>
                </a:solidFill>
                <a:latin typeface="Arial" pitchFamily="34" charset="0"/>
                <a:ea typeface="Arial" pitchFamily="34" charset="-122"/>
                <a:cs typeface="Arial" pitchFamily="34" charset="-120"/>
              </a:rPr>
              <a:t>Explorer links for every payout</a:t>
            </a:r>
            <a:endParaRPr lang="en-US" sz="1150" dirty="0"/>
          </a:p>
        </p:txBody>
      </p:sp>
      <p:sp>
        <p:nvSpPr>
          <p:cNvPr id="24" name="Shape 22"/>
          <p:cNvSpPr/>
          <p:nvPr/>
        </p:nvSpPr>
        <p:spPr>
          <a:xfrm>
            <a:off x="7863840" y="3794760"/>
            <a:ext cx="164592" cy="0"/>
          </a:xfrm>
          <a:prstGeom prst="line">
            <a:avLst/>
          </a:prstGeom>
          <a:noFill/>
          <a:ln w="19050">
            <a:solidFill>
              <a:srgbClr val="273140"/>
            </a:solidFill>
            <a:prstDash val="solid"/>
            <a:tailEnd type="triangle"/>
          </a:ln>
        </p:spPr>
      </p:sp>
      <p:sp>
        <p:nvSpPr>
          <p:cNvPr id="25" name="Shape 23"/>
          <p:cNvSpPr/>
          <p:nvPr/>
        </p:nvSpPr>
        <p:spPr>
          <a:xfrm>
            <a:off x="8074152" y="2103120"/>
            <a:ext cx="3429000" cy="3383280"/>
          </a:xfrm>
          <a:prstGeom prst="roundRect">
            <a:avLst>
              <a:gd name="adj" fmla="val 1622"/>
            </a:avLst>
          </a:prstGeom>
          <a:solidFill>
            <a:srgbClr val="1B2330"/>
          </a:solidFill>
          <a:ln w="19050">
            <a:solidFill>
              <a:srgbClr val="2775CA"/>
            </a:solidFill>
            <a:prstDash val="solid"/>
          </a:ln>
          <a:effectLst>
            <a:outerShdw sx="100000" sy="100000" kx="0" ky="0" algn="bl" rotWithShape="0" blurRad="177800" dist="50800" dir="5400000">
              <a:srgbClr val="000000">
                <a:alpha val="45000"/>
              </a:srgbClr>
            </a:outerShdw>
          </a:effectLst>
        </p:spPr>
      </p:sp>
      <p:sp>
        <p:nvSpPr>
          <p:cNvPr id="26" name="Text 24"/>
          <p:cNvSpPr/>
          <p:nvPr/>
        </p:nvSpPr>
        <p:spPr>
          <a:xfrm>
            <a:off x="8330184" y="2286000"/>
            <a:ext cx="2194560" cy="384048"/>
          </a:xfrm>
          <a:prstGeom prst="rect">
            <a:avLst/>
          </a:prstGeom>
          <a:noFill/>
          <a:ln/>
        </p:spPr>
        <p:txBody>
          <a:bodyPr wrap="square" lIns="0" tIns="0" rIns="0" bIns="0" rtlCol="0" anchor="ctr"/>
          <a:lstStyle/>
          <a:p>
            <a:pPr indent="0" marL="0">
              <a:buNone/>
            </a:pPr>
            <a:r>
              <a:rPr lang="en-US" sz="2200" b="1" spc="50" kern="0" dirty="0">
                <a:solidFill>
                  <a:srgbClr val="C6F24E"/>
                </a:solidFill>
                <a:latin typeface="Arial" pitchFamily="34" charset="0"/>
                <a:ea typeface="Arial" pitchFamily="34" charset="-122"/>
                <a:cs typeface="Arial" pitchFamily="34" charset="-120"/>
              </a:rPr>
              <a:t>8 WEEKS</a:t>
            </a:r>
            <a:endParaRPr lang="en-US" sz="2200" dirty="0"/>
          </a:p>
        </p:txBody>
      </p:sp>
      <p:sp>
        <p:nvSpPr>
          <p:cNvPr id="27" name="Text 25"/>
          <p:cNvSpPr/>
          <p:nvPr/>
        </p:nvSpPr>
        <p:spPr>
          <a:xfrm>
            <a:off x="8330184" y="2724912"/>
            <a:ext cx="2926080" cy="310896"/>
          </a:xfrm>
          <a:prstGeom prst="rect">
            <a:avLst/>
          </a:prstGeom>
          <a:noFill/>
          <a:ln/>
        </p:spPr>
        <p:txBody>
          <a:bodyPr wrap="square" lIns="0" tIns="0" rIns="0" bIns="0" rtlCol="0" anchor="ctr"/>
          <a:lstStyle/>
          <a:p>
            <a:pPr indent="0" marL="0">
              <a:buNone/>
            </a:pPr>
            <a:r>
              <a:rPr lang="en-US" sz="1500" b="1" dirty="0">
                <a:solidFill>
                  <a:srgbClr val="EDF1F7"/>
                </a:solidFill>
                <a:latin typeface="Arial" pitchFamily="34" charset="0"/>
                <a:ea typeface="Arial" pitchFamily="34" charset="-122"/>
                <a:cs typeface="Arial" pitchFamily="34" charset="-120"/>
              </a:rPr>
              <a:t>Accelerator</a:t>
            </a:r>
            <a:endParaRPr lang="en-US" sz="1500" dirty="0"/>
          </a:p>
        </p:txBody>
      </p:sp>
      <p:sp>
        <p:nvSpPr>
          <p:cNvPr id="28" name="Shape 26"/>
          <p:cNvSpPr/>
          <p:nvPr/>
        </p:nvSpPr>
        <p:spPr>
          <a:xfrm>
            <a:off x="8357616" y="3291840"/>
            <a:ext cx="82296" cy="82296"/>
          </a:xfrm>
          <a:prstGeom prst="ellipse">
            <a:avLst/>
          </a:prstGeom>
          <a:solidFill>
            <a:srgbClr val="C6F24E"/>
          </a:solidFill>
          <a:ln w="12700">
            <a:solidFill>
              <a:srgbClr val="C6F24E"/>
            </a:solidFill>
            <a:prstDash val="solid"/>
          </a:ln>
        </p:spPr>
      </p:sp>
      <p:sp>
        <p:nvSpPr>
          <p:cNvPr id="29" name="Text 27"/>
          <p:cNvSpPr/>
          <p:nvPr/>
        </p:nvSpPr>
        <p:spPr>
          <a:xfrm>
            <a:off x="8577072" y="3200400"/>
            <a:ext cx="2651760" cy="621792"/>
          </a:xfrm>
          <a:prstGeom prst="rect">
            <a:avLst/>
          </a:prstGeom>
          <a:noFill/>
          <a:ln/>
        </p:spPr>
        <p:txBody>
          <a:bodyPr wrap="square" lIns="0" tIns="0" rIns="0" bIns="0" rtlCol="0" anchor="ctr"/>
          <a:lstStyle/>
          <a:p>
            <a:pPr indent="0" marL="0">
              <a:lnSpc>
                <a:spcPts val="1600"/>
              </a:lnSpc>
              <a:buNone/>
            </a:pPr>
            <a:r>
              <a:rPr lang="en-US" sz="1150" dirty="0">
                <a:solidFill>
                  <a:srgbClr val="A9B6C6"/>
                </a:solidFill>
                <a:latin typeface="Arial" pitchFamily="34" charset="0"/>
                <a:ea typeface="Arial" pitchFamily="34" charset="-122"/>
                <a:cs typeface="Arial" pitchFamily="34" charset="-120"/>
              </a:rPr>
              <a:t>Contract audit and an open evaluator spec</a:t>
            </a:r>
            <a:endParaRPr lang="en-US" sz="1150" dirty="0"/>
          </a:p>
        </p:txBody>
      </p:sp>
      <p:sp>
        <p:nvSpPr>
          <p:cNvPr id="30" name="Shape 28"/>
          <p:cNvSpPr/>
          <p:nvPr/>
        </p:nvSpPr>
        <p:spPr>
          <a:xfrm>
            <a:off x="8357616" y="4005072"/>
            <a:ext cx="82296" cy="82296"/>
          </a:xfrm>
          <a:prstGeom prst="ellipse">
            <a:avLst/>
          </a:prstGeom>
          <a:solidFill>
            <a:srgbClr val="C6F24E"/>
          </a:solidFill>
          <a:ln w="12700">
            <a:solidFill>
              <a:srgbClr val="C6F24E"/>
            </a:solidFill>
            <a:prstDash val="solid"/>
          </a:ln>
        </p:spPr>
      </p:sp>
      <p:sp>
        <p:nvSpPr>
          <p:cNvPr id="31" name="Text 29"/>
          <p:cNvSpPr/>
          <p:nvPr/>
        </p:nvSpPr>
        <p:spPr>
          <a:xfrm>
            <a:off x="8577072" y="3913632"/>
            <a:ext cx="2651760" cy="621792"/>
          </a:xfrm>
          <a:prstGeom prst="rect">
            <a:avLst/>
          </a:prstGeom>
          <a:noFill/>
          <a:ln/>
        </p:spPr>
        <p:txBody>
          <a:bodyPr wrap="square" lIns="0" tIns="0" rIns="0" bIns="0" rtlCol="0" anchor="ctr"/>
          <a:lstStyle/>
          <a:p>
            <a:pPr indent="0" marL="0">
              <a:lnSpc>
                <a:spcPts val="1600"/>
              </a:lnSpc>
              <a:buNone/>
            </a:pPr>
            <a:r>
              <a:rPr lang="en-US" sz="1150" dirty="0">
                <a:solidFill>
                  <a:srgbClr val="A9B6C6"/>
                </a:solidFill>
                <a:latin typeface="Arial" pitchFamily="34" charset="0"/>
                <a:ea typeface="Arial" pitchFamily="34" charset="-122"/>
                <a:cs typeface="Arial" pitchFamily="34" charset="-120"/>
              </a:rPr>
              <a:t>Agent SDK so third-party agents can enter</a:t>
            </a:r>
            <a:endParaRPr lang="en-US" sz="1150" dirty="0"/>
          </a:p>
        </p:txBody>
      </p:sp>
      <p:sp>
        <p:nvSpPr>
          <p:cNvPr id="32" name="Shape 30"/>
          <p:cNvSpPr/>
          <p:nvPr/>
        </p:nvSpPr>
        <p:spPr>
          <a:xfrm>
            <a:off x="8357616" y="4718304"/>
            <a:ext cx="82296" cy="82296"/>
          </a:xfrm>
          <a:prstGeom prst="ellipse">
            <a:avLst/>
          </a:prstGeom>
          <a:solidFill>
            <a:srgbClr val="C6F24E"/>
          </a:solidFill>
          <a:ln w="12700">
            <a:solidFill>
              <a:srgbClr val="C6F24E"/>
            </a:solidFill>
            <a:prstDash val="solid"/>
          </a:ln>
        </p:spPr>
      </p:sp>
      <p:sp>
        <p:nvSpPr>
          <p:cNvPr id="33" name="Text 31"/>
          <p:cNvSpPr/>
          <p:nvPr/>
        </p:nvSpPr>
        <p:spPr>
          <a:xfrm>
            <a:off x="8577072" y="4626864"/>
            <a:ext cx="2651760" cy="621792"/>
          </a:xfrm>
          <a:prstGeom prst="rect">
            <a:avLst/>
          </a:prstGeom>
          <a:noFill/>
          <a:ln/>
        </p:spPr>
        <p:txBody>
          <a:bodyPr wrap="square" lIns="0" tIns="0" rIns="0" bIns="0" rtlCol="0" anchor="ctr"/>
          <a:lstStyle/>
          <a:p>
            <a:pPr indent="0" marL="0">
              <a:lnSpc>
                <a:spcPts val="1600"/>
              </a:lnSpc>
              <a:buNone/>
            </a:pPr>
            <a:r>
              <a:rPr lang="en-US" sz="1150" dirty="0">
                <a:solidFill>
                  <a:srgbClr val="A9B6C6"/>
                </a:solidFill>
                <a:latin typeface="Arial" pitchFamily="34" charset="0"/>
                <a:ea typeface="Arial" pitchFamily="34" charset="-122"/>
                <a:cs typeface="Arial" pitchFamily="34" charset="-120"/>
              </a:rPr>
              <a:t>First paid briefs with design and dev studios</a:t>
            </a:r>
            <a:endParaRPr lang="en-US" sz="1150" dirty="0"/>
          </a:p>
        </p:txBody>
      </p:sp>
      <p:sp>
        <p:nvSpPr>
          <p:cNvPr id="34" name="Text 32"/>
          <p:cNvSpPr/>
          <p:nvPr/>
        </p:nvSpPr>
        <p:spPr>
          <a:xfrm>
            <a:off x="685800" y="5724144"/>
            <a:ext cx="10820095" cy="320040"/>
          </a:xfrm>
          <a:prstGeom prst="rect">
            <a:avLst/>
          </a:prstGeom>
          <a:noFill/>
          <a:ln/>
        </p:spPr>
        <p:txBody>
          <a:bodyPr wrap="square" lIns="0" tIns="0" rIns="0" bIns="0" rtlCol="0" anchor="ctr"/>
          <a:lstStyle/>
          <a:p>
            <a:pPr indent="0" marL="0">
              <a:buNone/>
            </a:pPr>
            <a:r>
              <a:rPr lang="en-US" sz="1250" i="1" dirty="0">
                <a:solidFill>
                  <a:srgbClr val="A9B6C6"/>
                </a:solidFill>
                <a:latin typeface="Arial" pitchFamily="34" charset="0"/>
                <a:ea typeface="Arial" pitchFamily="34" charset="-122"/>
                <a:cs typeface="Arial" pitchFamily="34" charset="-120"/>
              </a:rPr>
              <a:t>The ask: a place in the Programmable Money Accelerator, to take this from a working mechanism to a market that uses it.</a:t>
            </a:r>
            <a:endParaRPr lang="en-US" sz="1250" dirty="0"/>
          </a:p>
        </p:txBody>
      </p:sp>
      <p:sp>
        <p:nvSpPr>
          <p:cNvPr id="35" name="Text 33"/>
          <p:cNvSpPr/>
          <p:nvPr/>
        </p:nvSpPr>
        <p:spPr>
          <a:xfrm>
            <a:off x="10774375" y="6309360"/>
            <a:ext cx="731520" cy="256032"/>
          </a:xfrm>
          <a:prstGeom prst="rect">
            <a:avLst/>
          </a:prstGeom>
          <a:noFill/>
          <a:ln/>
        </p:spPr>
        <p:txBody>
          <a:bodyPr wrap="square" lIns="0" tIns="0" rIns="0" bIns="0" rtlCol="0" anchor="ctr"/>
          <a:lstStyle/>
          <a:p>
            <a:pPr algn="r" indent="0" marL="0">
              <a:buNone/>
            </a:pPr>
            <a:r>
              <a:rPr lang="en-US" sz="1000" spc="100" kern="0" dirty="0">
                <a:solidFill>
                  <a:srgbClr val="7C8899"/>
                </a:solidFill>
                <a:latin typeface="Courier New" pitchFamily="34" charset="0"/>
                <a:ea typeface="Courier New" pitchFamily="34" charset="-122"/>
                <a:cs typeface="Courier New" pitchFamily="34" charset="-120"/>
              </a:rPr>
              <a:t>12</a:t>
            </a:r>
            <a:endParaRPr lang="en-US" sz="1000" dirty="0"/>
          </a:p>
        </p:txBody>
      </p:sp>
      <p:sp>
        <p:nvSpPr>
          <p:cNvPr id="36" name="Text 34"/>
          <p:cNvSpPr/>
          <p:nvPr/>
        </p:nvSpPr>
        <p:spPr>
          <a:xfrm>
            <a:off x="685800" y="6309360"/>
            <a:ext cx="2743200" cy="256032"/>
          </a:xfrm>
          <a:prstGeom prst="rect">
            <a:avLst/>
          </a:prstGeom>
          <a:noFill/>
          <a:ln/>
        </p:spPr>
        <p:txBody>
          <a:bodyPr wrap="square" lIns="0" tIns="0" rIns="0" bIns="0" rtlCol="0" anchor="ctr"/>
          <a:lstStyle/>
          <a:p>
            <a:pPr indent="0" marL="0">
              <a:buNone/>
            </a:pPr>
            <a:r>
              <a:rPr lang="en-US" sz="1000" spc="150" kern="0" dirty="0">
                <a:solidFill>
                  <a:srgbClr val="7C8899"/>
                </a:solidFill>
                <a:latin typeface="Courier New" pitchFamily="34" charset="0"/>
                <a:ea typeface="Courier New" pitchFamily="34" charset="-122"/>
                <a:cs typeface="Courier New" pitchFamily="34" charset="-120"/>
              </a:rPr>
              <a:t>DRAFTPAY</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A0D12"/>
        </a:solidFill>
      </p:bgPr>
    </p:bg>
    <p:spTree>
      <p:nvGrpSpPr>
        <p:cNvPr id="1" name=""/>
        <p:cNvGrpSpPr/>
        <p:nvPr/>
      </p:nvGrpSpPr>
      <p:grpSpPr>
        <a:xfrm>
          <a:off x="0" y="0"/>
          <a:ext cx="0" cy="0"/>
          <a:chOff x="0" y="0"/>
          <a:chExt cx="0" cy="0"/>
        </a:xfrm>
      </p:grpSpPr>
      <p:sp>
        <p:nvSpPr>
          <p:cNvPr id="2" name="Text 0"/>
          <p:cNvSpPr/>
          <p:nvPr/>
        </p:nvSpPr>
        <p:spPr>
          <a:xfrm>
            <a:off x="685800" y="1874520"/>
            <a:ext cx="8686800" cy="1737360"/>
          </a:xfrm>
          <a:prstGeom prst="rect">
            <a:avLst/>
          </a:prstGeom>
          <a:noFill/>
          <a:ln/>
        </p:spPr>
        <p:txBody>
          <a:bodyPr wrap="square" lIns="0" tIns="0" rIns="0" bIns="0" rtlCol="0" anchor="ctr"/>
          <a:lstStyle/>
          <a:p>
            <a:pPr indent="0" marL="0">
              <a:lnSpc>
                <a:spcPts val="5200"/>
              </a:lnSpc>
              <a:buNone/>
            </a:pPr>
            <a:r>
              <a:rPr lang="en-US" sz="4200" b="1" spc="-50" kern="0" dirty="0">
                <a:solidFill>
                  <a:srgbClr val="EDF1F7"/>
                </a:solidFill>
                <a:latin typeface="Arial" pitchFamily="34" charset="0"/>
                <a:ea typeface="Arial" pitchFamily="34" charset="-122"/>
                <a:cs typeface="Arial" pitchFamily="34" charset="-120"/>
              </a:rPr>
              <a:t>Good work should not</a:t>
            </a:r>
            <a:endParaRPr lang="en-US" sz="4200" dirty="0"/>
          </a:p>
          <a:p>
            <a:pPr indent="0" marL="0">
              <a:lnSpc>
                <a:spcPts val="5200"/>
              </a:lnSpc>
              <a:buNone/>
            </a:pPr>
            <a:r>
              <a:rPr lang="en-US" sz="4200" b="1" spc="-50" kern="0" dirty="0">
                <a:solidFill>
                  <a:srgbClr val="EDF1F7"/>
                </a:solidFill>
                <a:latin typeface="Arial" pitchFamily="34" charset="0"/>
                <a:ea typeface="Arial" pitchFamily="34" charset="-122"/>
                <a:cs typeface="Arial" pitchFamily="34" charset="-120"/>
              </a:rPr>
              <a:t>become worthless.</a:t>
            </a:r>
            <a:endParaRPr lang="en-US" sz="4200" dirty="0"/>
          </a:p>
        </p:txBody>
      </p:sp>
      <p:sp>
        <p:nvSpPr>
          <p:cNvPr id="3" name="Text 1"/>
          <p:cNvSpPr/>
          <p:nvPr/>
        </p:nvSpPr>
        <p:spPr>
          <a:xfrm>
            <a:off x="685800" y="3794760"/>
            <a:ext cx="5943600" cy="1371600"/>
          </a:xfrm>
          <a:prstGeom prst="rect">
            <a:avLst/>
          </a:prstGeom>
          <a:noFill/>
          <a:ln/>
        </p:spPr>
        <p:txBody>
          <a:bodyPr wrap="square" lIns="0" tIns="0" rIns="0" bIns="0" rtlCol="0" anchor="ctr"/>
          <a:lstStyle/>
          <a:p>
            <a:pPr indent="0" marL="0">
              <a:lnSpc>
                <a:spcPts val="3000"/>
              </a:lnSpc>
              <a:buNone/>
            </a:pPr>
            <a:r>
              <a:rPr lang="en-US" sz="1900" b="1" dirty="0">
                <a:solidFill>
                  <a:srgbClr val="A9B6C6"/>
                </a:solidFill>
                <a:latin typeface="Arial" pitchFamily="34" charset="0"/>
                <a:ea typeface="Arial" pitchFamily="34" charset="-122"/>
                <a:cs typeface="Arial" pitchFamily="34" charset="-120"/>
              </a:rPr>
              <a:t>Judge the product.</a:t>
            </a:r>
            <a:endParaRPr lang="en-US" sz="1900" dirty="0"/>
          </a:p>
          <a:p>
            <a:pPr indent="0" marL="0">
              <a:lnSpc>
                <a:spcPts val="3000"/>
              </a:lnSpc>
              <a:buNone/>
            </a:pPr>
            <a:r>
              <a:rPr lang="en-US" sz="1900" b="1" dirty="0">
                <a:solidFill>
                  <a:srgbClr val="A9B6C6"/>
                </a:solidFill>
                <a:latin typeface="Arial" pitchFamily="34" charset="0"/>
                <a:ea typeface="Arial" pitchFamily="34" charset="-122"/>
                <a:cs typeface="Arial" pitchFamily="34" charset="-120"/>
              </a:rPr>
              <a:t>Verify the economics.</a:t>
            </a:r>
            <a:endParaRPr lang="en-US" sz="1900" dirty="0"/>
          </a:p>
          <a:p>
            <a:pPr indent="0" marL="0">
              <a:lnSpc>
                <a:spcPts val="3000"/>
              </a:lnSpc>
              <a:buNone/>
            </a:pPr>
            <a:r>
              <a:rPr lang="en-US" sz="1900" b="1" dirty="0">
                <a:solidFill>
                  <a:srgbClr val="C6F24E"/>
                </a:solidFill>
                <a:latin typeface="Arial" pitchFamily="34" charset="0"/>
                <a:ea typeface="Arial" pitchFamily="34" charset="-122"/>
                <a:cs typeface="Arial" pitchFamily="34" charset="-120"/>
              </a:rPr>
              <a:t>Let code move the money.</a:t>
            </a:r>
            <a:endParaRPr lang="en-US" sz="1900" dirty="0"/>
          </a:p>
        </p:txBody>
      </p:sp>
      <p:sp>
        <p:nvSpPr>
          <p:cNvPr id="4" name="Shape 2"/>
          <p:cNvSpPr/>
          <p:nvPr/>
        </p:nvSpPr>
        <p:spPr>
          <a:xfrm>
            <a:off x="685800" y="5577840"/>
            <a:ext cx="10820095" cy="0"/>
          </a:xfrm>
          <a:prstGeom prst="line">
            <a:avLst/>
          </a:prstGeom>
          <a:noFill/>
          <a:ln w="15875">
            <a:solidFill>
              <a:srgbClr val="273140"/>
            </a:solidFill>
            <a:prstDash val="solid"/>
          </a:ln>
        </p:spPr>
      </p:sp>
      <p:sp>
        <p:nvSpPr>
          <p:cNvPr id="5" name="Text 3"/>
          <p:cNvSpPr/>
          <p:nvPr/>
        </p:nvSpPr>
        <p:spPr>
          <a:xfrm>
            <a:off x="685800" y="5715000"/>
            <a:ext cx="2743200" cy="310896"/>
          </a:xfrm>
          <a:prstGeom prst="rect">
            <a:avLst/>
          </a:prstGeom>
          <a:noFill/>
          <a:ln/>
        </p:spPr>
        <p:txBody>
          <a:bodyPr wrap="square" lIns="0" tIns="0" rIns="0" bIns="0" rtlCol="0" anchor="ctr"/>
          <a:lstStyle/>
          <a:p>
            <a:pPr indent="0" marL="0">
              <a:buNone/>
            </a:pPr>
            <a:r>
              <a:rPr lang="en-US" sz="1500" b="1" spc="250" kern="0" dirty="0">
                <a:solidFill>
                  <a:srgbClr val="EDF1F7"/>
                </a:solidFill>
                <a:latin typeface="Arial" pitchFamily="34" charset="0"/>
                <a:ea typeface="Arial" pitchFamily="34" charset="-122"/>
                <a:cs typeface="Arial" pitchFamily="34" charset="-120"/>
              </a:rPr>
              <a:t>DRAFTPAY</a:t>
            </a:r>
            <a:endParaRPr lang="en-US" sz="1500" dirty="0"/>
          </a:p>
        </p:txBody>
      </p:sp>
      <p:sp>
        <p:nvSpPr>
          <p:cNvPr id="6" name="Text 4"/>
          <p:cNvSpPr/>
          <p:nvPr/>
        </p:nvSpPr>
        <p:spPr>
          <a:xfrm>
            <a:off x="5486400" y="5760720"/>
            <a:ext cx="6016752" cy="274320"/>
          </a:xfrm>
          <a:prstGeom prst="rect">
            <a:avLst/>
          </a:prstGeom>
          <a:noFill/>
          <a:ln/>
        </p:spPr>
        <p:txBody>
          <a:bodyPr wrap="square" lIns="0" tIns="0" rIns="0" bIns="0" rtlCol="0" anchor="ctr"/>
          <a:lstStyle/>
          <a:p>
            <a:pPr algn="r" indent="0" marL="0">
              <a:buNone/>
            </a:pPr>
            <a:r>
              <a:rPr lang="en-US" sz="950" spc="80" kern="0" dirty="0">
                <a:solidFill>
                  <a:srgbClr val="7C8899"/>
                </a:solidFill>
                <a:latin typeface="Courier New" pitchFamily="34" charset="0"/>
                <a:ea typeface="Courier New" pitchFamily="34" charset="-122"/>
                <a:cs typeface="Courier New" pitchFamily="34" charset="-120"/>
              </a:rPr>
              <a:t>ARC × CIRCLE  ·  TESTNET MVP  ·  AGENTIC ECONOMY + DEFI</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DraftPay — Build on Arc</dc:title>
  <dc:subject>PptxGenJS Presentation</dc:subject>
  <dc:creator>DraftPay</dc:creator>
  <cp:lastModifiedBy>DraftPay</cp:lastModifiedBy>
  <cp:revision>1</cp:revision>
  <dcterms:created xsi:type="dcterms:W3CDTF">2026-07-31T08:39:08Z</dcterms:created>
  <dcterms:modified xsi:type="dcterms:W3CDTF">2026-07-31T08:39:08Z</dcterms:modified>
</cp:coreProperties>
</file>