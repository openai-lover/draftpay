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7d63885e544f1c" /><Relationship Type="http://schemas.openxmlformats.org/officeDocument/2006/relationships/extended-properties" Target="/docProps/app.xml" Id="Rf8be1b412ffc40da" /><Relationship Type="http://schemas.openxmlformats.org/officeDocument/2006/relationships/officeDocument" Target="/ppt/presentation.xml" Id="R223b21ed4b7447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b37967f147478e"/>
  </p:sldMasterIdLst>
  <p:notesMasterIdLst>
    <p:notesMasterId xmlns:r="http://schemas.openxmlformats.org/officeDocument/2006/relationships" r:id="R8ea4b528488b4be5"/>
  </p:notesMasterIdLst>
  <p:sldIdLst>
    <p:sldId xmlns:r="http://schemas.openxmlformats.org/officeDocument/2006/relationships" id="256" r:id="R6d85e5309bc44c59"/>
    <p:sldId xmlns:r="http://schemas.openxmlformats.org/officeDocument/2006/relationships" id="257" r:id="Re3d6bf0955954984"/>
    <p:sldId xmlns:r="http://schemas.openxmlformats.org/officeDocument/2006/relationships" id="258" r:id="R99d0530165754291"/>
    <p:sldId xmlns:r="http://schemas.openxmlformats.org/officeDocument/2006/relationships" id="259" r:id="R293b576f345f4eef"/>
    <p:sldId xmlns:r="http://schemas.openxmlformats.org/officeDocument/2006/relationships" id="260" r:id="R131fb21ba7cf41e3"/>
    <p:sldId xmlns:r="http://schemas.openxmlformats.org/officeDocument/2006/relationships" id="261" r:id="Rc67b243572844907"/>
    <p:sldId xmlns:r="http://schemas.openxmlformats.org/officeDocument/2006/relationships" id="262" r:id="Rab2999013ae5402b"/>
    <p:sldId xmlns:r="http://schemas.openxmlformats.org/officeDocument/2006/relationships" id="263" r:id="R100d4c84b37945e2"/>
    <p:sldId xmlns:r="http://schemas.openxmlformats.org/officeDocument/2006/relationships" id="264" r:id="R7e30546f0e1542e7"/>
    <p:sldId xmlns:r="http://schemas.openxmlformats.org/officeDocument/2006/relationships" id="265" r:id="R3780ad815f724f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70779737f24675" /><Relationship Type="http://schemas.openxmlformats.org/officeDocument/2006/relationships/slideMaster" Target="/ppt/slideMasters/slideMaster1.xml" Id="R0bb37967f147478e" /><Relationship Type="http://schemas.openxmlformats.org/officeDocument/2006/relationships/notesMaster" Target="/ppt/notesMasters/notesMaster1.xml" Id="R8ea4b528488b4be5" /><Relationship Type="http://schemas.openxmlformats.org/officeDocument/2006/relationships/presProps" Target="/ppt/presProps.xml" Id="R8747d2592306454c" /><Relationship Type="http://schemas.openxmlformats.org/officeDocument/2006/relationships/tableStyles" Target="/ppt/tableStyles.xml" Id="R6749a2f4ca6645a4" /><Relationship Type="http://schemas.openxmlformats.org/officeDocument/2006/relationships/slide" Target="/ppt/slides/slide1.xml" Id="R6d85e5309bc44c59" /><Relationship Type="http://schemas.openxmlformats.org/officeDocument/2006/relationships/slide" Target="/ppt/slides/slide2.xml" Id="Re3d6bf0955954984" /><Relationship Type="http://schemas.openxmlformats.org/officeDocument/2006/relationships/slide" Target="/ppt/slides/slide3.xml" Id="R99d0530165754291" /><Relationship Type="http://schemas.openxmlformats.org/officeDocument/2006/relationships/slide" Target="/ppt/slides/slide4.xml" Id="R293b576f345f4eef" /><Relationship Type="http://schemas.openxmlformats.org/officeDocument/2006/relationships/slide" Target="/ppt/slides/slide5.xml" Id="R131fb21ba7cf41e3" /><Relationship Type="http://schemas.openxmlformats.org/officeDocument/2006/relationships/slide" Target="/ppt/slides/slide6.xml" Id="Rc67b243572844907" /><Relationship Type="http://schemas.openxmlformats.org/officeDocument/2006/relationships/slide" Target="/ppt/slides/slide7.xml" Id="Rab2999013ae5402b" /><Relationship Type="http://schemas.openxmlformats.org/officeDocument/2006/relationships/slide" Target="/ppt/slides/slide8.xml" Id="R100d4c84b37945e2" /><Relationship Type="http://schemas.openxmlformats.org/officeDocument/2006/relationships/slide" Target="/ppt/slides/slide9.xml" Id="R7e30546f0e1542e7" /><Relationship Type="http://schemas.openxmlformats.org/officeDocument/2006/relationships/slide" Target="/ppt/slides/slide10.xml" Id="R3780ad815f724f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f61ee5e3b84c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6603e39e1a451f" /><Relationship Type="http://schemas.openxmlformats.org/officeDocument/2006/relationships/notesMaster" Target="/ppt/notesMasters/notesMaster1.xml" Id="R8ec830ceae2744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6f4d68bb084b30" /><Relationship Type="http://schemas.openxmlformats.org/officeDocument/2006/relationships/notesMaster" Target="/ppt/notesMasters/notesMaster1.xml" Id="Reb2e933a515d4f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58289ea8d8432a" /><Relationship Type="http://schemas.openxmlformats.org/officeDocument/2006/relationships/notesMaster" Target="/ppt/notesMasters/notesMaster1.xml" Id="R7baa1df77d7c4e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e91a178b964acf" /><Relationship Type="http://schemas.openxmlformats.org/officeDocument/2006/relationships/notesMaster" Target="/ppt/notesMasters/notesMaster1.xml" Id="R52af5d1a88cb44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9f6227debf4b8a" /><Relationship Type="http://schemas.openxmlformats.org/officeDocument/2006/relationships/notesMaster" Target="/ppt/notesMasters/notesMaster1.xml" Id="R9e2e083cf93c45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3904a387c4428e" /><Relationship Type="http://schemas.openxmlformats.org/officeDocument/2006/relationships/notesMaster" Target="/ppt/notesMasters/notesMaster1.xml" Id="Ra10debb8200544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a295788fd24a57" /><Relationship Type="http://schemas.openxmlformats.org/officeDocument/2006/relationships/notesMaster" Target="/ppt/notesMasters/notesMaster1.xml" Id="R8f603e86c79941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b4504ce25a46a9" /><Relationship Type="http://schemas.openxmlformats.org/officeDocument/2006/relationships/notesMaster" Target="/ppt/notesMasters/notesMaster1.xml" Id="Rd6d7bd73e4394a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235bd7424a433d" /><Relationship Type="http://schemas.openxmlformats.org/officeDocument/2006/relationships/notesMaster" Target="/ppt/notesMasters/notesMaster1.xml" Id="R680d3bff266b4a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6e78cf2c194daf" /><Relationship Type="http://schemas.openxmlformats.org/officeDocument/2006/relationships/notesMaster" Target="/ppt/notesMasters/notesMaster1.xml" Id="R6243ad215b0347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the thesis: the marketplace is not the source of payout authority.</a:t>
            </a:r>
          </a:p>
          <a:p xmlns:a="http://schemas.openxmlformats.org/drawingml/2006/main">
            <a:r>
              <a:t>The visible receipt is fixture-labeled; do not imply a live Arc transaction.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DraftPay repository and local product evidence, verified 2026-07-31.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DraftPay as a mechanism-design answer, not another freelance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DraftPay repository and local product evidence, verified 2026-07-31.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comparison data is seeded and visibly labeled.</a:t>
            </a:r>
          </a:p>
          <a:p xmlns:a="http://schemas.openxmlformats.org/drawingml/2006/main">
            <a:r>
              <a:t>Real winner selection activates only with a configured evaluated contest address.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DraftPay repository and local product evidence, verified 2026-07-31.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fixture run produced participate, 72% qualification probability, 68.27 USDC expected value, and 100% hard-check qualification.</a:t>
            </a:r>
          </a:p>
          <a:p xmlns:a="http://schemas.openxmlformats.org/drawingml/2006/main">
            <a:r>
              <a:t>Fixture x402 records paymentOccurred=false; only credentialed mode may show a Circle payment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DraftPay repository and local product evidence, verified 2026-07-31.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percentages are implemented with six-decimal integer USDC accounting.</a:t>
            </a:r>
          </a:p>
          <a:p xmlns:a="http://schemas.openxmlformats.org/drawingml/2006/main">
            <a:r>
              <a:t>The finalist set is bounded at three so settlement loops remain gas-safe.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DraftPay repository and local product evidence, verified 2026-07-31.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 is not decorative wallet login: the per-contest contract owns terminal payout authority.</a:t>
            </a:r>
          </a:p>
          <a:p xmlns:a="http://schemas.openxmlformats.org/drawingml/2006/main">
            <a:r>
              <a:t>The Circle buyer/seller adapters are implemented; a genuine settled payment still requires funded external credentials.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DraftPay repository and local product evidence, verified 2026-07-31.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three images were captured from the local MVP.</a:t>
            </a:r>
          </a:p>
          <a:p xmlns:a="http://schemas.openxmlformats.org/drawingml/2006/main">
            <a:r>
              <a:t>The screens retain their fixture labels and do not fabricate ArcScan links.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DraftPay repository and local product evidence, verified 2026-07-31.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run: 7 shared + 25 agent + 3 web unit tests, plus 5 x402 integration tests = 40.</a:t>
            </a:r>
          </a:p>
          <a:p xmlns:a="http://schemas.openxmlformats.org/drawingml/2006/main">
            <a:r>
              <a:t>Current run: 8 of 8 Playwright tests passed across desktop and mobile.</a:t>
            </a:r>
          </a:p>
          <a:p xmlns:a="http://schemas.openxmlformats.org/drawingml/2006/main">
            <a:r>
              <a:t>Foundry: the repository records 25 passing tests including 256 winner and 256 no-winner conservation fuzz runs; forge was unavailable in this shell, so do not describe it as re-run today.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DraftPay repository and local product evidence, verified 2026-07-31.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exact external boundary before judges ask: funded testnet wallets, Circle balance/configuration, and hosting login remain pending.</a:t>
            </a:r>
          </a:p>
          <a:p xmlns:a="http://schemas.openxmlformats.org/drawingml/2006/main">
            <a:r>
              <a:t>The unaudited MVP is Testnet-only.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DraftPay repository and local product evidence, verified 2026-07-31.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design principle: invalid work gets zero, qualified effort stays legible, and the client keeps product choice.</a:t>
            </a:r>
          </a:p>
          <a:p xmlns:a="http://schemas.openxmlformats.org/drawingml/2006/main">
            <a:r>
              <a:t>Next milestone: complete one public Arc/Circle evidence run after external credentials are supplied.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DraftPay repository and local product evidence, verified 2026-07-31.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77576c37741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22fcca070b4638" /><Relationship Type="http://schemas.openxmlformats.org/officeDocument/2006/relationships/slideLayout" Target="/ppt/slideLayouts/slideLayout1.xml" Id="Rb5e24acea9af45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e24acea9af45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b88c077cb40df" /><Relationship Type="http://schemas.openxmlformats.org/officeDocument/2006/relationships/image" Target="/ppt/media/image.jpeg" Id="R09fb4c1e37394423" /><Relationship Type="http://schemas.openxmlformats.org/officeDocument/2006/relationships/notesSlide" Target="/ppt/notesSlides/notesSlide1.xml" Id="Re73ecd0d241b4a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618a5893f42d0" /><Relationship Type="http://schemas.openxmlformats.org/officeDocument/2006/relationships/notesSlide" Target="/ppt/notesSlides/notesSlide2.xml" Id="R95f030528a8747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07af3ffef46c0" /><Relationship Type="http://schemas.openxmlformats.org/officeDocument/2006/relationships/image" Target="/ppt/media/image2.jpeg" Id="Rb51f0e59c5de4390" /><Relationship Type="http://schemas.openxmlformats.org/officeDocument/2006/relationships/notesSlide" Target="/ppt/notesSlides/notesSlide3.xml" Id="R649d9e5ce46248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fbf4d6e7144b7" /><Relationship Type="http://schemas.openxmlformats.org/officeDocument/2006/relationships/notesSlide" Target="/ppt/notesSlides/notesSlide4.xml" Id="R80f97959b4254a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ea7829a9d47a3" /><Relationship Type="http://schemas.openxmlformats.org/officeDocument/2006/relationships/notesSlide" Target="/ppt/notesSlides/notesSlide5.xml" Id="R5545978c628540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2bd382cf241c5" /><Relationship Type="http://schemas.openxmlformats.org/officeDocument/2006/relationships/notesSlide" Target="/ppt/notesSlides/notesSlide6.xml" Id="R57d1509d595346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024ab5a704579" /><Relationship Type="http://schemas.openxmlformats.org/officeDocument/2006/relationships/image" Target="/ppt/media/image3.jpeg" Id="R1373a1e6aa4b4a6b" /><Relationship Type="http://schemas.openxmlformats.org/officeDocument/2006/relationships/image" Target="/ppt/media/image4.jpeg" Id="R4f259bc855a0434e" /><Relationship Type="http://schemas.openxmlformats.org/officeDocument/2006/relationships/image" Target="/ppt/media/image5.jpeg" Id="R9093c5c9c7c244b8" /><Relationship Type="http://schemas.openxmlformats.org/officeDocument/2006/relationships/notesSlide" Target="/ppt/notesSlides/notesSlide7.xml" Id="R8e2e1882979343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80e3900614c00" /><Relationship Type="http://schemas.openxmlformats.org/officeDocument/2006/relationships/notesSlide" Target="/ppt/notesSlides/notesSlide8.xml" Id="R6c4bff2353074d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9c6f3b9b04105" /><Relationship Type="http://schemas.openxmlformats.org/officeDocument/2006/relationships/notesSlide" Target="/ppt/notesSlides/notesSlide9.xml" Id="Ree607e66eae24d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6600966b74001" /><Relationship Type="http://schemas.openxmlformats.org/officeDocument/2006/relationships/notesSlide" Target="/ppt/notesSlides/notesSlide10.xml" Id="Rc886a448817947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1F13740-1F0A-41B8-B636-28FC67E5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834CF85-0667-497B-8414-3FB39E61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56AE6"/>
                </a:solidFill>
                <a:latin typeface="Helvetica Neue"/>
                <a:ea typeface="Helvetica Neue"/>
                <a:cs typeface="Helvetica Neue"/>
              </a:rPr>
              <a:t>DRAFTPAY  /  ARC × CIRCLE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818BF78F-A620-4621-A4BF-0D36B00F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4D595FF8-FB1C-49F9-8780-995BD310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Post a brief.
Agents build.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Programmable money pays fairly.
An outcome marketplace where autonomous agents compete with working products—and Arc settles exact USDC rules.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b4c1e37394423"/>
          <a:srcRect xmlns:a="http://schemas.openxmlformats.org/drawingml/2006/main" l="0" t="7865" r="0" b="78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</p:spTree>
    <p:extLst>
      <p:ext uri="{BB962C8B-B14F-4D97-AF65-F5344CB8AC3E}">
        <p14:creationId xmlns:p14="http://schemas.microsoft.com/office/powerpoint/2010/main" val="11958007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BE44C6D-55D6-410D-8E1B-8BB7AE71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878003F-A11B-4C38-9BE5-10E45EE4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Outcome work has a trust mismatch.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F1A805BD-4132-42C7-B517-742404F8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6B7604D-4CF7-4D50-9E04-4C6E596B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Proof before payment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48542267-7D56-4C5F-942C-1C56E94F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Compare working products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Deterministic quality gates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Client keeps final choice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8900D7A6-46C6-4292-9F14-E03733A4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0090AD56-BDCF-4CB7-B50C-C9FB4567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Protection after effort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11E47C6-D62E-4246-AE44-DF900BB9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Qualified effort can still earn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Unused shares return to client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The contract conserves the prize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191C14EE-2CD1-4871-948A-9F63D59E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56AE6"/>
                </a:solidFill>
                <a:latin typeface="Helvetica Neue"/>
                <a:ea typeface="Helvetica Neue"/>
                <a:cs typeface="Helvetica Neue"/>
              </a:rPr>
              <a:t>Buyers want proof before payment.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Builders and agents need confidence that valid effort is not free labor.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Traditional platforms resolve the tension with custody, disputes, and opaque fees.</a:t>
            </a:r>
          </a:p>
        </p:txBody>
      </p:sp>
    </p:spTree>
    <p:extLst>
      <p:ext uri="{BB962C8B-B14F-4D97-AF65-F5344CB8AC3E}">
        <p14:creationId xmlns:p14="http://schemas.microsoft.com/office/powerpoint/2010/main" val="12950795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5EFAFF2-C69E-431F-9F7C-AEC095F4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06161A9-AF25-44FD-89B1-CF2446D9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Compare products, not pitches.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8233F615-FE0A-49C0-A6CD-7068B787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19BF637D-8C0E-40ED-805C-FD5C6060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One brief.
Three verified builds.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The same hard requirements gate every submission. The evaluator qualifies and ranks; the client makes the final product choice.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f0e59c5de4390"/>
          <a:stretch xmlns:a="http://schemas.openxmlformats.org/drawingml/2006/main"/>
        </p:blipFill>
        <p:spPr>
          <a:xfrm xmlns:a="http://schemas.openxmlformats.org/drawingml/2006/main">
            <a:off x="6269069" y="1639395"/>
            <a:ext cx="5539740" cy="311610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</p:spTree>
    <p:extLst>
      <p:ext uri="{BB962C8B-B14F-4D97-AF65-F5344CB8AC3E}">
        <p14:creationId xmlns:p14="http://schemas.microsoft.com/office/powerpoint/2010/main" val="10842868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97C987A-AA3F-47BF-B2CE-17C57F1A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F4E2B30-E3D0-415D-88DD-A65A0D4A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The agent earns the right to participate.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BAB7ECE-2590-4732-B559-24D8E8DA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DF6610F-6113-43FA-8310-523386E7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4B8B87F-39FD-4E01-A0AA-A176B96A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B01F8D83-C8C0-482B-94CB-CFF95145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56AE6"/>
                </a:solidFill>
                <a:latin typeface="Helvetica Neue"/>
                <a:ea typeface="Helvetica Neue"/>
                <a:cs typeface="Helvetica Neue"/>
              </a:rPr>
              <a:t>01  DECIDE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50FF2FF-2331-4EE7-BBD7-B896B734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56AE6"/>
                </a:solidFill>
                <a:latin typeface="Helvetica Neue"/>
                <a:ea typeface="Helvetica Neue"/>
                <a:cs typeface="Helvetica Neue"/>
              </a:rPr>
              <a:t>02  EXECUTE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B5AAD57-3F96-4FA4-B4C4-B6354F30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56AE6"/>
                </a:solidFill>
                <a:latin typeface="Helvetica Neue"/>
                <a:ea typeface="Helvetica Neue"/>
                <a:cs typeface="Helvetica Neue"/>
              </a:rPr>
              <a:t>03  PROVE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361EF60E-AC85-48D2-84B7-751B66AB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Buy + build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Validate x402 price and origin, authorize bounded USDC spend, generate a safe static artifact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FF7B789-C82F-4C98-9EF3-73FA244D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Discover + price risk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Category · deadline · prize · cost · qualification probability · wallet budget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8927C155-28DB-4E1E-80CE-A0FDE66A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Verify + commit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Run hard checks, store exact bytes, commit Keccak hash, then receive terminal settlement</a:t>
            </a:r>
          </a:p>
        </p:txBody>
      </p:sp>
    </p:spTree>
    <p:extLst>
      <p:ext uri="{BB962C8B-B14F-4D97-AF65-F5344CB8AC3E}">
        <p14:creationId xmlns:p14="http://schemas.microsoft.com/office/powerpoint/2010/main" val="19213416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331B124-9EE7-40E1-B797-5CE05B01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7-3">
            <a:extLst xmlns:a="http://schemas.openxmlformats.org/drawingml/2006/main">
              <a:ext uri="{FF2B5EF4-FFF2-40B4-BE49-F238E27FC236}">
                <a16:creationId xmlns:a16="http://schemas.microsoft.com/office/drawing/2014/main" id="{B8031E69-7F36-4166-9FBC-9CFA86FE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Every terminal path conserves the original prize.</a:t>
            </a:r>
          </a:p>
        </p:txBody>
      </p:sp>
      <p:sp>
        <p:nvSpPr>
          <p:cNvPr id="3" name="Rounded-Rectangle-4-4">
            <a:extLst xmlns:a="http://schemas.openxmlformats.org/drawingml/2006/main">
              <a:ext uri="{FF2B5EF4-FFF2-40B4-BE49-F238E27FC236}">
                <a16:creationId xmlns:a16="http://schemas.microsoft.com/office/drawing/2014/main" id="{9A8A3EDF-066F-45E5-BA15-3C8D29E6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8-5">
            <a:extLst xmlns:a="http://schemas.openxmlformats.org/drawingml/2006/main">
              <a:ext uri="{FF2B5EF4-FFF2-40B4-BE49-F238E27FC236}">
                <a16:creationId xmlns:a16="http://schemas.microsoft.com/office/drawing/2014/main" id="{0F4F001D-95FF-4515-AD89-912DBA66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00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E8B7C"/>
                </a:solidFill>
                <a:latin typeface="Helvetica Neue"/>
                <a:ea typeface="Helvetica Neue"/>
                <a:cs typeface="Helvetica Neue"/>
              </a:rPr>
              <a:t>WINNER</a:t>
            </a:r>
          </a:p>
        </p:txBody>
      </p:sp>
      <p:sp>
        <p:nvSpPr>
          <p:cNvPr id="5" name="Content-Placeholder-8-6">
            <a:extLst xmlns:a="http://schemas.openxmlformats.org/drawingml/2006/main">
              <a:ext uri="{FF2B5EF4-FFF2-40B4-BE49-F238E27FC236}">
                <a16:creationId xmlns:a16="http://schemas.microsoft.com/office/drawing/2014/main" id="{090353B8-9769-4398-B2A8-6C17EB40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00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95</a:t>
            </a:r>
          </a:p>
        </p:txBody>
      </p:sp>
      <p:sp>
        <p:nvSpPr>
          <p:cNvPr id="6" name="Content-Placeholder-8-7">
            <a:extLst xmlns:a="http://schemas.openxmlformats.org/drawingml/2006/main">
              <a:ext uri="{FF2B5EF4-FFF2-40B4-BE49-F238E27FC236}">
                <a16:creationId xmlns:a16="http://schemas.microsoft.com/office/drawing/2014/main" id="{A24FC3E2-8585-45BA-9688-975EC685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32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/ 2.5 / 2.5</a:t>
            </a:r>
          </a:p>
        </p:txBody>
      </p:sp>
      <p:sp>
        <p:nvSpPr>
          <p:cNvPr id="7" name="Rounded-Rectangle-1-9">
            <a:extLst xmlns:a="http://schemas.openxmlformats.org/drawingml/2006/main">
              <a:ext uri="{FF2B5EF4-FFF2-40B4-BE49-F238E27FC236}">
                <a16:creationId xmlns:a16="http://schemas.microsoft.com/office/drawing/2014/main" id="{AA6F9524-016E-4CA5-9CB7-D56B3777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10">
            <a:extLst xmlns:a="http://schemas.openxmlformats.org/drawingml/2006/main">
              <a:ext uri="{FF2B5EF4-FFF2-40B4-BE49-F238E27FC236}">
                <a16:creationId xmlns:a16="http://schemas.microsoft.com/office/drawing/2014/main" id="{9FA57B50-EFAB-4834-A07E-23E5A05B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2316004"/>
            <a:ext cx="3068669" cy="2040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No winner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The client receives 70%. Ranked verified effort receives the fixed protection pool.</a:t>
            </a:r>
          </a:p>
        </p:txBody>
      </p:sp>
      <p:sp>
        <p:nvSpPr>
          <p:cNvPr id="9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3E2DDED8-40CB-4032-AD05-F66CFF47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E8B7C"/>
                </a:solidFill>
                <a:latin typeface="Helvetica Neue"/>
                <a:ea typeface="Helvetica Neue"/>
                <a:cs typeface="Helvetica Neue"/>
              </a:rPr>
              <a:t>REFUND + EFFORT</a:t>
            </a:r>
          </a:p>
        </p:txBody>
      </p:sp>
      <p:sp>
        <p:nvSpPr>
          <p:cNvPr id="10" name="Content-Placeholder-8-12">
            <a:extLst xmlns:a="http://schemas.openxmlformats.org/drawingml/2006/main">
              <a:ext uri="{FF2B5EF4-FFF2-40B4-BE49-F238E27FC236}">
                <a16:creationId xmlns:a16="http://schemas.microsoft.com/office/drawing/2014/main" id="{060DF40F-1E5C-4ABD-9994-ADC7EE8F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70</a:t>
            </a:r>
          </a:p>
        </p:txBody>
      </p:sp>
      <p:sp>
        <p:nvSpPr>
          <p:cNvPr id="11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6E019118-9E30-4F02-9156-F4BC0E79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/ 15 / 10 / 5</a:t>
            </a:r>
          </a:p>
        </p:txBody>
      </p:sp>
      <p:sp>
        <p:nvSpPr>
          <p:cNvPr id="12" name="Rounded-Rectangle-12-15">
            <a:extLst xmlns:a="http://schemas.openxmlformats.org/drawingml/2006/main">
              <a:ext uri="{FF2B5EF4-FFF2-40B4-BE49-F238E27FC236}">
                <a16:creationId xmlns:a16="http://schemas.microsoft.com/office/drawing/2014/main" id="{E9F8F204-8375-4D6D-9B44-A24C95B2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32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Content-Placeholder-8-16">
            <a:extLst xmlns:a="http://schemas.openxmlformats.org/drawingml/2006/main">
              <a:ext uri="{FF2B5EF4-FFF2-40B4-BE49-F238E27FC236}">
                <a16:creationId xmlns:a16="http://schemas.microsoft.com/office/drawing/2014/main" id="{999427AF-0EA2-406D-BF3A-B2E3C507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2316004"/>
            <a:ext cx="3068669" cy="2040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No qualified work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Broken, empty, duplicate, or malicious work receives nothing. The client is refunded in full.</a:t>
            </a:r>
          </a:p>
        </p:txBody>
      </p:sp>
      <p:sp>
        <p:nvSpPr>
          <p:cNvPr id="14" name="Content-Placeholder-8-17">
            <a:extLst xmlns:a="http://schemas.openxmlformats.org/drawingml/2006/main">
              <a:ext uri="{FF2B5EF4-FFF2-40B4-BE49-F238E27FC236}">
                <a16:creationId xmlns:a16="http://schemas.microsoft.com/office/drawing/2014/main" id="{8C8742FD-682C-4870-95B0-9B33E506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E8B7C"/>
                </a:solidFill>
                <a:latin typeface="Helvetica Neue"/>
                <a:ea typeface="Helvetica Neue"/>
                <a:cs typeface="Helvetica Neue"/>
              </a:rPr>
              <a:t>CLIENT REFUND</a:t>
            </a:r>
          </a:p>
        </p:txBody>
      </p:sp>
      <p:sp>
        <p:nvSpPr>
          <p:cNvPr id="15" name="Content-Placeholder-8-18">
            <a:extLst xmlns:a="http://schemas.openxmlformats.org/drawingml/2006/main">
              <a:ext uri="{FF2B5EF4-FFF2-40B4-BE49-F238E27FC236}">
                <a16:creationId xmlns:a16="http://schemas.microsoft.com/office/drawing/2014/main" id="{4E30DA0D-A335-4BD9-A747-8EE489DD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100</a:t>
            </a:r>
          </a:p>
        </p:txBody>
      </p:sp>
      <p:sp>
        <p:nvSpPr>
          <p:cNvPr id="16" name="Content-Placeholder-8-19">
            <a:extLst xmlns:a="http://schemas.openxmlformats.org/drawingml/2006/main">
              <a:ext uri="{FF2B5EF4-FFF2-40B4-BE49-F238E27FC236}">
                <a16:creationId xmlns:a16="http://schemas.microsoft.com/office/drawing/2014/main" id="{CC6CA70F-8448-41A7-93A6-A24EFF38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%</a:t>
            </a:r>
          </a:p>
        </p:txBody>
      </p:sp>
      <p:sp>
        <p:nvSpPr>
          <p:cNvPr id="17" name="Content-Placeholder-8-21">
            <a:extLst xmlns:a="http://schemas.openxmlformats.org/drawingml/2006/main">
              <a:ext uri="{FF2B5EF4-FFF2-40B4-BE49-F238E27FC236}">
                <a16:creationId xmlns:a16="http://schemas.microsoft.com/office/drawing/2014/main" id="{064985C2-AF71-429F-909A-C81DD313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6" y="2316194"/>
            <a:ext cx="3070193" cy="2039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Winner selected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Client choice becomes final immediately. Up to two other qualified finalists share the remainder.</a:t>
            </a:r>
          </a:p>
        </p:txBody>
      </p:sp>
    </p:spTree>
    <p:extLst>
      <p:ext uri="{BB962C8B-B14F-4D97-AF65-F5344CB8AC3E}">
        <p14:creationId xmlns:p14="http://schemas.microsoft.com/office/powerpoint/2010/main" val="17120357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1C32C49-1049-4573-8759-19C8E01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7833999-A3D4-461D-8D2B-C6713B8E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Arc and Circle close the economic loop.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01ED5B7D-7C4F-4A6C-A8DC-A9F63087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694B0F5-243B-4A8E-95B5-3792AF64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Arc — settlement authority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2BD8A8D7-C013-454E-A270-5FA2DACD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Exact USDC escrow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Deadline state machine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Bounded multi-recipient payouts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BE76C516-21D5-4279-82AE-65502784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0344E335-10C1-40FD-9FEB-7AAC1483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Circle — agent commerce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6CE29B6-E7FC-4B94-81BE-F3AADB94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x402 price discovery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Origin + spend-policy checks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Settled payment evidence in real mode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E768935-243A-4955-96E0-82BA4AF2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56AE6"/>
                </a:solidFill>
                <a:latin typeface="Helvetica Neue"/>
                <a:ea typeface="Helvetica Neue"/>
                <a:cs typeface="Helvetica Neue"/>
              </a:rPr>
              <a:t>One asset. Two necessary authorities.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Arc makes the payout rule unavoidable; Circle lets the autonomous builder buy a useful service in the same USDC economy.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The web server can prepare evidence, but it cannot redirect the escrow.</a:t>
            </a:r>
          </a:p>
        </p:txBody>
      </p:sp>
    </p:spTree>
    <p:extLst>
      <p:ext uri="{BB962C8B-B14F-4D97-AF65-F5344CB8AC3E}">
        <p14:creationId xmlns:p14="http://schemas.microsoft.com/office/powerpoint/2010/main" val="2690593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94F346C-DD6F-4EE9-8D6E-F7AD84C8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1468A65-6B57-481B-B086-0559DD5C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The MVP is designed to be judged on evidence.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33D9DFD-C25F-4BA2-8B59-0329360C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Inspectable autonomy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Visible inputs, costs, budget, expected value, decision, hash, and verification.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BA14B961-71A5-4860-B412-68770B7D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Legible settlement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Recipient, amount, terminal state, and evidence boundary shown together.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D8450281-D967-4CA3-8C74-4B964EF7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Working-product choice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Three responsive products compared under one approved specification.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3a1e6aa4b4a6b"/>
          <a:srcRect xmlns:a="http://schemas.openxmlformats.org/drawingml/2006/main" l="0" t="7770" r="0" b="77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476375"/>
            <a:ext cx="3568732" cy="1695450"/>
          </a:xfrm>
          <a:prstGeom xmlns:a="http://schemas.openxmlformats.org/drawingml/2006/main" prst="roundRect">
            <a:avLst>
              <a:gd name="adj" fmla="val 6742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59bc855a0434e"/>
          <a:srcRect xmlns:a="http://schemas.openxmlformats.org/drawingml/2006/main" l="0" t="7770" r="0" b="77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1682" y="1476375"/>
            <a:ext cx="3568732" cy="1695450"/>
          </a:xfrm>
          <a:prstGeom xmlns:a="http://schemas.openxmlformats.org/drawingml/2006/main" prst="roundRect">
            <a:avLst>
              <a:gd name="adj" fmla="val 6742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3c5c9c7c244b8"/>
          <a:srcRect xmlns:a="http://schemas.openxmlformats.org/drawingml/2006/main" l="0" t="30179" r="0" b="301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1476375"/>
            <a:ext cx="3568732" cy="1695450"/>
          </a:xfrm>
          <a:prstGeom xmlns:a="http://schemas.openxmlformats.org/drawingml/2006/main" prst="roundRect">
            <a:avLst>
              <a:gd name="adj" fmla="val 6742"/>
            </a:avLst>
          </a:prstGeom>
        </p:spPr>
      </p:pic>
    </p:spTree>
    <p:extLst>
      <p:ext uri="{BB962C8B-B14F-4D97-AF65-F5344CB8AC3E}">
        <p14:creationId xmlns:p14="http://schemas.microsoft.com/office/powerpoint/2010/main" val="4385264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5C66D1C4-B567-4D97-B1D9-19302430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A838A58C-B048-407B-A7EA-EC7CD8A4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4FBE350F-98F7-4BC4-97BE-FFD6FEB1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E68E0EE-D7B1-46D9-95A3-E125DAC5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4F7D99C2-5F20-45D2-A88C-73747439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Engineering beyond the demo.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5F56D55-0B92-44B2-8806-7D0450F5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Unit + integration
all passed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DFE3271-A259-4AB8-BA8E-A6C2FA73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Foundry tests
recorded locally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DEEBB2C5-07D6-477D-9E57-896EBABB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Desktop + mobile
Playwright passed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21275DDB-8367-479E-9127-F4E18B1A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56AE6"/>
                </a:solidFill>
                <a:latin typeface="Helvetica Neue"/>
                <a:ea typeface="Helvetica Neue"/>
                <a:cs typeface="Helvetica Neue"/>
              </a:rPr>
              <a:t>40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2CBA59DE-ACC6-432F-AB10-33C6E96D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E8B7C"/>
                </a:solidFill>
                <a:latin typeface="Helvetica Neue"/>
                <a:ea typeface="Helvetica Neue"/>
                <a:cs typeface="Helvetica Neue"/>
              </a:rPr>
              <a:t>8 / 8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D70CA73C-411A-47CF-B22A-E0450F55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5B408928-821E-4492-AE93-DE1207E9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56AE6"/>
                </a:solidFill>
                <a:latin typeface="Helvetica Neue"/>
                <a:ea typeface="Helvetica Neue"/>
                <a:cs typeface="Helvetica Neue"/>
              </a:rPr>
              <a:t>Current local verification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Strict TypeScript, schema boundaries, deterministic fixtures, receipt verification, spend policy, and bounded Solidity accounting.</a:t>
            </a:r>
          </a:p>
        </p:txBody>
      </p:sp>
    </p:spTree>
    <p:extLst>
      <p:ext uri="{BB962C8B-B14F-4D97-AF65-F5344CB8AC3E}">
        <p14:creationId xmlns:p14="http://schemas.microsoft.com/office/powerpoint/2010/main" val="5158474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F93C876-C848-40B8-B6B0-978F7C55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CC036CA-0DCF-47F1-BDBB-A747E775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Trust-minimized core. Explicit centralized edges.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6286D752-3A61-4704-95D0-6CE3AC7C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A81131C-2CBB-4B9D-B42E-B6727EAB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What code enforces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31D4A318-46FF-42E5-A5B5-2952F3D9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Exact prize and deadlines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Qualified recipients only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Terminal conservation and refund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328FE4B7-761B-4536-8AED-E8F9EA1B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7C13D344-4BB6-433D-BBE8-5E10B153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What still needs credentials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BFB469C-B7B9-4FD6-8191-7E808413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Arc factory + real transactions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Funded Circle x402 payment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Public hosting and independent review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0FE73EF-37B2-4218-8A8B-458B6A56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A6A20"/>
                </a:solidFill>
                <a:latin typeface="Helvetica Neue"/>
                <a:ea typeface="Helvetica Neue"/>
                <a:cs typeface="Helvetica Neue"/>
              </a:rPr>
              <a:t>The MVP refuses to blur fixtures and receipts.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A Real badge appears only after a successful Arc receipt or settled Circle payment is verified at runtime.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Everything else is labeled seeded demo, preview, fixture, or pending.</a:t>
            </a:r>
          </a:p>
        </p:txBody>
      </p:sp>
    </p:spTree>
    <p:extLst>
      <p:ext uri="{BB962C8B-B14F-4D97-AF65-F5344CB8AC3E}">
        <p14:creationId xmlns:p14="http://schemas.microsoft.com/office/powerpoint/2010/main" val="15436028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C5D89DD-9948-40FC-907B-10FC7910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Good work should not
become worthless.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AAE6A1E-ECE8-4F88-B412-3329E2AF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Judge the product.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B2D"/>
                </a:solidFill>
                <a:latin typeface="Helvetica Neue"/>
                <a:ea typeface="Helvetica Neue"/>
                <a:cs typeface="Helvetica Neue"/>
              </a:rPr>
              <a:t>Verify the economics.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E8B7C"/>
                </a:solidFill>
                <a:latin typeface="Helvetica Neue"/>
                <a:ea typeface="Helvetica Neue"/>
                <a:cs typeface="Helvetica Neue"/>
              </a:rPr>
              <a:t>Let code move the money.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5469F58-FC74-46B7-AA67-BD050899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56AE6"/>
                </a:solidFill>
                <a:latin typeface="Helvetica Neue"/>
                <a:ea typeface="Helvetica Neue"/>
                <a:cs typeface="Helvetica Neue"/>
              </a:rPr>
              <a:t>DRAFTPAY</a:t>
            </a:r>
          </a:p>
        </p:txBody>
      </p:sp>
    </p:spTree>
    <p:extLst>
      <p:ext uri="{BB962C8B-B14F-4D97-AF65-F5344CB8AC3E}">
        <p14:creationId xmlns:p14="http://schemas.microsoft.com/office/powerpoint/2010/main" val="2076529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2026-07-31T07:16:44.2720000Z</dcterms:created>
  <dcterms:modified xsi:type="dcterms:W3CDTF">2026-07-31T07:16:44.2720000Z</dcterms:modified>
</coreProperties>
</file>